
<file path=[Content_Types].xml><?xml version="1.0" encoding="utf-8"?>
<Types xmlns="http://schemas.openxmlformats.org/package/2006/content-types">
  <Override PartName="/ppt/slides/slide42.xml" ContentType="application/vnd.openxmlformats-officedocument.presentationml.slide+xml"/>
  <Override PartName="/ppt/slides/slide41.xml" ContentType="application/vnd.openxmlformats-officedocument.presentationml.slide+xml"/>
  <Override PartName="/ppt/slides/slide40.xml" ContentType="application/vnd.openxmlformats-officedocument.presentationml.slide+xml"/>
  <Override PartName="/ppt/slides/slide39.xml" ContentType="application/vnd.openxmlformats-officedocument.presentationml.slide+xml"/>
  <Override PartName="/ppt/slides/slide38.xml" ContentType="application/vnd.openxmlformats-officedocument.presentationml.slide+xml"/>
  <Override PartName="/ppt/slides/slide37.xml" ContentType="application/vnd.openxmlformats-officedocument.presentationml.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4.xml" ContentType="application/vnd.openxmlformats-officedocument.presentationml.slide+xml"/>
  <Override PartName="/ppt/slides/slide33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slides/slide29.xml" ContentType="application/vnd.openxmlformats-officedocument.presentationml.slide+xml"/>
  <Override PartName="/ppt/slides/slide28.xml" ContentType="application/vnd.openxmlformats-officedocument.presentationml.slide+xml"/>
  <Override PartName="/ppt/slides/slide27.xml" ContentType="application/vnd.openxmlformats-officedocument.presentationml.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21.xml" ContentType="application/vnd.openxmlformats-officedocument.presentationml.slide+xml"/>
  <Override PartName="/ppt/slides/slide20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6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</p:sldIdLst>
  <p:sldSz cx="12192000" cy="6858000"/>
  <p:notesSz cx="6858000" cy="9144000"/>
</p:presentation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>
            <a:extLst>
              <a:ext uri="{FF2B5EF4-FFF2-40B4-BE49-F238E27FC236}">
                <a16:creationId xmlns:a16="http://schemas.microsoft.com/office/drawing/2014/main" id="{5267A4B5-035D-449B-BD5B-A3F0CCA409F7}"/>
              </a:ext>
            </a:extLst>
          </p:cNvPr>
          <p:cNvSpPr/>
          <p:nvPr/>
        </p:nvSpPr>
        <p:spPr>
          <a:xfrm>
            <a:off x="8524875" y="523875"/>
            <a:ext cx="2857500" cy="2857500"/>
          </a:xfrm>
          <a:prstGeom prst="ellipse">
            <a:avLst/>
          </a:prstGeom>
          <a:solidFill>
            <a:srgbClr val="1DA7A7">
              <a:alpha val="20000"/>
            </a:srgbClr>
          </a:solidFill>
          <a:ln w="254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79A7726-A275-45C3-9B63-074A78FC69CD}"/>
              </a:ext>
            </a:extLst>
          </p:cNvPr>
          <p:cNvSpPr/>
          <p:nvPr/>
        </p:nvSpPr>
        <p:spPr>
          <a:xfrm>
            <a:off x="9477375" y="1476375"/>
            <a:ext cx="1714500" cy="1714500"/>
          </a:xfrm>
          <a:prstGeom prst="ellipse">
            <a:avLst/>
          </a:prstGeom>
          <a:solidFill>
            <a:srgbClr val="F59E0B">
              <a:alpha val="13333"/>
            </a:srgbClr>
          </a:solidFill>
          <a:ln w="25400">
            <a:solidFill>
              <a:srgbClr val="F59E0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68F2083-D8A0-46A8-9669-E3A0D87DF029}"/>
              </a:ext>
            </a:extLst>
          </p:cNvPr>
          <p:cNvSpPr txBox="1"/>
          <p:nvPr/>
        </p:nvSpPr>
        <p:spPr>
          <a:xfrm>
            <a:off x="666750" y="685800"/>
            <a:ext cx="5905500" cy="53340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1DA7A7"/>
                </a:solidFill>
                <a:latin typeface="Aptos"/>
                <a:ea typeface="Aptos"/>
              </a:rPr>
              <a:t>SATELLITE SUPER-RESOLUTION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310B394-BA1B-41C9-A112-C87C6FADA084}"/>
              </a:ext>
            </a:extLst>
          </p:cNvPr>
          <p:cNvSpPr txBox="1"/>
          <p:nvPr/>
        </p:nvSpPr>
        <p:spPr>
          <a:xfrm>
            <a:off x="666750" y="1381125"/>
            <a:ext cx="7715250" cy="2095500"/>
          </a:xfrm>
        </p:spPr>
        <p:txBody>
          <a:bodyPr wrap="square" rtlCol="0" lIns="0" tIns="0" rIns="0" bIns="0" anchor="t"/>
          <a:lstStyle/>
          <a:p>
            <a:pPr>
              <a:lnSpc>
                <a:spcPct val="95000"/>
              </a:lnSpc>
            </a:pPr>
            <a:r>
              <a:rPr sz="4200" b="1">
                <a:solidFill>
                  <a:srgbClr val="F7FBFC"/>
                </a:solidFill>
                <a:latin typeface="Aptos Display"/>
                <a:ea typeface="Aptos Display"/>
              </a:rPr>
              <a:t>Deep Learning Based</a:t>
            </a:r>
            <a:br/>
            <a:r>
              <a:rPr sz="4200" b="1">
                <a:solidFill>
                  <a:srgbClr val="F7FBFC"/>
                </a:solidFill>
                <a:latin typeface="Aptos Display"/>
                <a:ea typeface="Aptos Display"/>
              </a:rPr>
              <a:t>Super-Resolution Mapping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9DAF2A2-2076-4C38-B1F6-8A798BFD06B0}"/>
              </a:ext>
            </a:extLst>
          </p:cNvPr>
          <p:cNvSpPr txBox="1"/>
          <p:nvPr/>
        </p:nvSpPr>
        <p:spPr>
          <a:xfrm>
            <a:off x="685800" y="3667125"/>
            <a:ext cx="6858000" cy="666750"/>
          </a:xfrm>
        </p:spPr>
        <p:txBody>
          <a:bodyPr wrap="square" rtlCol="0" lIns="0" tIns="0" rIns="0" bIns="0" anchor="t"/>
          <a:lstStyle/>
          <a:p>
            <a:r>
              <a:rPr sz="2400">
                <a:solidFill>
                  <a:srgbClr val="B8D5DD"/>
                </a:solidFill>
                <a:latin typeface="Aptos"/>
                <a:ea typeface="Aptos"/>
              </a:rPr>
              <a:t>Latent Diffusion for Sentinel-2 RGB + NIR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BE2D257D-5ADB-4EF8-A014-690A46E6F395}"/>
              </a:ext>
            </a:extLst>
          </p:cNvPr>
          <p:cNvSpPr txBox="1"/>
          <p:nvPr/>
        </p:nvSpPr>
        <p:spPr>
          <a:xfrm>
            <a:off x="8572500" y="3333750"/>
            <a:ext cx="2857500" cy="1158240"/>
          </a:xfrm>
        </p:spPr>
        <p:txBody>
          <a:bodyPr wrap="square" rtlCol="0" lIns="0" tIns="0" rIns="0" bIns="0" anchor="t"/>
          <a:lstStyle/>
          <a:p>
            <a:pPr algn="ctr"/>
            <a:r>
              <a:rPr sz="7600" b="1">
                <a:solidFill>
                  <a:srgbClr val="F59E0B"/>
                </a:solidFill>
                <a:latin typeface="Aptos Display"/>
                <a:ea typeface="Aptos Display"/>
              </a:rPr>
              <a:t>4×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79557349-E381-4D8D-BB52-F501A7C18FE2}"/>
              </a:ext>
            </a:extLst>
          </p:cNvPr>
          <p:cNvSpPr txBox="1"/>
          <p:nvPr/>
        </p:nvSpPr>
        <p:spPr>
          <a:xfrm>
            <a:off x="8667750" y="4476750"/>
            <a:ext cx="2667000" cy="857250"/>
          </a:xfrm>
        </p:spPr>
        <p:txBody>
          <a:bodyPr wrap="square" rtlCol="0" lIns="0" tIns="0" rIns="0" bIns="0" anchor="t"/>
          <a:lstStyle/>
          <a:p>
            <a:pPr algn="ctr"/>
            <a:r>
              <a:rPr sz="2000" b="1">
                <a:solidFill>
                  <a:srgbClr val="F7FBFC"/>
                </a:solidFill>
                <a:latin typeface="Aptos"/>
                <a:ea typeface="Aptos"/>
              </a:rPr>
              <a:t>10 m → 2.5 m</a:t>
            </a:r>
            <a:br/>
            <a:r>
              <a:rPr sz="2000" b="1">
                <a:solidFill>
                  <a:srgbClr val="F7FBFC"/>
                </a:solidFill>
                <a:latin typeface="Aptos"/>
                <a:ea typeface="Aptos"/>
              </a:rPr>
              <a:t>LDSR-S2</a:t>
            </a:r>
          </a:p>
        </p:txBody>
      </p:sp>
      <p:cxnSp>
        <p:nvCxnSpPr>
          <p:cNvPr id="10" name="Straight Connector 10">
            <a:extLst>
              <a:ext uri="{FF2B5EF4-FFF2-40B4-BE49-F238E27FC236}">
                <a16:creationId xmlns:a16="http://schemas.microsoft.com/office/drawing/2014/main" id="{FABA14D9-C621-45E4-A610-1B550370B059}"/>
              </a:ext>
            </a:extLst>
          </p:cNvPr>
          <p:cNvCxnSpPr/>
          <p:nvPr/>
        </p:nvCxnSpPr>
        <p:spPr>
          <a:xfrm>
            <a:off x="666750" y="5191125"/>
            <a:ext cx="7048500" cy="9525"/>
          </a:xfrm>
          <a:prstGeom prst="line">
            <a:avLst/>
          </a:prstGeom>
          <a:ln w="12700" cap="flat">
            <a:solidFill>
              <a:srgbClr val="365A69"/>
            </a:solidFill>
          </a:ln>
        </p:spPr>
      </p:cxnSp>
      <p:sp>
        <p:nvSpPr>
          <p:cNvPr id="11" name="TextBox 11">
            <a:extLst>
              <a:ext uri="{FF2B5EF4-FFF2-40B4-BE49-F238E27FC236}">
                <a16:creationId xmlns:a16="http://schemas.microsoft.com/office/drawing/2014/main" id="{46D24816-D15A-4A6F-B66E-6B28868E7530}"/>
              </a:ext>
            </a:extLst>
          </p:cNvPr>
          <p:cNvSpPr txBox="1"/>
          <p:nvPr/>
        </p:nvSpPr>
        <p:spPr>
          <a:xfrm>
            <a:off x="666750" y="5476875"/>
            <a:ext cx="7143750" cy="723900"/>
          </a:xfrm>
        </p:spPr>
        <p:txBody>
          <a:bodyPr wrap="square" rtlCol="0" lIns="0" tIns="0" rIns="0" bIns="0" anchor="t"/>
          <a:lstStyle/>
          <a:p>
            <a:r>
              <a:rPr sz="1600">
                <a:solidFill>
                  <a:srgbClr val="B8D5DD"/>
                </a:solidFill>
                <a:latin typeface="Aptos"/>
                <a:ea typeface="Aptos"/>
              </a:rPr>
              <a:t>PyTorch · OpenSR · Kaggle GPU · Tesla T4</a:t>
            </a:r>
          </a:p>
          <a:p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Presented by Shreeyansh Janu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9778E99-7D19-4EBA-A6C8-075B8CDF33C6}"/>
              </a:ext>
            </a:extLst>
          </p:cNvPr>
          <p:cNvSpPr txBox="1"/>
          <p:nvPr/>
        </p:nvSpPr>
        <p:spPr>
          <a:xfrm>
            <a:off x="609600" y="400050"/>
            <a:ext cx="7239000" cy="53340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What is Super-Resolution?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E97B556-B0F4-4C75-9487-6DB65E5678BF}"/>
              </a:ext>
            </a:extLst>
          </p:cNvPr>
          <p:cNvSpPr txBox="1"/>
          <p:nvPr/>
        </p:nvSpPr>
        <p:spPr>
          <a:xfrm>
            <a:off x="628650" y="990600"/>
            <a:ext cx="9334500" cy="476250"/>
          </a:xfrm>
        </p:spPr>
        <p:txBody>
          <a:bodyPr wrap="square" rtlCol="0" lIns="0" tIns="0" rIns="0" bIns="0" anchor="t"/>
          <a:lstStyle/>
          <a:p>
            <a:r>
              <a:rPr sz="1700">
                <a:solidFill>
                  <a:srgbClr val="54717D"/>
                </a:solidFill>
                <a:latin typeface="Aptos"/>
                <a:ea typeface="Aptos"/>
              </a:rPr>
              <a:t>Reconstructing a higher-resolution estimate from a lower-resolution observation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2D91D56E-DC7E-463D-82D7-4928DD63573C}"/>
              </a:ext>
            </a:extLst>
          </p:cNvPr>
          <p:cNvSpPr/>
          <p:nvPr/>
        </p:nvSpPr>
        <p:spPr>
          <a:xfrm>
            <a:off x="666750" y="1809750"/>
            <a:ext cx="466725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7078EB4-2F4A-4DC6-837E-82A3968E4725}"/>
              </a:ext>
            </a:extLst>
          </p:cNvPr>
          <p:cNvSpPr txBox="1"/>
          <p:nvPr/>
        </p:nvSpPr>
        <p:spPr>
          <a:xfrm>
            <a:off x="1000125" y="2143125"/>
            <a:ext cx="4000500" cy="619125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1DA7A7"/>
                </a:solidFill>
                <a:latin typeface="Aptos Display"/>
                <a:ea typeface="Aptos Display"/>
              </a:rPr>
              <a:t>Observation → Estimate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F29D86D-9164-4208-8C02-6A4371119F44}"/>
              </a:ext>
            </a:extLst>
          </p:cNvPr>
          <p:cNvSpPr txBox="1"/>
          <p:nvPr/>
        </p:nvSpPr>
        <p:spPr>
          <a:xfrm>
            <a:off x="1000125" y="3000375"/>
            <a:ext cx="4000500" cy="666750"/>
          </a:xfrm>
        </p:spPr>
        <p:txBody>
          <a:bodyPr wrap="square" rtlCol="0" lIns="0" tIns="0" rIns="0" bIns="0" anchor="t"/>
          <a:lstStyle/>
          <a:p>
            <a:pPr algn="ctr"/>
            <a:r>
              <a:rPr sz="4000" b="1">
                <a:solidFill>
                  <a:srgbClr val="102A3A"/>
                </a:solidFill>
                <a:latin typeface="Aptos Display"/>
                <a:ea typeface="Aptos Display"/>
              </a:rPr>
              <a:t>xLR  →  x̂HR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F6D03CF5-6E07-4D32-A77B-2DAC2AAC0FD5}"/>
              </a:ext>
            </a:extLst>
          </p:cNvPr>
          <p:cNvSpPr txBox="1"/>
          <p:nvPr/>
        </p:nvSpPr>
        <p:spPr>
          <a:xfrm>
            <a:off x="1000125" y="3905250"/>
            <a:ext cx="4000500" cy="685800"/>
          </a:xfrm>
        </p:spPr>
        <p:txBody>
          <a:bodyPr wrap="square" rtlCol="0" lIns="0" tIns="0" rIns="0" bIns="0" anchor="t"/>
          <a:lstStyle/>
          <a:p>
            <a:r>
              <a:rPr sz="1500">
                <a:solidFill>
                  <a:srgbClr val="54717D"/>
                </a:solidFill>
                <a:latin typeface="Aptos"/>
                <a:ea typeface="Aptos"/>
              </a:rPr>
              <a:t>xLR: low-resolution image</a:t>
            </a:r>
            <a:br/>
            <a:r>
              <a:rPr sz="1500">
                <a:solidFill>
                  <a:srgbClr val="54717D"/>
                </a:solidFill>
                <a:latin typeface="Aptos"/>
                <a:ea typeface="Aptos"/>
              </a:rPr>
              <a:t>xHR: true high-resolution image</a:t>
            </a:r>
            <a:br/>
            <a:r>
              <a:rPr sz="1500">
                <a:solidFill>
                  <a:srgbClr val="54717D"/>
                </a:solidFill>
                <a:latin typeface="Aptos"/>
                <a:ea typeface="Aptos"/>
              </a:rPr>
              <a:t>x̂HR: predicted reconstruction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2924EB9-502D-4277-9438-87BCC2947C84}"/>
              </a:ext>
            </a:extLst>
          </p:cNvPr>
          <p:cNvSpPr/>
          <p:nvPr/>
        </p:nvSpPr>
        <p:spPr>
          <a:xfrm>
            <a:off x="5810250" y="1809750"/>
            <a:ext cx="5715000" cy="30480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128244E-832D-4FD7-A925-C844655FAAB9}"/>
              </a:ext>
            </a:extLst>
          </p:cNvPr>
          <p:cNvSpPr txBox="1"/>
          <p:nvPr/>
        </p:nvSpPr>
        <p:spPr>
          <a:xfrm>
            <a:off x="6191250" y="2190750"/>
            <a:ext cx="4953000" cy="523875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F7FBFC"/>
                </a:solidFill>
                <a:latin typeface="Aptos Display"/>
                <a:ea typeface="Aptos Display"/>
              </a:rPr>
              <a:t>The model learns the mapping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C03319E-5B4E-4A86-B93A-C2D1F11DD7A2}"/>
              </a:ext>
            </a:extLst>
          </p:cNvPr>
          <p:cNvSpPr txBox="1"/>
          <p:nvPr/>
        </p:nvSpPr>
        <p:spPr>
          <a:xfrm>
            <a:off x="6191250" y="3048000"/>
            <a:ext cx="4953000" cy="714375"/>
          </a:xfrm>
        </p:spPr>
        <p:txBody>
          <a:bodyPr wrap="square" rtlCol="0" lIns="0" tIns="0" rIns="0" bIns="0" anchor="t"/>
          <a:lstStyle/>
          <a:p>
            <a:pPr algn="ctr"/>
            <a:r>
              <a:rPr sz="3800" b="1">
                <a:solidFill>
                  <a:srgbClr val="F59E0B"/>
                </a:solidFill>
                <a:latin typeface="Aptos Display"/>
                <a:ea typeface="Aptos Display"/>
              </a:rPr>
              <a:t>fθ(xLR)  →  x̂HR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22138BC-66B2-420A-95A1-70514294AC03}"/>
              </a:ext>
            </a:extLst>
          </p:cNvPr>
          <p:cNvSpPr txBox="1"/>
          <p:nvPr/>
        </p:nvSpPr>
        <p:spPr>
          <a:xfrm>
            <a:off x="6191250" y="4000500"/>
            <a:ext cx="4953000" cy="552450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B8D5DD"/>
                </a:solidFill>
                <a:latin typeface="Aptos"/>
                <a:ea typeface="Aptos"/>
              </a:rPr>
              <a:t>Not pixel resizing—learned reconstruction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EC240412-5624-4D57-B14F-84D8BB4139B2}"/>
              </a:ext>
            </a:extLst>
          </p:cNvPr>
          <p:cNvSpPr txBox="1"/>
          <p:nvPr/>
        </p:nvSpPr>
        <p:spPr>
          <a:xfrm>
            <a:off x="666750" y="5429250"/>
            <a:ext cx="10858500" cy="685800"/>
          </a:xfrm>
        </p:spPr>
        <p:txBody>
          <a:bodyPr wrap="square" rtlCol="0" lIns="0" tIns="0" rIns="0" bIns="0" anchor="t"/>
          <a:lstStyle/>
          <a:p>
            <a:pPr algn="ctr"/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Super-resolution estimates missing detail from patterns learned during training.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869A365-51D5-478E-BE2A-E102BFC1557D}"/>
              </a:ext>
            </a:extLst>
          </p:cNvPr>
          <p:cNvSpPr txBox="1"/>
          <p:nvPr/>
        </p:nvSpPr>
        <p:spPr>
          <a:xfrm>
            <a:off x="609600" y="400050"/>
            <a:ext cx="74295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Why Satellite Super-Resolution?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DC37426-6D41-400C-8EE7-9E1BBC9E7998}"/>
              </a:ext>
            </a:extLst>
          </p:cNvPr>
          <p:cNvSpPr/>
          <p:nvPr/>
        </p:nvSpPr>
        <p:spPr>
          <a:xfrm>
            <a:off x="619125" y="1238250"/>
            <a:ext cx="4095750" cy="447675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BBCD5C4-D2F9-4014-8519-4AF90A55012B}"/>
              </a:ext>
            </a:extLst>
          </p:cNvPr>
          <p:cNvSpPr txBox="1"/>
          <p:nvPr/>
        </p:nvSpPr>
        <p:spPr>
          <a:xfrm>
            <a:off x="1000125" y="1619250"/>
            <a:ext cx="3333750" cy="523875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F7FBFC"/>
                </a:solidFill>
                <a:latin typeface="Aptos Display"/>
                <a:ea typeface="Aptos Display"/>
              </a:rPr>
              <a:t>Coverage vs. detail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0087CE7-0E3F-47A6-B9F9-5136C1F5C3C8}"/>
              </a:ext>
            </a:extLst>
          </p:cNvPr>
          <p:cNvSpPr txBox="1"/>
          <p:nvPr/>
        </p:nvSpPr>
        <p:spPr>
          <a:xfrm>
            <a:off x="1000125" y="2428875"/>
            <a:ext cx="3333750" cy="1619250"/>
          </a:xfrm>
        </p:spPr>
        <p:txBody>
          <a:bodyPr wrap="square" rtlCol="0" lIns="0" tIns="0" rIns="0" bIns="0" anchor="t"/>
          <a:lstStyle/>
          <a:p>
            <a:r>
              <a:rPr sz="2300" b="1">
                <a:solidFill>
                  <a:srgbClr val="1DA7A7"/>
                </a:solidFill>
                <a:latin typeface="Aptos"/>
                <a:ea typeface="Aptos"/>
              </a:rPr>
              <a:t>Sentinel-2</a:t>
            </a:r>
            <a:br/>
            <a:r>
              <a:rPr sz="2300" b="1">
                <a:solidFill>
                  <a:srgbClr val="1DA7A7"/>
                </a:solidFill>
                <a:latin typeface="Aptos"/>
                <a:ea typeface="Aptos"/>
              </a:rPr>
              <a:t>RGB + NIR: 10 m</a:t>
            </a:r>
            <a:br/>
            <a:r>
              <a:rPr sz="2300" b="1">
                <a:solidFill>
                  <a:srgbClr val="1DA7A7"/>
                </a:solidFill>
                <a:latin typeface="Aptos"/>
                <a:ea typeface="Aptos"/>
              </a:rPr>
              <a:t>Other bands: 20 m / 60 m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A32FFC0-E9A7-413F-B0E7-C847A8469763}"/>
              </a:ext>
            </a:extLst>
          </p:cNvPr>
          <p:cNvSpPr txBox="1"/>
          <p:nvPr/>
        </p:nvSpPr>
        <p:spPr>
          <a:xfrm>
            <a:off x="1000125" y="4476750"/>
            <a:ext cx="3333750" cy="809625"/>
          </a:xfrm>
        </p:spPr>
        <p:txBody>
          <a:bodyPr wrap="square" rtlCol="0" lIns="0" tIns="0" rIns="0" bIns="0" anchor="t"/>
          <a:lstStyle/>
          <a:p>
            <a:r>
              <a:rPr sz="1700">
                <a:solidFill>
                  <a:srgbClr val="B8D5DD"/>
                </a:solidFill>
                <a:latin typeface="Aptos"/>
                <a:ea typeface="Aptos"/>
              </a:rPr>
              <a:t>Large geographic coverage comes with limited spatial resolution.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A5E4D66-F216-410F-B271-6DA2BF12A824}"/>
              </a:ext>
            </a:extLst>
          </p:cNvPr>
          <p:cNvSpPr txBox="1"/>
          <p:nvPr/>
        </p:nvSpPr>
        <p:spPr>
          <a:xfrm>
            <a:off x="5286375" y="1304925"/>
            <a:ext cx="5810250" cy="438150"/>
          </a:xfrm>
        </p:spPr>
        <p:txBody>
          <a:bodyPr wrap="square" rtlCol="0" lIns="0" tIns="0" rIns="0" bIns="0" anchor="t"/>
          <a:lstStyle/>
          <a:p>
            <a:r>
              <a:rPr sz="2300" b="1">
                <a:solidFill>
                  <a:srgbClr val="102A3A"/>
                </a:solidFill>
                <a:latin typeface="Aptos Display"/>
                <a:ea typeface="Aptos Display"/>
              </a:rPr>
              <a:t>Where finer spatial detail helps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9F550BF-8330-4FE7-8047-5DCF5F08009F}"/>
              </a:ext>
            </a:extLst>
          </p:cNvPr>
          <p:cNvSpPr/>
          <p:nvPr/>
        </p:nvSpPr>
        <p:spPr>
          <a:xfrm>
            <a:off x="5286375" y="2047875"/>
            <a:ext cx="2667000" cy="1047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Agriculture</a:t>
            </a:r>
            <a:br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Forest monitoring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27CCA2D0-E6FB-4F44-91D8-A5BE50953611}"/>
              </a:ext>
            </a:extLst>
          </p:cNvPr>
          <p:cNvSpPr/>
          <p:nvPr/>
        </p:nvSpPr>
        <p:spPr>
          <a:xfrm>
            <a:off x="8286750" y="2047875"/>
            <a:ext cx="2667000" cy="1047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Urban mapping</a:t>
            </a:r>
            <a:br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Road / building analysis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2B4FED6-FFBE-4895-9A50-573CD8C158FF}"/>
              </a:ext>
            </a:extLst>
          </p:cNvPr>
          <p:cNvSpPr/>
          <p:nvPr/>
        </p:nvSpPr>
        <p:spPr>
          <a:xfrm>
            <a:off x="5286375" y="3381375"/>
            <a:ext cx="2667000" cy="1047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Land-cover</a:t>
            </a:r>
            <a:br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classification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ED00D94-D48D-4322-AF3F-21A1DC7C7F01}"/>
              </a:ext>
            </a:extLst>
          </p:cNvPr>
          <p:cNvSpPr/>
          <p:nvPr/>
        </p:nvSpPr>
        <p:spPr>
          <a:xfrm>
            <a:off x="8286750" y="3381375"/>
            <a:ext cx="2667000" cy="1047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Environmental monitoring</a:t>
            </a:r>
            <a:br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Change detection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7B75FE8-B602-4D1F-9CA6-0957C9CDD470}"/>
              </a:ext>
            </a:extLst>
          </p:cNvPr>
          <p:cNvSpPr/>
          <p:nvPr/>
        </p:nvSpPr>
        <p:spPr>
          <a:xfrm>
            <a:off x="5286375" y="4810125"/>
            <a:ext cx="5667375" cy="904875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400" b="1">
                <a:solidFill>
                  <a:srgbClr val="0C6F73"/>
                </a:solidFill>
                <a:latin typeface="Aptos Display"/>
                <a:ea typeface="Aptos Display"/>
              </a:rPr>
              <a:t>LDSR-S2 target: 10 m → 2.5 m RGB-NIR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9723B669-BEF9-4C3F-A2DC-9A5DC142B892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Sentinel-2 Bands Used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65B767F-F1CE-4BC8-9B5C-462EB655A949}"/>
              </a:ext>
            </a:extLst>
          </p:cNvPr>
          <p:cNvSpPr txBox="1"/>
          <p:nvPr/>
        </p:nvSpPr>
        <p:spPr>
          <a:xfrm>
            <a:off x="628650" y="952500"/>
            <a:ext cx="6667500" cy="381000"/>
          </a:xfrm>
        </p:spPr>
        <p:txBody>
          <a:bodyPr wrap="square" rtlCol="0" lIns="0" tIns="0" rIns="0" bIns="0" anchor="t"/>
          <a:lstStyle/>
          <a:p>
            <a:r>
              <a:rPr sz="1700">
                <a:solidFill>
                  <a:srgbClr val="54717D"/>
                </a:solidFill>
                <a:latin typeface="Aptos"/>
                <a:ea typeface="Aptos"/>
              </a:rPr>
              <a:t>Four channels combine spatial and spectral information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1378BED-0112-4BDE-BAF8-888CB1757505}"/>
              </a:ext>
            </a:extLst>
          </p:cNvPr>
          <p:cNvSpPr/>
          <p:nvPr/>
        </p:nvSpPr>
        <p:spPr>
          <a:xfrm>
            <a:off x="619125" y="1619250"/>
            <a:ext cx="2524125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3AD0246-1ED7-4BDA-9DA0-CF9D55A5D722}"/>
              </a:ext>
            </a:extLst>
          </p:cNvPr>
          <p:cNvSpPr txBox="1"/>
          <p:nvPr/>
        </p:nvSpPr>
        <p:spPr>
          <a:xfrm>
            <a:off x="857250" y="1952625"/>
            <a:ext cx="2047875" cy="10477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DA7A7"/>
                </a:solidFill>
                <a:latin typeface="Aptos Display"/>
                <a:ea typeface="Aptos Display"/>
              </a:rPr>
              <a:t>B04</a:t>
            </a:r>
          </a:p>
          <a:p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RED</a:t>
            </a:r>
            <a:br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Visible region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0D67B65-9C43-440B-9238-BFC4669B57EF}"/>
              </a:ext>
            </a:extLst>
          </p:cNvPr>
          <p:cNvSpPr/>
          <p:nvPr/>
        </p:nvSpPr>
        <p:spPr>
          <a:xfrm>
            <a:off x="3429000" y="1619250"/>
            <a:ext cx="2524125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FA2735F-CFB8-4E2E-89D2-E097B25C403D}"/>
              </a:ext>
            </a:extLst>
          </p:cNvPr>
          <p:cNvSpPr txBox="1"/>
          <p:nvPr/>
        </p:nvSpPr>
        <p:spPr>
          <a:xfrm>
            <a:off x="3667125" y="1952625"/>
            <a:ext cx="2047875" cy="10477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DA7A7"/>
                </a:solidFill>
                <a:latin typeface="Aptos Display"/>
                <a:ea typeface="Aptos Display"/>
              </a:rPr>
              <a:t>B03</a:t>
            </a:r>
          </a:p>
          <a:p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GREEN</a:t>
            </a:r>
            <a:br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Visible region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0C0A366-972C-4D53-A750-46C514F99470}"/>
              </a:ext>
            </a:extLst>
          </p:cNvPr>
          <p:cNvSpPr/>
          <p:nvPr/>
        </p:nvSpPr>
        <p:spPr>
          <a:xfrm>
            <a:off x="6238875" y="1619250"/>
            <a:ext cx="2524125" cy="171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F926C8C-F855-4C9E-8797-1131AE872A2C}"/>
              </a:ext>
            </a:extLst>
          </p:cNvPr>
          <p:cNvSpPr txBox="1"/>
          <p:nvPr/>
        </p:nvSpPr>
        <p:spPr>
          <a:xfrm>
            <a:off x="6477000" y="1952625"/>
            <a:ext cx="2047875" cy="10477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DA7A7"/>
                </a:solidFill>
                <a:latin typeface="Aptos Display"/>
                <a:ea typeface="Aptos Display"/>
              </a:rPr>
              <a:t>B02</a:t>
            </a:r>
          </a:p>
          <a:p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BLUE</a:t>
            </a:r>
            <a:br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Visible region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5810A0A-7795-48B1-87AE-1EE948C995F7}"/>
              </a:ext>
            </a:extLst>
          </p:cNvPr>
          <p:cNvSpPr/>
          <p:nvPr/>
        </p:nvSpPr>
        <p:spPr>
          <a:xfrm>
            <a:off x="9048750" y="1619250"/>
            <a:ext cx="2524125" cy="17145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21060EB-9CBA-4835-82BE-2873AC62268C}"/>
              </a:ext>
            </a:extLst>
          </p:cNvPr>
          <p:cNvSpPr txBox="1"/>
          <p:nvPr/>
        </p:nvSpPr>
        <p:spPr>
          <a:xfrm>
            <a:off x="9286875" y="1952625"/>
            <a:ext cx="2047875" cy="10477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F59E0B"/>
                </a:solidFill>
                <a:latin typeface="Aptos Display"/>
                <a:ea typeface="Aptos Display"/>
              </a:rPr>
              <a:t>B08</a:t>
            </a:r>
          </a:p>
          <a:p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NEAR INFRARED</a:t>
            </a:r>
            <a:br/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NIR region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878D0263-2439-499E-8ED2-46A4198D2EA6}"/>
              </a:ext>
            </a:extLst>
          </p:cNvPr>
          <p:cNvSpPr/>
          <p:nvPr/>
        </p:nvSpPr>
        <p:spPr>
          <a:xfrm>
            <a:off x="2000250" y="3857625"/>
            <a:ext cx="8191500" cy="152400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901E02FE-4C6D-4AF2-9C8D-3B7F2928B17A}"/>
              </a:ext>
            </a:extLst>
          </p:cNvPr>
          <p:cNvSpPr txBox="1"/>
          <p:nvPr/>
        </p:nvSpPr>
        <p:spPr>
          <a:xfrm>
            <a:off x="2381250" y="4171950"/>
            <a:ext cx="7429500" cy="868680"/>
          </a:xfrm>
        </p:spPr>
        <p:txBody>
          <a:bodyPr wrap="square" rtlCol="0" lIns="0" tIns="0" rIns="0" bIns="0" anchor="t"/>
          <a:lstStyle/>
          <a:p>
            <a:pPr algn="ctr"/>
            <a:r>
              <a:rPr sz="4000" b="1">
                <a:solidFill>
                  <a:srgbClr val="0C6F73"/>
                </a:solidFill>
                <a:latin typeface="Aptos Display"/>
                <a:ea typeface="Aptos Display"/>
              </a:rPr>
              <a:t>XLR ∈ ℝ⁴ˣᴴˣᵂ</a:t>
            </a:r>
          </a:p>
          <a:p>
            <a:pPr algn="ctr"/>
            <a:r>
              <a:rPr sz="1700">
                <a:solidFill>
                  <a:srgbClr val="102A3A"/>
                </a:solidFill>
                <a:latin typeface="Aptos"/>
                <a:ea typeface="Aptos"/>
              </a:rPr>
              <a:t>Satellite imagery is more than an RGB photograph.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EC5D631-5A0B-4773-8D06-252DED619730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The Resolution Problem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91770E3-70B8-41DA-9D5E-AF75651D58E5}"/>
              </a:ext>
            </a:extLst>
          </p:cNvPr>
          <p:cNvSpPr txBox="1"/>
          <p:nvPr/>
        </p:nvSpPr>
        <p:spPr>
          <a:xfrm>
            <a:off x="742950" y="1619250"/>
            <a:ext cx="3714750" cy="952500"/>
          </a:xfrm>
        </p:spPr>
        <p:txBody>
          <a:bodyPr wrap="square" rtlCol="0" lIns="0" tIns="0" rIns="0" bIns="0" anchor="t"/>
          <a:lstStyle/>
          <a:p>
            <a:pPr algn="ctr"/>
            <a:r>
              <a:rPr sz="4200" b="1">
                <a:solidFill>
                  <a:srgbClr val="102A3A"/>
                </a:solidFill>
                <a:latin typeface="Aptos Display"/>
                <a:ea typeface="Aptos Display"/>
              </a:rPr>
              <a:t>512 × 512</a:t>
            </a:r>
          </a:p>
          <a:p>
            <a:pPr algn="ctr"/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Sentinel-2 at 10 m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8A59188-3417-4963-A23C-14964C28064E}"/>
              </a:ext>
            </a:extLst>
          </p:cNvPr>
          <p:cNvSpPr/>
          <p:nvPr/>
        </p:nvSpPr>
        <p:spPr>
          <a:xfrm>
            <a:off x="4762500" y="1809750"/>
            <a:ext cx="1809750" cy="666750"/>
          </a:xfrm>
          <a:prstGeom prst="righ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9DC1DC15-461B-4C9A-8511-55B5FE631D43}"/>
              </a:ext>
            </a:extLst>
          </p:cNvPr>
          <p:cNvSpPr txBox="1"/>
          <p:nvPr/>
        </p:nvSpPr>
        <p:spPr>
          <a:xfrm>
            <a:off x="6953250" y="1428750"/>
            <a:ext cx="4476750" cy="1238250"/>
          </a:xfrm>
        </p:spPr>
        <p:txBody>
          <a:bodyPr wrap="square" rtlCol="0" lIns="0" tIns="0" rIns="0" bIns="0" anchor="t"/>
          <a:lstStyle/>
          <a:p>
            <a:pPr algn="ctr"/>
            <a:r>
              <a:rPr sz="4800" b="1">
                <a:solidFill>
                  <a:srgbClr val="0C6F73"/>
                </a:solidFill>
                <a:latin typeface="Aptos Display"/>
                <a:ea typeface="Aptos Display"/>
              </a:rPr>
              <a:t>2048 × 2048</a:t>
            </a:r>
          </a:p>
          <a:p>
            <a:pPr algn="ctr"/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LDSR-S2 estimate at 2.5 m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ED8B16C-51D9-41D2-AB1A-09AD84FADB34}"/>
              </a:ext>
            </a:extLst>
          </p:cNvPr>
          <p:cNvSpPr/>
          <p:nvPr/>
        </p:nvSpPr>
        <p:spPr>
          <a:xfrm>
            <a:off x="762000" y="3286125"/>
            <a:ext cx="3143250" cy="1666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9B11214-CD24-42B0-9660-E8F7E0F91701}"/>
              </a:ext>
            </a:extLst>
          </p:cNvPr>
          <p:cNvSpPr txBox="1"/>
          <p:nvPr/>
        </p:nvSpPr>
        <p:spPr>
          <a:xfrm>
            <a:off x="1047750" y="3619500"/>
            <a:ext cx="2571750" cy="1188720"/>
          </a:xfrm>
        </p:spPr>
        <p:txBody>
          <a:bodyPr wrap="square" rtlCol="0" lIns="0" tIns="0" rIns="0" bIns="0" anchor="t"/>
          <a:lstStyle/>
          <a:p>
            <a:pPr algn="ctr"/>
            <a:r>
              <a:rPr sz="6000" b="1">
                <a:solidFill>
                  <a:srgbClr val="F59E0B"/>
                </a:solidFill>
                <a:latin typeface="Aptos Display"/>
                <a:ea typeface="Aptos Display"/>
              </a:rPr>
              <a:t>4×</a:t>
            </a:r>
          </a:p>
          <a:p>
            <a:pPr algn="ctr"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width and height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3AB98565-C8E6-4C1D-ADE1-57CE15FF3B4A}"/>
              </a:ext>
            </a:extLst>
          </p:cNvPr>
          <p:cNvSpPr/>
          <p:nvPr/>
        </p:nvSpPr>
        <p:spPr>
          <a:xfrm>
            <a:off x="4524375" y="3286125"/>
            <a:ext cx="3143250" cy="1666875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B63B110-7536-460F-923B-942DBA5B7AD3}"/>
              </a:ext>
            </a:extLst>
          </p:cNvPr>
          <p:cNvSpPr txBox="1"/>
          <p:nvPr/>
        </p:nvSpPr>
        <p:spPr>
          <a:xfrm>
            <a:off x="4810125" y="3619500"/>
            <a:ext cx="2571750" cy="1188720"/>
          </a:xfrm>
        </p:spPr>
        <p:txBody>
          <a:bodyPr wrap="square" rtlCol="0" lIns="0" tIns="0" rIns="0" bIns="0" anchor="t"/>
          <a:lstStyle/>
          <a:p>
            <a:pPr algn="ctr"/>
            <a:r>
              <a:rPr sz="6000" b="1">
                <a:solidFill>
                  <a:srgbClr val="1DA7A7"/>
                </a:solidFill>
                <a:latin typeface="Aptos Display"/>
                <a:ea typeface="Aptos Display"/>
              </a:rPr>
              <a:t>16×</a:t>
            </a:r>
          </a:p>
          <a:p>
            <a:pPr algn="ctr"/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total pixel count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2E19106F-297C-445F-9CE9-F38E7FB7360A}"/>
              </a:ext>
            </a:extLst>
          </p:cNvPr>
          <p:cNvSpPr/>
          <p:nvPr/>
        </p:nvSpPr>
        <p:spPr>
          <a:xfrm>
            <a:off x="8286750" y="3286125"/>
            <a:ext cx="3143250" cy="1666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D2E7245-DC89-450E-BE83-18B3D6A3F8FF}"/>
              </a:ext>
            </a:extLst>
          </p:cNvPr>
          <p:cNvSpPr txBox="1"/>
          <p:nvPr/>
        </p:nvSpPr>
        <p:spPr>
          <a:xfrm>
            <a:off x="8572500" y="3590925"/>
            <a:ext cx="2571750" cy="1158240"/>
          </a:xfrm>
        </p:spPr>
        <p:txBody>
          <a:bodyPr wrap="square" rtlCol="0" lIns="0" tIns="0" rIns="0" bIns="0" anchor="t"/>
          <a:lstStyle/>
          <a:p>
            <a:pPr algn="ctr"/>
            <a:r>
              <a:rPr sz="4200" b="1">
                <a:solidFill>
                  <a:srgbClr val="102A3A"/>
                </a:solidFill>
                <a:latin typeface="Aptos Display"/>
                <a:ea typeface="Aptos Display"/>
              </a:rPr>
              <a:t>10 ÷ 4</a:t>
            </a:r>
          </a:p>
          <a:p>
            <a:pPr algn="ctr"/>
            <a:r>
              <a:rPr sz="1700" b="1">
                <a:solidFill>
                  <a:srgbClr val="54717D"/>
                </a:solidFill>
                <a:latin typeface="Aptos"/>
                <a:ea typeface="Aptos"/>
              </a:rPr>
              <a:t>= 2.5 m ground sampling distance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7BDBFDD7-AF7D-4E17-B2DB-C22F6ACB5718}"/>
              </a:ext>
            </a:extLst>
          </p:cNvPr>
          <p:cNvSpPr txBox="1"/>
          <p:nvPr/>
        </p:nvSpPr>
        <p:spPr>
          <a:xfrm>
            <a:off x="1047750" y="5524500"/>
            <a:ext cx="10096500" cy="495300"/>
          </a:xfrm>
        </p:spPr>
        <p:txBody>
          <a:bodyPr wrap="square" rtlCol="0" lIns="0" tIns="0" rIns="0" bIns="0" anchor="t"/>
          <a:lstStyle/>
          <a:p>
            <a:pPr algn="ctr"/>
            <a:r>
              <a:rPr sz="2400" b="1">
                <a:solidFill>
                  <a:srgbClr val="102A3A"/>
                </a:solidFill>
                <a:latin typeface="Aptos Display"/>
                <a:ea typeface="Aptos Display"/>
              </a:rPr>
              <a:t>262,144 pixels  →  4,194,304 pixels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3BA3C58-D3FF-4E5C-B04E-B7B21D14F617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Traditional Image Upscaling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B890066D-CCF4-4650-A154-37DE0F1F2BCD}"/>
              </a:ext>
            </a:extLst>
          </p:cNvPr>
          <p:cNvSpPr/>
          <p:nvPr/>
        </p:nvSpPr>
        <p:spPr>
          <a:xfrm>
            <a:off x="666750" y="1428750"/>
            <a:ext cx="495300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089B25C-505B-4C8F-8163-BCFE2F66C964}"/>
              </a:ext>
            </a:extLst>
          </p:cNvPr>
          <p:cNvSpPr txBox="1"/>
          <p:nvPr/>
        </p:nvSpPr>
        <p:spPr>
          <a:xfrm>
            <a:off x="1047750" y="1809750"/>
            <a:ext cx="4191000" cy="523875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102A3A"/>
                </a:solidFill>
                <a:latin typeface="Aptos Display"/>
                <a:ea typeface="Aptos Display"/>
              </a:rPr>
              <a:t>Interpolation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DB8D663-AADE-4CB4-80F7-1B7E864EE80B}"/>
              </a:ext>
            </a:extLst>
          </p:cNvPr>
          <p:cNvSpPr txBox="1"/>
          <p:nvPr/>
        </p:nvSpPr>
        <p:spPr>
          <a:xfrm>
            <a:off x="1047750" y="2619375"/>
            <a:ext cx="4191000" cy="1285875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54717D"/>
                </a:solidFill>
                <a:latin typeface="Aptos"/>
                <a:ea typeface="Aptos"/>
              </a:rPr>
              <a:t>Nearest Neighbor</a:t>
            </a:r>
            <a:br/>
            <a:r>
              <a:rPr sz="2200" b="1">
                <a:solidFill>
                  <a:srgbClr val="54717D"/>
                </a:solidFill>
                <a:latin typeface="Aptos"/>
                <a:ea typeface="Aptos"/>
              </a:rPr>
              <a:t>Bilinear</a:t>
            </a:r>
            <a:br/>
            <a:r>
              <a:rPr sz="2200" b="1">
                <a:solidFill>
                  <a:srgbClr val="54717D"/>
                </a:solidFill>
                <a:latin typeface="Aptos"/>
                <a:ea typeface="Aptos"/>
              </a:rPr>
              <a:t>Bicubic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7D37978B-1F22-4BAB-9CFB-E4FB97541A47}"/>
              </a:ext>
            </a:extLst>
          </p:cNvPr>
          <p:cNvSpPr txBox="1"/>
          <p:nvPr/>
        </p:nvSpPr>
        <p:spPr>
          <a:xfrm>
            <a:off x="1047750" y="4238625"/>
            <a:ext cx="4191000" cy="66675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102A3A"/>
                </a:solidFill>
                <a:latin typeface="Aptos"/>
                <a:ea typeface="Aptos"/>
              </a:rPr>
              <a:t>Estimates values from neighboring pixels.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7DE46B90-2680-45F2-AFAB-B7C1D2174479}"/>
              </a:ext>
            </a:extLst>
          </p:cNvPr>
          <p:cNvSpPr/>
          <p:nvPr/>
        </p:nvSpPr>
        <p:spPr>
          <a:xfrm>
            <a:off x="6191250" y="1428750"/>
            <a:ext cx="5334000" cy="38100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87CEF826-B9F2-4B83-A2AD-B399A9230C4F}"/>
              </a:ext>
            </a:extLst>
          </p:cNvPr>
          <p:cNvSpPr txBox="1"/>
          <p:nvPr/>
        </p:nvSpPr>
        <p:spPr>
          <a:xfrm>
            <a:off x="6572250" y="1809750"/>
            <a:ext cx="4572000" cy="523875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F7FBFC"/>
                </a:solidFill>
                <a:latin typeface="Aptos Display"/>
                <a:ea typeface="Aptos Display"/>
              </a:rPr>
              <a:t>Deep Super-Resolution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63105855-0021-44E2-845B-5E582D3082F0}"/>
              </a:ext>
            </a:extLst>
          </p:cNvPr>
          <p:cNvSpPr txBox="1"/>
          <p:nvPr/>
        </p:nvSpPr>
        <p:spPr>
          <a:xfrm>
            <a:off x="6572250" y="2714625"/>
            <a:ext cx="4572000" cy="666750"/>
          </a:xfrm>
        </p:spPr>
        <p:txBody>
          <a:bodyPr wrap="square" rtlCol="0" lIns="0" tIns="0" rIns="0" bIns="0" anchor="t"/>
          <a:lstStyle/>
          <a:p>
            <a:pPr algn="ctr"/>
            <a:r>
              <a:rPr sz="2500" b="1">
                <a:solidFill>
                  <a:srgbClr val="1DA7A7"/>
                </a:solidFill>
                <a:latin typeface="Aptos"/>
                <a:ea typeface="Aptos"/>
              </a:rPr>
              <a:t>LR  →  learned model  →  HR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AC8C77BA-37E5-4D3A-8247-4B62951601F8}"/>
              </a:ext>
            </a:extLst>
          </p:cNvPr>
          <p:cNvSpPr txBox="1"/>
          <p:nvPr/>
        </p:nvSpPr>
        <p:spPr>
          <a:xfrm>
            <a:off x="6572250" y="3905250"/>
            <a:ext cx="4572000" cy="85725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B8D5DD"/>
                </a:solidFill>
                <a:latin typeface="Aptos"/>
                <a:ea typeface="Aptos"/>
              </a:rPr>
              <a:t>Learns plausible relationships between low-resolution observations and high-resolution structures.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0D8E5EC-5067-4B97-8E64-91B7A7F275BC}"/>
              </a:ext>
            </a:extLst>
          </p:cNvPr>
          <p:cNvSpPr/>
          <p:nvPr/>
        </p:nvSpPr>
        <p:spPr>
          <a:xfrm>
            <a:off x="2714625" y="5619750"/>
            <a:ext cx="6762750" cy="6858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59E0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800" b="1">
                <a:solidFill>
                  <a:srgbClr val="8A5500"/>
                </a:solidFill>
                <a:latin typeface="Aptos Display"/>
                <a:ea typeface="Aptos Display"/>
              </a:rPr>
              <a:t>Upscaling ≠ Super-resolution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2D01265-B62D-4727-8DFE-2C529F6AD030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Why Deep Learning?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9BA5AF7-8C56-450E-AAC8-7DEC2F5A29DD}"/>
              </a:ext>
            </a:extLst>
          </p:cNvPr>
          <p:cNvSpPr txBox="1"/>
          <p:nvPr/>
        </p:nvSpPr>
        <p:spPr>
          <a:xfrm>
            <a:off x="628650" y="1000125"/>
            <a:ext cx="8572500" cy="523875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Training learns fθ(xLR) ≈ xHR instead of relying on a fixed interpolation rule.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3A7F4BDE-5973-4D8F-8A95-72FF7BDAC68F}"/>
              </a:ext>
            </a:extLst>
          </p:cNvPr>
          <p:cNvSpPr/>
          <p:nvPr/>
        </p:nvSpPr>
        <p:spPr>
          <a:xfrm>
            <a:off x="619125" y="1762125"/>
            <a:ext cx="3381375" cy="3000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EA522BA6-878F-4E75-97B4-3AD0A6391B1D}"/>
              </a:ext>
            </a:extLst>
          </p:cNvPr>
          <p:cNvSpPr txBox="1"/>
          <p:nvPr/>
        </p:nvSpPr>
        <p:spPr>
          <a:xfrm>
            <a:off x="904875" y="2143125"/>
            <a:ext cx="2809875" cy="619125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1DA7A7"/>
                </a:solidFill>
                <a:latin typeface="Aptos Display"/>
                <a:ea typeface="Aptos Display"/>
              </a:rPr>
              <a:t>Geometry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55228FA-430D-4B4F-9B96-1D911C5B47E5}"/>
              </a:ext>
            </a:extLst>
          </p:cNvPr>
          <p:cNvSpPr txBox="1"/>
          <p:nvPr/>
        </p:nvSpPr>
        <p:spPr>
          <a:xfrm>
            <a:off x="904875" y="3000375"/>
            <a:ext cx="2809875" cy="11430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102A3A"/>
                </a:solidFill>
                <a:latin typeface="Aptos"/>
                <a:ea typeface="Aptos"/>
              </a:rPr>
              <a:t>Edges</a:t>
            </a:r>
            <a:br/>
            <a:r>
              <a:rPr sz="2200" b="1">
                <a:solidFill>
                  <a:srgbClr val="102A3A"/>
                </a:solidFill>
                <a:latin typeface="Aptos"/>
                <a:ea typeface="Aptos"/>
              </a:rPr>
              <a:t>Structures</a:t>
            </a:r>
            <a:br/>
            <a:r>
              <a:rPr sz="2200" b="1">
                <a:solidFill>
                  <a:srgbClr val="102A3A"/>
                </a:solidFill>
                <a:latin typeface="Aptos"/>
                <a:ea typeface="Aptos"/>
              </a:rPr>
              <a:t>Spatial patterns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5145FD2-598F-463B-8D4A-BD84D62E99BF}"/>
              </a:ext>
            </a:extLst>
          </p:cNvPr>
          <p:cNvSpPr/>
          <p:nvPr/>
        </p:nvSpPr>
        <p:spPr>
          <a:xfrm>
            <a:off x="4410075" y="1762125"/>
            <a:ext cx="3381375" cy="3000375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32BCB0D-2CD2-45C6-BCB8-6AC227730FAC}"/>
              </a:ext>
            </a:extLst>
          </p:cNvPr>
          <p:cNvSpPr txBox="1"/>
          <p:nvPr/>
        </p:nvSpPr>
        <p:spPr>
          <a:xfrm>
            <a:off x="4695825" y="2143125"/>
            <a:ext cx="2809875" cy="619125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F59E0B"/>
                </a:solidFill>
                <a:latin typeface="Aptos Display"/>
                <a:ea typeface="Aptos Display"/>
              </a:rPr>
              <a:t>Appearance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14C22FB-9FE7-46FA-A761-8A84419DF9EB}"/>
              </a:ext>
            </a:extLst>
          </p:cNvPr>
          <p:cNvSpPr txBox="1"/>
          <p:nvPr/>
        </p:nvSpPr>
        <p:spPr>
          <a:xfrm>
            <a:off x="4695825" y="3000375"/>
            <a:ext cx="2809875" cy="1143000"/>
          </a:xfrm>
        </p:spPr>
        <p:txBody>
          <a:bodyPr wrap="square" rtlCol="0" lIns="0" tIns="0" rIns="0" bIns="0" anchor="t"/>
          <a:lstStyle/>
          <a:p>
            <a:r>
              <a:rPr sz="2200" b="1">
                <a:solidFill>
                  <a:srgbClr val="F7FBFC"/>
                </a:solidFill>
                <a:latin typeface="Aptos"/>
                <a:ea typeface="Aptos"/>
              </a:rPr>
              <a:t>Textures</a:t>
            </a:r>
            <a:br/>
            <a:r>
              <a:rPr sz="2200" b="1">
                <a:solidFill>
                  <a:srgbClr val="F7FBFC"/>
                </a:solidFill>
                <a:latin typeface="Aptos"/>
                <a:ea typeface="Aptos"/>
              </a:rPr>
              <a:t>Fine detail</a:t>
            </a:r>
            <a:br/>
            <a:r>
              <a:rPr sz="2200" b="1">
                <a:solidFill>
                  <a:srgbClr val="F7FBFC"/>
                </a:solidFill>
                <a:latin typeface="Aptos"/>
                <a:ea typeface="Aptos"/>
              </a:rPr>
              <a:t>High-frequency cues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77E561B5-9A71-41E6-B050-3CF9831BE83F}"/>
              </a:ext>
            </a:extLst>
          </p:cNvPr>
          <p:cNvSpPr/>
          <p:nvPr/>
        </p:nvSpPr>
        <p:spPr>
          <a:xfrm>
            <a:off x="8191500" y="1762125"/>
            <a:ext cx="3381375" cy="3000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F62BAAF1-F95D-4639-9D7A-7C33BA84DDF7}"/>
              </a:ext>
            </a:extLst>
          </p:cNvPr>
          <p:cNvSpPr txBox="1"/>
          <p:nvPr/>
        </p:nvSpPr>
        <p:spPr>
          <a:xfrm>
            <a:off x="8477250" y="2143125"/>
            <a:ext cx="2809875" cy="619125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1DA7A7"/>
                </a:solidFill>
                <a:latin typeface="Aptos Display"/>
                <a:ea typeface="Aptos Display"/>
              </a:rPr>
              <a:t>Spectrum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D48FC34-963C-44E5-BAE2-8CEE67091C5B}"/>
              </a:ext>
            </a:extLst>
          </p:cNvPr>
          <p:cNvSpPr txBox="1"/>
          <p:nvPr/>
        </p:nvSpPr>
        <p:spPr>
          <a:xfrm>
            <a:off x="8477250" y="3000375"/>
            <a:ext cx="2809875" cy="1280160"/>
          </a:xfrm>
        </p:spPr>
        <p:txBody>
          <a:bodyPr wrap="square" rtlCol="0" lIns="0" tIns="0" rIns="0" bIns="0" anchor="t"/>
          <a:lstStyle/>
          <a:p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Band relationships</a:t>
            </a:r>
            <a:br/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RGB + NIR consistency</a:t>
            </a:r>
            <a:br/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Earth-observation patterns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15354AB1-3693-4DC7-9E04-A43EF5D8021F}"/>
              </a:ext>
            </a:extLst>
          </p:cNvPr>
          <p:cNvSpPr txBox="1"/>
          <p:nvPr/>
        </p:nvSpPr>
        <p:spPr>
          <a:xfrm>
            <a:off x="1619250" y="5381625"/>
            <a:ext cx="8953500" cy="666750"/>
          </a:xfrm>
        </p:spPr>
        <p:txBody>
          <a:bodyPr wrap="square" rtlCol="0" lIns="0" tIns="0" rIns="0" bIns="0" anchor="t"/>
          <a:lstStyle/>
          <a:p>
            <a:pPr algn="ctr"/>
            <a:r>
              <a:rPr sz="2700" b="1">
                <a:solidFill>
                  <a:srgbClr val="102A3A"/>
                </a:solidFill>
                <a:latin typeface="Aptos Display"/>
                <a:ea typeface="Aptos Display"/>
              </a:rPr>
              <a:t>The reconstruction rule is learned from data.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EB587B8-50A8-48B8-9A54-0505329D65E0}"/>
              </a:ext>
            </a:extLst>
          </p:cNvPr>
          <p:cNvSpPr txBox="1"/>
          <p:nvPr/>
        </p:nvSpPr>
        <p:spPr>
          <a:xfrm>
            <a:off x="609600" y="400050"/>
            <a:ext cx="78105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Deep Learning SR Approaches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EB4E003-9D47-42F7-B89C-99478D4D0D3F}"/>
              </a:ext>
            </a:extLst>
          </p:cNvPr>
          <p:cNvSpPr/>
          <p:nvPr/>
        </p:nvSpPr>
        <p:spPr>
          <a:xfrm>
            <a:off x="523875" y="1381125"/>
            <a:ext cx="3524250" cy="3857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98038457-3B07-4B77-AB67-23C42DC0B4F7}"/>
              </a:ext>
            </a:extLst>
          </p:cNvPr>
          <p:cNvSpPr txBox="1"/>
          <p:nvPr/>
        </p:nvSpPr>
        <p:spPr>
          <a:xfrm>
            <a:off x="809625" y="1714500"/>
            <a:ext cx="2952750" cy="619125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1DA7A7"/>
                </a:solidFill>
                <a:latin typeface="Aptos Display"/>
                <a:ea typeface="Aptos Display"/>
              </a:rPr>
              <a:t>01  CNN-based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F30A72D-6A81-4189-8CCB-0771A357D7D0}"/>
              </a:ext>
            </a:extLst>
          </p:cNvPr>
          <p:cNvSpPr txBox="1"/>
          <p:nvPr/>
        </p:nvSpPr>
        <p:spPr>
          <a:xfrm>
            <a:off x="809625" y="2524125"/>
            <a:ext cx="2952750" cy="1809750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SRCNN · EDSR · RCAN</a:t>
            </a:r>
          </a:p>
          <a:p>
            <a:br/>
            <a:r>
              <a:rPr sz="1700">
                <a:solidFill>
                  <a:srgbClr val="54717D"/>
                </a:solidFill>
                <a:latin typeface="Aptos"/>
                <a:ea typeface="Aptos"/>
              </a:rPr>
              <a:t>LR → CNN → HR</a:t>
            </a:r>
            <a:br/>
            <a:br/>
            <a:r>
              <a:rPr sz="1700">
                <a:solidFill>
                  <a:srgbClr val="54717D"/>
                </a:solidFill>
                <a:latin typeface="Aptos"/>
                <a:ea typeface="Aptos"/>
              </a:rPr>
              <a:t>Direct learned reconstruction.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09F29E5-8D4A-49EC-A223-72DB6D6A7CC5}"/>
              </a:ext>
            </a:extLst>
          </p:cNvPr>
          <p:cNvSpPr/>
          <p:nvPr/>
        </p:nvSpPr>
        <p:spPr>
          <a:xfrm>
            <a:off x="4333875" y="1381125"/>
            <a:ext cx="3524250" cy="3857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8617774-2A86-4C24-B834-2BC5FF6E5AAC}"/>
              </a:ext>
            </a:extLst>
          </p:cNvPr>
          <p:cNvSpPr txBox="1"/>
          <p:nvPr/>
        </p:nvSpPr>
        <p:spPr>
          <a:xfrm>
            <a:off x="4619625" y="1714500"/>
            <a:ext cx="2952750" cy="619125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1DA7A7"/>
                </a:solidFill>
                <a:latin typeface="Aptos Display"/>
                <a:ea typeface="Aptos Display"/>
              </a:rPr>
              <a:t>02  GAN-based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A88A9A57-AEA5-4C53-80E7-72E44184155F}"/>
              </a:ext>
            </a:extLst>
          </p:cNvPr>
          <p:cNvSpPr txBox="1"/>
          <p:nvPr/>
        </p:nvSpPr>
        <p:spPr>
          <a:xfrm>
            <a:off x="4619625" y="2524125"/>
            <a:ext cx="2952750" cy="2143125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SRGAN</a:t>
            </a:r>
          </a:p>
          <a:p>
            <a:br/>
            <a:r>
              <a:rPr sz="1700">
                <a:solidFill>
                  <a:srgbClr val="54717D"/>
                </a:solidFill>
                <a:latin typeface="Aptos"/>
                <a:ea typeface="Aptos"/>
              </a:rPr>
              <a:t>Generator + discriminator</a:t>
            </a:r>
            <a:br/>
            <a:br/>
            <a:r>
              <a:rPr sz="1700">
                <a:solidFill>
                  <a:srgbClr val="54717D"/>
                </a:solidFill>
                <a:latin typeface="Aptos"/>
                <a:ea typeface="Aptos"/>
              </a:rPr>
              <a:t>Visually realistic detail can become scientifically incorrect hallucination.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7EB9513-5098-420B-8D25-50B9F994574A}"/>
              </a:ext>
            </a:extLst>
          </p:cNvPr>
          <p:cNvSpPr/>
          <p:nvPr/>
        </p:nvSpPr>
        <p:spPr>
          <a:xfrm>
            <a:off x="8143875" y="1381125"/>
            <a:ext cx="3524250" cy="3857625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F4F754D7-250C-4443-A10B-FA5C6C95F082}"/>
              </a:ext>
            </a:extLst>
          </p:cNvPr>
          <p:cNvSpPr txBox="1"/>
          <p:nvPr/>
        </p:nvSpPr>
        <p:spPr>
          <a:xfrm>
            <a:off x="8429625" y="1714500"/>
            <a:ext cx="2952750" cy="619125"/>
          </a:xfrm>
        </p:spPr>
        <p:txBody>
          <a:bodyPr wrap="square" rtlCol="0" lIns="0" tIns="0" rIns="0" bIns="0" anchor="t"/>
          <a:lstStyle/>
          <a:p>
            <a:r>
              <a:rPr sz="2400" b="1">
                <a:solidFill>
                  <a:srgbClr val="F59E0B"/>
                </a:solidFill>
                <a:latin typeface="Aptos Display"/>
                <a:ea typeface="Aptos Display"/>
              </a:rPr>
              <a:t>03  Diffusion-based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9B65A1C-8074-4AF8-B185-48DF93F9C652}"/>
              </a:ext>
            </a:extLst>
          </p:cNvPr>
          <p:cNvSpPr txBox="1"/>
          <p:nvPr/>
        </p:nvSpPr>
        <p:spPr>
          <a:xfrm>
            <a:off x="8429625" y="2524125"/>
            <a:ext cx="2952750" cy="2143125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Noise → iterative denoising → HR</a:t>
            </a:r>
          </a:p>
          <a:p>
            <a:br/>
            <a:r>
              <a:rPr sz="1700">
                <a:solidFill>
                  <a:srgbClr val="B8D5DD"/>
                </a:solidFill>
                <a:latin typeface="Aptos"/>
                <a:ea typeface="Aptos"/>
              </a:rPr>
              <a:t>Conditioned on LR information.</a:t>
            </a:r>
            <a:br/>
            <a:br/>
            <a:r>
              <a:rPr sz="1700">
                <a:solidFill>
                  <a:srgbClr val="B8D5DD"/>
                </a:solidFill>
                <a:latin typeface="Aptos"/>
                <a:ea typeface="Aptos"/>
              </a:rPr>
              <a:t>Probabilistic reconstruction supports uncertainty analysis.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AA0E1282-182F-4AF6-A6EC-1D8BB02B9AAC}"/>
              </a:ext>
            </a:extLst>
          </p:cNvPr>
          <p:cNvSpPr txBox="1"/>
          <p:nvPr/>
        </p:nvSpPr>
        <p:spPr>
          <a:xfrm>
            <a:off x="857250" y="5619750"/>
            <a:ext cx="10477500" cy="523875"/>
          </a:xfrm>
        </p:spPr>
        <p:txBody>
          <a:bodyPr wrap="square" rtlCol="0" lIns="0" tIns="0" rIns="0" bIns="0" anchor="t"/>
          <a:lstStyle/>
          <a:p>
            <a:pPr algn="ctr"/>
            <a:r>
              <a:rPr sz="2000" b="1">
                <a:solidFill>
                  <a:srgbClr val="102A3A"/>
                </a:solidFill>
                <a:latin typeface="Aptos"/>
                <a:ea typeface="Aptos"/>
              </a:rPr>
              <a:t>Remote sensing needs plausible detail—and evidence that it remains tied to the observation.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9368BB4-A679-4F38-9CC9-FF2096BA4092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What is a Diffusion Model?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C8450C0-D94B-4CB1-9590-B4EEBF1A32B0}"/>
              </a:ext>
            </a:extLst>
          </p:cNvPr>
          <p:cNvSpPr/>
          <p:nvPr/>
        </p:nvSpPr>
        <p:spPr>
          <a:xfrm>
            <a:off x="619125" y="1428750"/>
            <a:ext cx="5095875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01D2400-1C2F-42B2-846F-0426B9C579CC}"/>
              </a:ext>
            </a:extLst>
          </p:cNvPr>
          <p:cNvSpPr txBox="1"/>
          <p:nvPr/>
        </p:nvSpPr>
        <p:spPr>
          <a:xfrm>
            <a:off x="1000125" y="1762125"/>
            <a:ext cx="4333875" cy="523875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102A3A"/>
                </a:solidFill>
                <a:latin typeface="Aptos Display"/>
                <a:ea typeface="Aptos Display"/>
              </a:rPr>
              <a:t>Forward diffusion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79B42A2-0CFC-422E-B1F3-946EFF4B3B76}"/>
              </a:ext>
            </a:extLst>
          </p:cNvPr>
          <p:cNvSpPr txBox="1"/>
          <p:nvPr/>
        </p:nvSpPr>
        <p:spPr>
          <a:xfrm>
            <a:off x="1000125" y="2428875"/>
            <a:ext cx="4333875" cy="57150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Gradually add noise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1F265DDC-2132-44FD-B01F-9C008BAA8F52}"/>
              </a:ext>
            </a:extLst>
          </p:cNvPr>
          <p:cNvSpPr txBox="1"/>
          <p:nvPr/>
        </p:nvSpPr>
        <p:spPr>
          <a:xfrm>
            <a:off x="1000125" y="3286125"/>
            <a:ext cx="4333875" cy="619125"/>
          </a:xfrm>
        </p:spPr>
        <p:txBody>
          <a:bodyPr wrap="square" rtlCol="0" lIns="0" tIns="0" rIns="0" bIns="0" anchor="t"/>
          <a:lstStyle/>
          <a:p>
            <a:pPr algn="ctr"/>
            <a:r>
              <a:rPr sz="2800" b="1">
                <a:solidFill>
                  <a:srgbClr val="1DA7A7"/>
                </a:solidFill>
                <a:latin typeface="Aptos Display"/>
                <a:ea typeface="Aptos Display"/>
              </a:rPr>
              <a:t>x₀ → x₁ → x₂ → … → xT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780F30A8-EBEE-49D5-A110-331A184F21C3}"/>
              </a:ext>
            </a:extLst>
          </p:cNvPr>
          <p:cNvSpPr txBox="1"/>
          <p:nvPr/>
        </p:nvSpPr>
        <p:spPr>
          <a:xfrm>
            <a:off x="1000125" y="4238625"/>
            <a:ext cx="4333875" cy="666750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Original image → Gaussian noise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154890F-B8E2-4E23-ABF2-673387D0066F}"/>
              </a:ext>
            </a:extLst>
          </p:cNvPr>
          <p:cNvSpPr/>
          <p:nvPr/>
        </p:nvSpPr>
        <p:spPr>
          <a:xfrm>
            <a:off x="6477000" y="1428750"/>
            <a:ext cx="5095875" cy="40005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36D20DE3-76F6-48A8-B2B6-F11C4C607696}"/>
              </a:ext>
            </a:extLst>
          </p:cNvPr>
          <p:cNvSpPr txBox="1"/>
          <p:nvPr/>
        </p:nvSpPr>
        <p:spPr>
          <a:xfrm>
            <a:off x="6858000" y="1762125"/>
            <a:ext cx="4333875" cy="523875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F7FBFC"/>
                </a:solidFill>
                <a:latin typeface="Aptos Display"/>
                <a:ea typeface="Aptos Display"/>
              </a:rPr>
              <a:t>Reverse diffusion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2BFA57D7-F923-444E-8C04-CD6D8DB47333}"/>
              </a:ext>
            </a:extLst>
          </p:cNvPr>
          <p:cNvSpPr txBox="1"/>
          <p:nvPr/>
        </p:nvSpPr>
        <p:spPr>
          <a:xfrm>
            <a:off x="6858000" y="2428875"/>
            <a:ext cx="4333875" cy="57150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B8D5DD"/>
                </a:solidFill>
                <a:latin typeface="Aptos"/>
                <a:ea typeface="Aptos"/>
              </a:rPr>
              <a:t>Learn to remove noise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4C6F6BA-AEA4-4E4C-9DC5-397EA201A809}"/>
              </a:ext>
            </a:extLst>
          </p:cNvPr>
          <p:cNvSpPr txBox="1"/>
          <p:nvPr/>
        </p:nvSpPr>
        <p:spPr>
          <a:xfrm>
            <a:off x="6858000" y="3286125"/>
            <a:ext cx="4333875" cy="619125"/>
          </a:xfrm>
        </p:spPr>
        <p:txBody>
          <a:bodyPr wrap="square" rtlCol="0" lIns="0" tIns="0" rIns="0" bIns="0" anchor="t"/>
          <a:lstStyle/>
          <a:p>
            <a:pPr algn="ctr"/>
            <a:r>
              <a:rPr sz="2800" b="1">
                <a:solidFill>
                  <a:srgbClr val="F59E0B"/>
                </a:solidFill>
                <a:latin typeface="Aptos Display"/>
                <a:ea typeface="Aptos Display"/>
              </a:rPr>
              <a:t>xT → xT−1 → … → x₀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565B78C-B467-4D6B-82DD-8A351C690871}"/>
              </a:ext>
            </a:extLst>
          </p:cNvPr>
          <p:cNvSpPr txBox="1"/>
          <p:nvPr/>
        </p:nvSpPr>
        <p:spPr>
          <a:xfrm>
            <a:off x="6858000" y="4238625"/>
            <a:ext cx="4333875" cy="666750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Noise → reconstructed image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04210B1-5C6F-478B-94C1-6EECF56FEDB4}"/>
              </a:ext>
            </a:extLst>
          </p:cNvPr>
          <p:cNvSpPr txBox="1"/>
          <p:nvPr/>
        </p:nvSpPr>
        <p:spPr>
          <a:xfrm>
            <a:off x="1428750" y="5810250"/>
            <a:ext cx="9334500" cy="457200"/>
          </a:xfrm>
        </p:spPr>
        <p:txBody>
          <a:bodyPr wrap="square" rtlCol="0" lIns="0" tIns="0" rIns="0" bIns="0" anchor="t"/>
          <a:lstStyle/>
          <a:p>
            <a:pPr algn="ctr"/>
            <a:r>
              <a:rPr sz="2200" b="1">
                <a:solidFill>
                  <a:srgbClr val="102A3A"/>
                </a:solidFill>
                <a:latin typeface="Aptos"/>
                <a:ea typeface="Aptos"/>
              </a:rPr>
              <a:t>A diffusion model learns the reverse path.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E7BD136-2E2E-4FC9-9A52-FE30C28037F7}"/>
              </a:ext>
            </a:extLst>
          </p:cNvPr>
          <p:cNvSpPr txBox="1"/>
          <p:nvPr/>
        </p:nvSpPr>
        <p:spPr>
          <a:xfrm>
            <a:off x="609600" y="400050"/>
            <a:ext cx="8001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Forward Diffusion Mathematics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EAEE111-3C5A-4A2B-B581-B93245F9F2B4}"/>
              </a:ext>
            </a:extLst>
          </p:cNvPr>
          <p:cNvSpPr/>
          <p:nvPr/>
        </p:nvSpPr>
        <p:spPr>
          <a:xfrm>
            <a:off x="666750" y="1428750"/>
            <a:ext cx="7524750" cy="17145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3C52DE4-5E85-4593-9F6C-59D91C8CBC52}"/>
              </a:ext>
            </a:extLst>
          </p:cNvPr>
          <p:cNvSpPr txBox="1"/>
          <p:nvPr/>
        </p:nvSpPr>
        <p:spPr>
          <a:xfrm>
            <a:off x="1000125" y="1857375"/>
            <a:ext cx="6858000" cy="952500"/>
          </a:xfrm>
        </p:spPr>
        <p:txBody>
          <a:bodyPr wrap="square" rtlCol="0" lIns="0" tIns="0" rIns="0" bIns="0" anchor="t"/>
          <a:lstStyle/>
          <a:p>
            <a:pPr algn="ctr"/>
            <a:r>
              <a:rPr sz="2800" b="1">
                <a:solidFill>
                  <a:srgbClr val="F7FBFC"/>
                </a:solidFill>
                <a:latin typeface="Aptos Display"/>
                <a:ea typeface="Aptos Display"/>
              </a:rPr>
              <a:t>q(xt | xt−1) = 𝒩(xt ; √(1−βt) xt−1, βt I)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C27C637-1BB4-452E-95D8-1F95960F054E}"/>
              </a:ext>
            </a:extLst>
          </p:cNvPr>
          <p:cNvSpPr txBox="1"/>
          <p:nvPr/>
        </p:nvSpPr>
        <p:spPr>
          <a:xfrm>
            <a:off x="8667750" y="1571625"/>
            <a:ext cx="2857500" cy="1666875"/>
          </a:xfrm>
        </p:spPr>
        <p:txBody>
          <a:bodyPr wrap="square" rtlCol="0" lIns="0" tIns="0" rIns="0" bIns="0" anchor="t"/>
          <a:lstStyle/>
          <a:p>
            <a:r>
              <a:rPr sz="5200" b="1">
                <a:solidFill>
                  <a:srgbClr val="F59E0B"/>
                </a:solidFill>
                <a:latin typeface="Aptos Display"/>
                <a:ea typeface="Aptos Display"/>
              </a:rPr>
              <a:t>βt</a:t>
            </a:r>
          </a:p>
          <a:p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noise variance schedule</a:t>
            </a:r>
          </a:p>
        </p:txBody>
      </p:sp>
      <p:cxnSp>
        <p:nvCxnSpPr>
          <p:cNvPr id="7" name="Straight Connector 7">
            <a:extLst>
              <a:ext uri="{FF2B5EF4-FFF2-40B4-BE49-F238E27FC236}">
                <a16:creationId xmlns:a16="http://schemas.microsoft.com/office/drawing/2014/main" id="{23935AE5-63EE-453E-9DB5-47F55C02B84A}"/>
              </a:ext>
            </a:extLst>
          </p:cNvPr>
          <p:cNvCxnSpPr/>
          <p:nvPr/>
        </p:nvCxnSpPr>
        <p:spPr>
          <a:xfrm>
            <a:off x="1143000" y="4143375"/>
            <a:ext cx="9334500" cy="9525"/>
          </a:xfrm>
          <a:prstGeom prst="straightConnector1">
            <a:avLst/>
          </a:prstGeom>
          <a:ln w="50800" cap="flat">
            <a:solidFill>
              <a:srgbClr val="1DA7A7"/>
            </a:solidFill>
            <a:tailEnd type="triangle" w="med" len="med"/>
          </a:ln>
        </p:spPr>
      </p:cxnSp>
      <p:sp>
        <p:nvSpPr>
          <p:cNvPr id="8" name="TextBox 8">
            <a:extLst>
              <a:ext uri="{FF2B5EF4-FFF2-40B4-BE49-F238E27FC236}">
                <a16:creationId xmlns:a16="http://schemas.microsoft.com/office/drawing/2014/main" id="{104007D0-3F8C-4A0B-8B7B-F0131A3C6361}"/>
              </a:ext>
            </a:extLst>
          </p:cNvPr>
          <p:cNvSpPr txBox="1"/>
          <p:nvPr/>
        </p:nvSpPr>
        <p:spPr>
          <a:xfrm>
            <a:off x="857250" y="3667125"/>
            <a:ext cx="857250" cy="428625"/>
          </a:xfrm>
        </p:spPr>
        <p:txBody>
          <a:bodyPr wrap="square" rtlCol="0" lIns="0" tIns="0" rIns="0" bIns="0" anchor="t"/>
          <a:lstStyle/>
          <a:p>
            <a:pPr algn="ctr"/>
            <a:r>
              <a:rPr sz="2500" b="1">
                <a:solidFill>
                  <a:srgbClr val="102A3A"/>
                </a:solidFill>
                <a:latin typeface="Aptos"/>
                <a:ea typeface="Aptos"/>
              </a:rPr>
              <a:t>x₀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28F49A7-4550-4AF7-94D8-C67160E8B789}"/>
              </a:ext>
            </a:extLst>
          </p:cNvPr>
          <p:cNvSpPr txBox="1"/>
          <p:nvPr/>
        </p:nvSpPr>
        <p:spPr>
          <a:xfrm>
            <a:off x="3333750" y="3667125"/>
            <a:ext cx="857250" cy="428625"/>
          </a:xfrm>
        </p:spPr>
        <p:txBody>
          <a:bodyPr wrap="square" rtlCol="0" lIns="0" tIns="0" rIns="0" bIns="0" anchor="t"/>
          <a:lstStyle/>
          <a:p>
            <a:pPr algn="ctr"/>
            <a:r>
              <a:rPr sz="2500" b="1">
                <a:solidFill>
                  <a:srgbClr val="102A3A"/>
                </a:solidFill>
                <a:latin typeface="Aptos"/>
                <a:ea typeface="Aptos"/>
              </a:rPr>
              <a:t>x₁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76FB037-0668-49EC-A3CD-99E218A7CAC4}"/>
              </a:ext>
            </a:extLst>
          </p:cNvPr>
          <p:cNvSpPr txBox="1"/>
          <p:nvPr/>
        </p:nvSpPr>
        <p:spPr>
          <a:xfrm>
            <a:off x="5810250" y="3667125"/>
            <a:ext cx="857250" cy="428625"/>
          </a:xfrm>
        </p:spPr>
        <p:txBody>
          <a:bodyPr wrap="square" rtlCol="0" lIns="0" tIns="0" rIns="0" bIns="0" anchor="t"/>
          <a:lstStyle/>
          <a:p>
            <a:pPr algn="ctr"/>
            <a:r>
              <a:rPr sz="2500" b="1">
                <a:solidFill>
                  <a:srgbClr val="102A3A"/>
                </a:solidFill>
                <a:latin typeface="Aptos"/>
                <a:ea typeface="Aptos"/>
              </a:rPr>
              <a:t>x₂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767B2E58-F202-4F27-A4C2-E1D8B16F5193}"/>
              </a:ext>
            </a:extLst>
          </p:cNvPr>
          <p:cNvSpPr txBox="1"/>
          <p:nvPr/>
        </p:nvSpPr>
        <p:spPr>
          <a:xfrm>
            <a:off x="10096500" y="3667125"/>
            <a:ext cx="952500" cy="428625"/>
          </a:xfrm>
        </p:spPr>
        <p:txBody>
          <a:bodyPr wrap="square" rtlCol="0" lIns="0" tIns="0" rIns="0" bIns="0" anchor="t"/>
          <a:lstStyle/>
          <a:p>
            <a:pPr algn="ctr"/>
            <a:r>
              <a:rPr sz="2500" b="1">
                <a:solidFill>
                  <a:srgbClr val="102A3A"/>
                </a:solidFill>
                <a:latin typeface="Aptos"/>
                <a:ea typeface="Aptos"/>
              </a:rPr>
              <a:t>xT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80578FFE-AFB9-4DE2-9486-D3A22F0778ED}"/>
              </a:ext>
            </a:extLst>
          </p:cNvPr>
          <p:cNvSpPr txBox="1"/>
          <p:nvPr/>
        </p:nvSpPr>
        <p:spPr>
          <a:xfrm>
            <a:off x="952500" y="4476750"/>
            <a:ext cx="9906000" cy="666750"/>
          </a:xfrm>
        </p:spPr>
        <p:txBody>
          <a:bodyPr wrap="square" rtlCol="0" lIns="0" tIns="0" rIns="0" bIns="0" anchor="t"/>
          <a:lstStyle/>
          <a:p>
            <a:pPr algn="ctr"/>
            <a:r>
              <a:rPr sz="2000">
                <a:solidFill>
                  <a:srgbClr val="54717D"/>
                </a:solidFill>
                <a:latin typeface="Aptos"/>
                <a:ea typeface="Aptos"/>
              </a:rPr>
              <a:t>As t increases, the schedule introduces progressively more Gaussian noise.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9087CA9-5F8A-4A3A-9522-418CF09A91DD}"/>
              </a:ext>
            </a:extLst>
          </p:cNvPr>
          <p:cNvSpPr/>
          <p:nvPr/>
        </p:nvSpPr>
        <p:spPr>
          <a:xfrm>
            <a:off x="2762250" y="5381625"/>
            <a:ext cx="6667500" cy="66675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0C6F73"/>
                </a:solidFill>
                <a:latin typeface="Aptos"/>
                <a:ea typeface="Aptos"/>
              </a:rPr>
              <a:t>t = timestep   ·   I = identity matrix   ·   𝒩 = Gaussian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BBA4BBD-1A60-42D3-AC6E-6D3DC60DDB15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Reverse Diffusion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380DB32-C5C4-4D47-A66B-E903B03140B1}"/>
              </a:ext>
            </a:extLst>
          </p:cNvPr>
          <p:cNvSpPr txBox="1"/>
          <p:nvPr/>
        </p:nvSpPr>
        <p:spPr>
          <a:xfrm>
            <a:off x="628650" y="1000125"/>
            <a:ext cx="8572500" cy="428625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The denoiser learns the conditional transition back toward a clean latent.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B2744A77-3715-4EBC-B05F-D5880B6DAF99}"/>
              </a:ext>
            </a:extLst>
          </p:cNvPr>
          <p:cNvSpPr/>
          <p:nvPr/>
        </p:nvSpPr>
        <p:spPr>
          <a:xfrm>
            <a:off x="714375" y="1714500"/>
            <a:ext cx="10763250" cy="1762125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478E82A-95CD-4E26-A313-833761C783FB}"/>
              </a:ext>
            </a:extLst>
          </p:cNvPr>
          <p:cNvSpPr txBox="1"/>
          <p:nvPr/>
        </p:nvSpPr>
        <p:spPr>
          <a:xfrm>
            <a:off x="1047750" y="2143125"/>
            <a:ext cx="10096500" cy="1000125"/>
          </a:xfrm>
        </p:spPr>
        <p:txBody>
          <a:bodyPr wrap="square" rtlCol="0" lIns="0" tIns="0" rIns="0" bIns="0" anchor="t"/>
          <a:lstStyle/>
          <a:p>
            <a:pPr algn="ctr"/>
            <a:r>
              <a:rPr sz="2700" b="1">
                <a:solidFill>
                  <a:srgbClr val="F7FBFC"/>
                </a:solidFill>
                <a:latin typeface="Aptos Display"/>
                <a:ea typeface="Aptos Display"/>
              </a:rPr>
              <a:t>pθ(xt−1 | xt, z) = 𝒩(xt−1 ; μθ(xt,t,z), Σθ(xt,t,z))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D123621-88D8-4693-B20C-A0156897EB12}"/>
              </a:ext>
            </a:extLst>
          </p:cNvPr>
          <p:cNvSpPr/>
          <p:nvPr/>
        </p:nvSpPr>
        <p:spPr>
          <a:xfrm>
            <a:off x="1571625" y="4000500"/>
            <a:ext cx="3714750" cy="1381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A463C7AD-242E-4C85-AC1F-643DE5BBBCDE}"/>
              </a:ext>
            </a:extLst>
          </p:cNvPr>
          <p:cNvSpPr txBox="1"/>
          <p:nvPr/>
        </p:nvSpPr>
        <p:spPr>
          <a:xfrm>
            <a:off x="1905000" y="4286250"/>
            <a:ext cx="3048000" cy="914400"/>
          </a:xfrm>
        </p:spPr>
        <p:txBody>
          <a:bodyPr wrap="square" rtlCol="0" lIns="0" tIns="0" rIns="0" bIns="0" anchor="t"/>
          <a:lstStyle/>
          <a:p>
            <a:pPr algn="ctr"/>
            <a:r>
              <a:rPr sz="4200" b="1">
                <a:solidFill>
                  <a:srgbClr val="1DA7A7"/>
                </a:solidFill>
                <a:latin typeface="Aptos Display"/>
                <a:ea typeface="Aptos Display"/>
              </a:rPr>
              <a:t>μθ</a:t>
            </a:r>
          </a:p>
          <a:p>
            <a:pPr algn="ctr"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learned mean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3E144F7-C7FC-4534-A9D4-76F931E21577}"/>
              </a:ext>
            </a:extLst>
          </p:cNvPr>
          <p:cNvSpPr/>
          <p:nvPr/>
        </p:nvSpPr>
        <p:spPr>
          <a:xfrm>
            <a:off x="6905625" y="4000500"/>
            <a:ext cx="3714750" cy="1381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AEB2FAEF-1FD0-41EB-99F5-7CD85E584BD3}"/>
              </a:ext>
            </a:extLst>
          </p:cNvPr>
          <p:cNvSpPr txBox="1"/>
          <p:nvPr/>
        </p:nvSpPr>
        <p:spPr>
          <a:xfrm>
            <a:off x="7239000" y="4286250"/>
            <a:ext cx="3048000" cy="914400"/>
          </a:xfrm>
        </p:spPr>
        <p:txBody>
          <a:bodyPr wrap="square" rtlCol="0" lIns="0" tIns="0" rIns="0" bIns="0" anchor="t"/>
          <a:lstStyle/>
          <a:p>
            <a:pPr algn="ctr"/>
            <a:r>
              <a:rPr sz="4200" b="1">
                <a:solidFill>
                  <a:srgbClr val="F59E0B"/>
                </a:solidFill>
                <a:latin typeface="Aptos Display"/>
                <a:ea typeface="Aptos Display"/>
              </a:rPr>
              <a:t>Σθ</a:t>
            </a:r>
          </a:p>
          <a:p>
            <a:pPr algn="ctr"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learned covariance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5C790AC-B693-4B75-94A4-631BDE7794A7}"/>
              </a:ext>
            </a:extLst>
          </p:cNvPr>
          <p:cNvSpPr txBox="1"/>
          <p:nvPr/>
        </p:nvSpPr>
        <p:spPr>
          <a:xfrm>
            <a:off x="2095500" y="5762625"/>
            <a:ext cx="8001000" cy="428625"/>
          </a:xfrm>
        </p:spPr>
        <p:txBody>
          <a:bodyPr wrap="square" rtlCol="0" lIns="0" tIns="0" rIns="0" bIns="0" anchor="t"/>
          <a:lstStyle/>
          <a:p>
            <a:pPr algn="ctr"/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z carries the low-resolution conditioning information.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5CAA315-E2A6-495B-B30D-299C24F82A60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What is Latent Diffusion?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EFA032C-A418-4CF3-B871-2835B6924816}"/>
              </a:ext>
            </a:extLst>
          </p:cNvPr>
          <p:cNvSpPr txBox="1"/>
          <p:nvPr/>
        </p:nvSpPr>
        <p:spPr>
          <a:xfrm>
            <a:off x="628650" y="990600"/>
            <a:ext cx="9525000" cy="428625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Move the expensive diffusion process from pixel space into a compressed representation.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55A9DD2-4CA5-4F37-96C0-F1A6D24B24FA}"/>
              </a:ext>
            </a:extLst>
          </p:cNvPr>
          <p:cNvSpPr/>
          <p:nvPr/>
        </p:nvSpPr>
        <p:spPr>
          <a:xfrm>
            <a:off x="476250" y="2428875"/>
            <a:ext cx="1714500" cy="1095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102A3A"/>
                </a:solidFill>
                <a:latin typeface="Aptos"/>
                <a:ea typeface="Aptos"/>
              </a:rPr>
              <a:t>IMAGE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42613204-097F-4857-AD89-E2F9915C4337}"/>
              </a:ext>
            </a:extLst>
          </p:cNvPr>
          <p:cNvSpPr/>
          <p:nvPr/>
        </p:nvSpPr>
        <p:spPr>
          <a:xfrm>
            <a:off x="2333625" y="2714625"/>
            <a:ext cx="571500" cy="52387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770FAD8-11D1-4D64-ABE5-2C45CF5E3B2F}"/>
              </a:ext>
            </a:extLst>
          </p:cNvPr>
          <p:cNvSpPr/>
          <p:nvPr/>
        </p:nvSpPr>
        <p:spPr>
          <a:xfrm>
            <a:off x="3048000" y="2428875"/>
            <a:ext cx="1714500" cy="1095375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C6F73"/>
                </a:solidFill>
                <a:latin typeface="Aptos"/>
                <a:ea typeface="Aptos"/>
              </a:rPr>
              <a:t>ENCODER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9EC9A84-CD29-4079-B876-C54B1374A950}"/>
              </a:ext>
            </a:extLst>
          </p:cNvPr>
          <p:cNvSpPr/>
          <p:nvPr/>
        </p:nvSpPr>
        <p:spPr>
          <a:xfrm>
            <a:off x="4905375" y="2714625"/>
            <a:ext cx="571500" cy="52387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6FF6308-0A02-4453-BA05-C7DF35595599}"/>
              </a:ext>
            </a:extLst>
          </p:cNvPr>
          <p:cNvSpPr/>
          <p:nvPr/>
        </p:nvSpPr>
        <p:spPr>
          <a:xfrm>
            <a:off x="5619750" y="2143125"/>
            <a:ext cx="2381250" cy="1666875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500" b="1">
                <a:solidFill>
                  <a:srgbClr val="F59E0B"/>
                </a:solidFill>
                <a:latin typeface="Aptos Display"/>
                <a:ea typeface="Aptos Display"/>
              </a:rPr>
              <a:t>LATENT</a:t>
            </a:r>
            <a:br/>
            <a:r>
              <a:rPr sz="2500" b="1">
                <a:solidFill>
                  <a:srgbClr val="F59E0B"/>
                </a:solidFill>
                <a:latin typeface="Aptos Display"/>
                <a:ea typeface="Aptos Display"/>
              </a:rPr>
              <a:t>DIFFUSION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2FB5EF73-0400-46E8-93A4-1D2D1F94F0C0}"/>
              </a:ext>
            </a:extLst>
          </p:cNvPr>
          <p:cNvSpPr/>
          <p:nvPr/>
        </p:nvSpPr>
        <p:spPr>
          <a:xfrm>
            <a:off x="8143875" y="2714625"/>
            <a:ext cx="571500" cy="52387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CBA668CD-E342-44C3-BD16-EA74E8C1ECBB}"/>
              </a:ext>
            </a:extLst>
          </p:cNvPr>
          <p:cNvSpPr/>
          <p:nvPr/>
        </p:nvSpPr>
        <p:spPr>
          <a:xfrm>
            <a:off x="8858250" y="2428875"/>
            <a:ext cx="1714500" cy="1095375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C6F73"/>
                </a:solidFill>
                <a:latin typeface="Aptos"/>
                <a:ea typeface="Aptos"/>
              </a:rPr>
              <a:t>DECODER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EE4F595-05E5-467D-A44E-028CFCDD9A4B}"/>
              </a:ext>
            </a:extLst>
          </p:cNvPr>
          <p:cNvSpPr/>
          <p:nvPr/>
        </p:nvSpPr>
        <p:spPr>
          <a:xfrm>
            <a:off x="10715625" y="2714625"/>
            <a:ext cx="571500" cy="52387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6790C15D-3F29-4196-B565-D80CD10E063D}"/>
              </a:ext>
            </a:extLst>
          </p:cNvPr>
          <p:cNvSpPr txBox="1"/>
          <p:nvPr/>
        </p:nvSpPr>
        <p:spPr>
          <a:xfrm>
            <a:off x="11096625" y="2714625"/>
            <a:ext cx="762000" cy="523875"/>
          </a:xfrm>
        </p:spPr>
        <p:txBody>
          <a:bodyPr wrap="square" rtlCol="0" lIns="0" tIns="0" rIns="0" bIns="0" anchor="t"/>
          <a:lstStyle/>
          <a:p>
            <a:pPr algn="ctr"/>
            <a:r>
              <a:rPr sz="2500" b="1">
                <a:solidFill>
                  <a:srgbClr val="102A3A"/>
                </a:solidFill>
                <a:latin typeface="Aptos"/>
                <a:ea typeface="Aptos"/>
              </a:rPr>
              <a:t>HR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2D5374DA-DD63-4912-A438-9713EC01459E}"/>
              </a:ext>
            </a:extLst>
          </p:cNvPr>
          <p:cNvSpPr/>
          <p:nvPr/>
        </p:nvSpPr>
        <p:spPr>
          <a:xfrm>
            <a:off x="1714500" y="4762500"/>
            <a:ext cx="8763000" cy="85725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59E0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100" b="1">
                <a:solidFill>
                  <a:srgbClr val="8A5500"/>
                </a:solidFill>
                <a:latin typeface="Aptos"/>
                <a:ea typeface="Aptos"/>
              </a:rPr>
              <a:t>Large satellite images become tractable by denoising a compact latent, then decoding.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4CF4BE6-349C-4188-96BB-FE4338782BD0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LDSR-S2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B8A9180-EF4A-42DE-8CCB-364502DF1FB3}"/>
              </a:ext>
            </a:extLst>
          </p:cNvPr>
          <p:cNvSpPr/>
          <p:nvPr/>
        </p:nvSpPr>
        <p:spPr>
          <a:xfrm>
            <a:off x="809625" y="1666875"/>
            <a:ext cx="3429000" cy="3429000"/>
          </a:xfrm>
          <a:prstGeom prst="ellipse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B2D65D66-BB54-4AFC-B0B8-D073F8A31F75}"/>
              </a:ext>
            </a:extLst>
          </p:cNvPr>
          <p:cNvSpPr txBox="1"/>
          <p:nvPr/>
        </p:nvSpPr>
        <p:spPr>
          <a:xfrm>
            <a:off x="1190625" y="2333625"/>
            <a:ext cx="2667000" cy="2095500"/>
          </a:xfrm>
        </p:spPr>
        <p:txBody>
          <a:bodyPr wrap="square" rtlCol="0" lIns="0" tIns="0" rIns="0" bIns="0" anchor="t"/>
          <a:lstStyle/>
          <a:p>
            <a:pPr algn="ctr"/>
            <a:r>
              <a:rPr sz="8000" b="1">
                <a:solidFill>
                  <a:srgbClr val="F59E0B"/>
                </a:solidFill>
                <a:latin typeface="Aptos Display"/>
                <a:ea typeface="Aptos Display"/>
              </a:rPr>
              <a:t>4×</a:t>
            </a:r>
          </a:p>
          <a:p>
            <a:pPr algn="ctr"/>
            <a:r>
              <a:rPr sz="2400" b="1">
                <a:solidFill>
                  <a:srgbClr val="F7FBFC"/>
                </a:solidFill>
                <a:latin typeface="Aptos"/>
                <a:ea typeface="Aptos"/>
              </a:rPr>
              <a:t>10 m → 2.5 m</a:t>
            </a:r>
          </a:p>
          <a:p>
            <a:pPr algn="ctr"/>
            <a:r>
              <a:rPr sz="1800">
                <a:solidFill>
                  <a:srgbClr val="B8D5DD"/>
                </a:solidFill>
                <a:latin typeface="Aptos"/>
                <a:ea typeface="Aptos"/>
              </a:rPr>
              <a:t>RGB + NIR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E2ADC6B-3DEB-478D-9F5D-DDEFCAA67F1B}"/>
              </a:ext>
            </a:extLst>
          </p:cNvPr>
          <p:cNvSpPr txBox="1"/>
          <p:nvPr/>
        </p:nvSpPr>
        <p:spPr>
          <a:xfrm>
            <a:off x="5191125" y="1571625"/>
            <a:ext cx="6000750" cy="853440"/>
          </a:xfrm>
        </p:spPr>
        <p:txBody>
          <a:bodyPr wrap="square" rtlCol="0" lIns="0" tIns="0" rIns="0" bIns="0" anchor="t"/>
          <a:lstStyle/>
          <a:p>
            <a:r>
              <a:rPr sz="2800" b="1">
                <a:solidFill>
                  <a:srgbClr val="102A3A"/>
                </a:solidFill>
                <a:latin typeface="Aptos Display"/>
                <a:ea typeface="Aptos Display"/>
              </a:rPr>
              <a:t>Latent Diffusion Super-Resolution for Sentinel-2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EFE802D8-044C-4968-951E-52A2B4F61D1F}"/>
              </a:ext>
            </a:extLst>
          </p:cNvPr>
          <p:cNvSpPr txBox="1"/>
          <p:nvPr/>
        </p:nvSpPr>
        <p:spPr>
          <a:xfrm>
            <a:off x="5191125" y="2571750"/>
            <a:ext cx="5905500" cy="1714500"/>
          </a:xfrm>
        </p:spPr>
        <p:txBody>
          <a:bodyPr wrap="square" rtlCol="0" lIns="0" tIns="0" rIns="0" bIns="0" anchor="t"/>
          <a:lstStyle/>
          <a:p>
            <a:r>
              <a:rPr sz="2100">
                <a:solidFill>
                  <a:srgbClr val="54717D"/>
                </a:solidFill>
                <a:latin typeface="Aptos"/>
                <a:ea typeface="Aptos"/>
              </a:rPr>
              <a:t>• Proposed by Donike et al.</a:t>
            </a:r>
            <a:br/>
            <a:r>
              <a:rPr sz="2100">
                <a:solidFill>
                  <a:srgbClr val="54717D"/>
                </a:solidFill>
                <a:latin typeface="Aptos"/>
                <a:ea typeface="Aptos"/>
              </a:rPr>
              <a:t>• Published in IEEE JSTARS (2025)</a:t>
            </a:r>
            <a:br/>
            <a:r>
              <a:rPr sz="2100">
                <a:solidFill>
                  <a:srgbClr val="54717D"/>
                </a:solidFill>
                <a:latin typeface="Aptos"/>
                <a:ea typeface="Aptos"/>
              </a:rPr>
              <a:t>• Designed for four-band Sentinel-2 imagery</a:t>
            </a:r>
            <a:br/>
            <a:r>
              <a:rPr sz="2100">
                <a:solidFill>
                  <a:srgbClr val="54717D"/>
                </a:solidFill>
                <a:latin typeface="Aptos"/>
                <a:ea typeface="Aptos"/>
              </a:rPr>
              <a:t>• Reconstructs spatial detail at 4× scale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049211D-D381-4496-BBCC-D955761CDDD0}"/>
              </a:ext>
            </a:extLst>
          </p:cNvPr>
          <p:cNvSpPr/>
          <p:nvPr/>
        </p:nvSpPr>
        <p:spPr>
          <a:xfrm>
            <a:off x="5191125" y="4619625"/>
            <a:ext cx="5905500" cy="1000125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07D70A96-A012-484B-A200-4DA88E68076D}"/>
              </a:ext>
            </a:extLst>
          </p:cNvPr>
          <p:cNvSpPr txBox="1"/>
          <p:nvPr/>
        </p:nvSpPr>
        <p:spPr>
          <a:xfrm>
            <a:off x="5524500" y="4905375"/>
            <a:ext cx="5238750" cy="609600"/>
          </a:xfrm>
        </p:spPr>
        <p:txBody>
          <a:bodyPr wrap="square" rtlCol="0" lIns="0" tIns="0" rIns="0" bIns="0" anchor="t"/>
          <a:lstStyle/>
          <a:p>
            <a:pPr algn="ctr"/>
            <a:r>
              <a:rPr sz="2000" b="1">
                <a:solidFill>
                  <a:srgbClr val="0C6F73"/>
                </a:solidFill>
                <a:latin typeface="Aptos"/>
                <a:ea typeface="Aptos"/>
              </a:rPr>
              <a:t>A model tailored to Earth observation—not generic photography.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41BC763-D666-4E12-83FA-D6B615BBFDCC}"/>
              </a:ext>
            </a:extLst>
          </p:cNvPr>
          <p:cNvSpPr txBox="1"/>
          <p:nvPr/>
        </p:nvSpPr>
        <p:spPr>
          <a:xfrm>
            <a:off x="609600" y="400050"/>
            <a:ext cx="81915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LDSR-S2 Overall Architecture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D2E50AC2-7AB3-44D2-8AFB-96CC3CD8EA68}"/>
              </a:ext>
            </a:extLst>
          </p:cNvPr>
          <p:cNvSpPr/>
          <p:nvPr/>
        </p:nvSpPr>
        <p:spPr>
          <a:xfrm>
            <a:off x="571500" y="2238375"/>
            <a:ext cx="1714500" cy="1143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Sentinel-2 LR</a:t>
            </a:r>
            <a:br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4 × H × W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9884E2C-EFD9-4EA7-9E77-8D086878433A}"/>
              </a:ext>
            </a:extLst>
          </p:cNvPr>
          <p:cNvSpPr/>
          <p:nvPr/>
        </p:nvSpPr>
        <p:spPr>
          <a:xfrm>
            <a:off x="2381250" y="2571750"/>
            <a:ext cx="523875" cy="476250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07A073CB-7F39-4F69-863E-D2964017AFD6}"/>
              </a:ext>
            </a:extLst>
          </p:cNvPr>
          <p:cNvSpPr/>
          <p:nvPr/>
        </p:nvSpPr>
        <p:spPr>
          <a:xfrm>
            <a:off x="3000375" y="2238375"/>
            <a:ext cx="1714500" cy="114300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0C6F73"/>
                </a:solidFill>
                <a:latin typeface="Aptos"/>
                <a:ea typeface="Aptos"/>
              </a:rPr>
              <a:t>Interpolation</a:t>
            </a:r>
            <a:br/>
            <a:r>
              <a:rPr sz="1800" b="1">
                <a:solidFill>
                  <a:srgbClr val="0C6F73"/>
                </a:solidFill>
                <a:latin typeface="Aptos"/>
                <a:ea typeface="Aptos"/>
              </a:rPr>
              <a:t>4× upscale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51B39ED-D1D0-4193-A9FD-B12341F66A62}"/>
              </a:ext>
            </a:extLst>
          </p:cNvPr>
          <p:cNvSpPr/>
          <p:nvPr/>
        </p:nvSpPr>
        <p:spPr>
          <a:xfrm>
            <a:off x="4810125" y="2571750"/>
            <a:ext cx="523875" cy="476250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06164C8-BB72-4FFF-99C1-4F415BAA3DBD}"/>
              </a:ext>
            </a:extLst>
          </p:cNvPr>
          <p:cNvSpPr/>
          <p:nvPr/>
        </p:nvSpPr>
        <p:spPr>
          <a:xfrm>
            <a:off x="5429250" y="2238375"/>
            <a:ext cx="1571625" cy="114300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0C6F73"/>
                </a:solidFill>
                <a:latin typeface="Aptos"/>
                <a:ea typeface="Aptos"/>
              </a:rPr>
              <a:t>Encoder</a:t>
            </a:r>
            <a:br/>
            <a:r>
              <a:rPr sz="1800" b="1">
                <a:solidFill>
                  <a:srgbClr val="0C6F73"/>
                </a:solidFill>
                <a:latin typeface="Aptos"/>
                <a:ea typeface="Aptos"/>
              </a:rPr>
              <a:t>Aenc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D2751215-EFA5-472C-BE77-3B9B59D0011F}"/>
              </a:ext>
            </a:extLst>
          </p:cNvPr>
          <p:cNvSpPr/>
          <p:nvPr/>
        </p:nvSpPr>
        <p:spPr>
          <a:xfrm>
            <a:off x="7096125" y="2571750"/>
            <a:ext cx="523875" cy="476250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8218CF60-7494-4150-A587-8F03D2C4025F}"/>
              </a:ext>
            </a:extLst>
          </p:cNvPr>
          <p:cNvSpPr/>
          <p:nvPr/>
        </p:nvSpPr>
        <p:spPr>
          <a:xfrm>
            <a:off x="7715250" y="1952625"/>
            <a:ext cx="1905000" cy="17145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59E0B"/>
                </a:solidFill>
                <a:latin typeface="Aptos"/>
                <a:ea typeface="Aptos"/>
              </a:rPr>
              <a:t>Latent z</a:t>
            </a:r>
            <a:br/>
            <a:r>
              <a:rPr sz="2000" b="1">
                <a:solidFill>
                  <a:srgbClr val="F59E0B"/>
                </a:solidFill>
                <a:latin typeface="Aptos"/>
                <a:ea typeface="Aptos"/>
              </a:rPr>
              <a:t>+</a:t>
            </a:r>
            <a:br/>
            <a:r>
              <a:rPr sz="2000" b="1">
                <a:solidFill>
                  <a:srgbClr val="F59E0B"/>
                </a:solidFill>
                <a:latin typeface="Aptos"/>
                <a:ea typeface="Aptos"/>
              </a:rPr>
              <a:t>Diffusion / UNet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47EC932-6903-4369-9A69-658102782525}"/>
              </a:ext>
            </a:extLst>
          </p:cNvPr>
          <p:cNvSpPr/>
          <p:nvPr/>
        </p:nvSpPr>
        <p:spPr>
          <a:xfrm>
            <a:off x="9715500" y="2571750"/>
            <a:ext cx="523875" cy="476250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6389EA7-F818-4C28-BCDE-E6EC9F6A130A}"/>
              </a:ext>
            </a:extLst>
          </p:cNvPr>
          <p:cNvSpPr/>
          <p:nvPr/>
        </p:nvSpPr>
        <p:spPr>
          <a:xfrm>
            <a:off x="10334625" y="2238375"/>
            <a:ext cx="1428750" cy="114300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0C6F73"/>
                </a:solidFill>
                <a:latin typeface="Aptos"/>
                <a:ea typeface="Aptos"/>
              </a:rPr>
              <a:t>Decoder</a:t>
            </a:r>
            <a:br/>
            <a:r>
              <a:rPr sz="1800" b="1">
                <a:solidFill>
                  <a:srgbClr val="0C6F73"/>
                </a:solidFill>
                <a:latin typeface="Aptos"/>
                <a:ea typeface="Aptos"/>
              </a:rPr>
              <a:t>Adec</a:t>
            </a:r>
          </a:p>
        </p:txBody>
      </p:sp>
      <p:cxnSp>
        <p:nvCxnSpPr>
          <p:cNvPr id="13" name="Straight Connector 13">
            <a:extLst>
              <a:ext uri="{FF2B5EF4-FFF2-40B4-BE49-F238E27FC236}">
                <a16:creationId xmlns:a16="http://schemas.microsoft.com/office/drawing/2014/main" id="{FA4F5CA7-8187-4D78-8134-DC4EAD4FBD96}"/>
              </a:ext>
            </a:extLst>
          </p:cNvPr>
          <p:cNvCxnSpPr/>
          <p:nvPr/>
        </p:nvCxnSpPr>
        <p:spPr>
          <a:xfrm>
            <a:off x="11029950" y="3667125"/>
            <a:ext cx="19050" cy="762000"/>
          </a:xfrm>
          <a:prstGeom prst="straightConnector1">
            <a:avLst/>
          </a:prstGeom>
          <a:ln w="38100" cap="flat">
            <a:solidFill>
              <a:srgbClr val="1DA7A7"/>
            </a:solidFill>
            <a:tailEnd type="triangle" w="med" len="med"/>
          </a:ln>
        </p:spPr>
      </p:cxnSp>
      <p:sp>
        <p:nvSpPr>
          <p:cNvPr id="14" name="Shape 14">
            <a:extLst>
              <a:ext uri="{FF2B5EF4-FFF2-40B4-BE49-F238E27FC236}">
                <a16:creationId xmlns:a16="http://schemas.microsoft.com/office/drawing/2014/main" id="{05E4BE9A-9783-4511-9928-BD72893F9099}"/>
              </a:ext>
            </a:extLst>
          </p:cNvPr>
          <p:cNvSpPr/>
          <p:nvPr/>
        </p:nvSpPr>
        <p:spPr>
          <a:xfrm>
            <a:off x="8382000" y="4524375"/>
            <a:ext cx="3381375" cy="1000125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59E0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100" b="1">
                <a:solidFill>
                  <a:srgbClr val="8A5500"/>
                </a:solidFill>
                <a:latin typeface="Aptos"/>
                <a:ea typeface="Aptos"/>
              </a:rPr>
              <a:t>SR RGB-NIR</a:t>
            </a:r>
            <a:br/>
            <a:r>
              <a:rPr sz="2100" b="1">
                <a:solidFill>
                  <a:srgbClr val="8A5500"/>
                </a:solidFill>
                <a:latin typeface="Aptos"/>
                <a:ea typeface="Aptos"/>
              </a:rPr>
              <a:t>4 × 4H × 4W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44577DD4-9818-4B65-83E7-1E9C6EBC3AFB}"/>
              </a:ext>
            </a:extLst>
          </p:cNvPr>
          <p:cNvSpPr txBox="1"/>
          <p:nvPr/>
        </p:nvSpPr>
        <p:spPr>
          <a:xfrm>
            <a:off x="714375" y="4762500"/>
            <a:ext cx="6858000" cy="904875"/>
          </a:xfrm>
        </p:spPr>
        <p:txBody>
          <a:bodyPr wrap="square" rtlCol="0" lIns="0" tIns="0" rIns="0" bIns="0" anchor="t"/>
          <a:lstStyle/>
          <a:p>
            <a:r>
              <a:rPr sz="1900">
                <a:solidFill>
                  <a:srgbClr val="54717D"/>
                </a:solidFill>
                <a:latin typeface="Aptos"/>
                <a:ea typeface="Aptos"/>
              </a:rPr>
              <a:t>The LR image is first resized to target dimensions, then encoded to condition the latent denoising process.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75F2989E-C7D2-4E98-B0E8-B2DE37E3E77C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Autoencoder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5C349D0-C528-4967-8AEE-B21D44F299F4}"/>
              </a:ext>
            </a:extLst>
          </p:cNvPr>
          <p:cNvSpPr/>
          <p:nvPr/>
        </p:nvSpPr>
        <p:spPr>
          <a:xfrm>
            <a:off x="666750" y="1571625"/>
            <a:ext cx="4476750" cy="295275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D324C4C-4E5B-4FA6-AAD6-D16571E02C47}"/>
              </a:ext>
            </a:extLst>
          </p:cNvPr>
          <p:cNvSpPr txBox="1"/>
          <p:nvPr/>
        </p:nvSpPr>
        <p:spPr>
          <a:xfrm>
            <a:off x="1047750" y="1952625"/>
            <a:ext cx="3714750" cy="619125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0C6F73"/>
                </a:solidFill>
                <a:latin typeface="Aptos Display"/>
                <a:ea typeface="Aptos Display"/>
              </a:rPr>
              <a:t>Encoder  Aenc(x)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B9AC822-18E7-4A74-9AE7-F5ED5B5FE137}"/>
              </a:ext>
            </a:extLst>
          </p:cNvPr>
          <p:cNvSpPr txBox="1"/>
          <p:nvPr/>
        </p:nvSpPr>
        <p:spPr>
          <a:xfrm>
            <a:off x="1047750" y="2857500"/>
            <a:ext cx="3714750" cy="1341120"/>
          </a:xfrm>
        </p:spPr>
        <p:txBody>
          <a:bodyPr wrap="square" rtlCol="0" lIns="0" tIns="0" rIns="0" bIns="0" anchor="t"/>
          <a:lstStyle/>
          <a:p>
            <a:pPr algn="ctr"/>
            <a:r>
              <a:rPr sz="3000" b="1">
                <a:solidFill>
                  <a:srgbClr val="102A3A"/>
                </a:solidFill>
                <a:latin typeface="Aptos"/>
                <a:ea typeface="Aptos"/>
              </a:rPr>
              <a:t>4 × 512 × 512</a:t>
            </a:r>
          </a:p>
          <a:p>
            <a:pPr algn="ctr"/>
            <a:r>
              <a:rPr sz="2800" b="1">
                <a:solidFill>
                  <a:srgbClr val="1DA7A7"/>
                </a:solidFill>
                <a:latin typeface="Aptos"/>
                <a:ea typeface="Aptos"/>
              </a:rPr>
              <a:t>↓</a:t>
            </a:r>
          </a:p>
          <a:p>
            <a:pPr algn="ctr"/>
            <a:r>
              <a:rPr sz="3000" b="1">
                <a:solidFill>
                  <a:srgbClr val="102A3A"/>
                </a:solidFill>
                <a:latin typeface="Aptos"/>
                <a:ea typeface="Aptos"/>
              </a:rPr>
              <a:t>4 × 128 × 128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6C748D2A-EA7E-4E51-BF2A-DE8420EE6A96}"/>
              </a:ext>
            </a:extLst>
          </p:cNvPr>
          <p:cNvSpPr/>
          <p:nvPr/>
        </p:nvSpPr>
        <p:spPr>
          <a:xfrm>
            <a:off x="7048500" y="1571625"/>
            <a:ext cx="4476750" cy="295275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D8BBE83D-77CE-4868-82DB-2A24E5D2869D}"/>
              </a:ext>
            </a:extLst>
          </p:cNvPr>
          <p:cNvSpPr txBox="1"/>
          <p:nvPr/>
        </p:nvSpPr>
        <p:spPr>
          <a:xfrm>
            <a:off x="7429500" y="1952625"/>
            <a:ext cx="3714750" cy="619125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F59E0B"/>
                </a:solidFill>
                <a:latin typeface="Aptos Display"/>
                <a:ea typeface="Aptos Display"/>
              </a:rPr>
              <a:t>Decoder  Adec(z)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A8524CE-4E89-440D-899C-456D4D84A0F6}"/>
              </a:ext>
            </a:extLst>
          </p:cNvPr>
          <p:cNvSpPr txBox="1"/>
          <p:nvPr/>
        </p:nvSpPr>
        <p:spPr>
          <a:xfrm>
            <a:off x="7429500" y="2952750"/>
            <a:ext cx="3714750" cy="952500"/>
          </a:xfrm>
        </p:spPr>
        <p:txBody>
          <a:bodyPr wrap="square" rtlCol="0" lIns="0" tIns="0" rIns="0" bIns="0" anchor="t"/>
          <a:lstStyle/>
          <a:p>
            <a:pPr algn="ctr"/>
            <a:r>
              <a:rPr sz="2400" b="1">
                <a:solidFill>
                  <a:srgbClr val="F7FBFC"/>
                </a:solidFill>
                <a:latin typeface="Aptos"/>
                <a:ea typeface="Aptos"/>
              </a:rPr>
              <a:t>latent z  →  reconstructed image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A53C2D7-4F9A-48B7-910F-E088BA15399F}"/>
              </a:ext>
            </a:extLst>
          </p:cNvPr>
          <p:cNvSpPr/>
          <p:nvPr/>
        </p:nvSpPr>
        <p:spPr>
          <a:xfrm>
            <a:off x="5429250" y="2714625"/>
            <a:ext cx="1333500" cy="666750"/>
          </a:xfrm>
          <a:prstGeom prst="righ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D2F0E58-637B-4724-982B-034F269BB62D}"/>
              </a:ext>
            </a:extLst>
          </p:cNvPr>
          <p:cNvSpPr txBox="1"/>
          <p:nvPr/>
        </p:nvSpPr>
        <p:spPr>
          <a:xfrm>
            <a:off x="1714500" y="5143500"/>
            <a:ext cx="8763000" cy="807720"/>
          </a:xfrm>
        </p:spPr>
        <p:txBody>
          <a:bodyPr wrap="square" rtlCol="0" lIns="0" tIns="0" rIns="0" bIns="0" anchor="t"/>
          <a:lstStyle/>
          <a:p>
            <a:pPr algn="ctr"/>
            <a:r>
              <a:rPr sz="3500" b="1">
                <a:solidFill>
                  <a:srgbClr val="102A3A"/>
                </a:solidFill>
                <a:latin typeface="Aptos Display"/>
                <a:ea typeface="Aptos Display"/>
              </a:rPr>
              <a:t>512 ÷ 4 = 128</a:t>
            </a:r>
          </a:p>
          <a:p>
            <a:pPr algn="ctr"/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The autoencoder learns a compact latent representation.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A8EBBDA-1699-4A93-975F-0C424E0FB8E5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Why Latent Space?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AD87A9AB-9A42-4702-A299-970906577C9F}"/>
              </a:ext>
            </a:extLst>
          </p:cNvPr>
          <p:cNvSpPr/>
          <p:nvPr/>
        </p:nvSpPr>
        <p:spPr>
          <a:xfrm>
            <a:off x="619125" y="1714500"/>
            <a:ext cx="3333750" cy="2857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DABE6CA-B2FE-4778-B362-B895D692EFE0}"/>
              </a:ext>
            </a:extLst>
          </p:cNvPr>
          <p:cNvSpPr txBox="1"/>
          <p:nvPr/>
        </p:nvSpPr>
        <p:spPr>
          <a:xfrm>
            <a:off x="904875" y="2143125"/>
            <a:ext cx="2762250" cy="1619250"/>
          </a:xfrm>
        </p:spPr>
        <p:txBody>
          <a:bodyPr wrap="square" rtlCol="0" lIns="0" tIns="0" rIns="0" bIns="0" anchor="t"/>
          <a:lstStyle/>
          <a:p>
            <a:pPr algn="ctr"/>
            <a:r>
              <a:rPr sz="3400" b="1">
                <a:solidFill>
                  <a:srgbClr val="102A3A"/>
                </a:solidFill>
                <a:latin typeface="Aptos Display"/>
                <a:ea typeface="Aptos Display"/>
              </a:rPr>
              <a:t>512 × 512 × 4</a:t>
            </a:r>
          </a:p>
          <a:p>
            <a:pPr algn="ctr"/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pixel-space tensor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F5C6A62-E80F-490D-BB44-6FCF06DD5892}"/>
              </a:ext>
            </a:extLst>
          </p:cNvPr>
          <p:cNvSpPr/>
          <p:nvPr/>
        </p:nvSpPr>
        <p:spPr>
          <a:xfrm>
            <a:off x="4429125" y="1714500"/>
            <a:ext cx="3333750" cy="28575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05AE000-8CBA-427E-83A2-FEA1A5B2A711}"/>
              </a:ext>
            </a:extLst>
          </p:cNvPr>
          <p:cNvSpPr txBox="1"/>
          <p:nvPr/>
        </p:nvSpPr>
        <p:spPr>
          <a:xfrm>
            <a:off x="4714875" y="2095500"/>
            <a:ext cx="2762250" cy="1714500"/>
          </a:xfrm>
        </p:spPr>
        <p:txBody>
          <a:bodyPr wrap="square" rtlCol="0" lIns="0" tIns="0" rIns="0" bIns="0" anchor="t"/>
          <a:lstStyle/>
          <a:p>
            <a:pPr algn="ctr"/>
            <a:r>
              <a:rPr sz="6600" b="1">
                <a:solidFill>
                  <a:srgbClr val="F59E0B"/>
                </a:solidFill>
                <a:latin typeface="Aptos Display"/>
                <a:ea typeface="Aptos Display"/>
              </a:rPr>
              <a:t>16×</a:t>
            </a:r>
          </a:p>
          <a:p>
            <a:pPr algn="ctr"/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fewer spatial positions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66C5D41D-5EF0-4E78-A97E-B1AC844A08E8}"/>
              </a:ext>
            </a:extLst>
          </p:cNvPr>
          <p:cNvSpPr/>
          <p:nvPr/>
        </p:nvSpPr>
        <p:spPr>
          <a:xfrm>
            <a:off x="8239125" y="1714500"/>
            <a:ext cx="3333750" cy="285750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F421A03B-50F5-4796-896B-FEF29ECC9D47}"/>
              </a:ext>
            </a:extLst>
          </p:cNvPr>
          <p:cNvSpPr txBox="1"/>
          <p:nvPr/>
        </p:nvSpPr>
        <p:spPr>
          <a:xfrm>
            <a:off x="8524875" y="2143125"/>
            <a:ext cx="2762250" cy="1619250"/>
          </a:xfrm>
        </p:spPr>
        <p:txBody>
          <a:bodyPr wrap="square" rtlCol="0" lIns="0" tIns="0" rIns="0" bIns="0" anchor="t"/>
          <a:lstStyle/>
          <a:p>
            <a:pPr algn="ctr"/>
            <a:r>
              <a:rPr sz="3400" b="1">
                <a:solidFill>
                  <a:srgbClr val="0C6F73"/>
                </a:solidFill>
                <a:latin typeface="Aptos Display"/>
                <a:ea typeface="Aptos Display"/>
              </a:rPr>
              <a:t>128 × 128 × 4</a:t>
            </a:r>
          </a:p>
          <a:p>
            <a:pPr algn="ctr"/>
            <a:r>
              <a:rPr sz="1800">
                <a:solidFill>
                  <a:srgbClr val="102A3A"/>
                </a:solidFill>
                <a:latin typeface="Aptos"/>
                <a:ea typeface="Aptos"/>
              </a:rPr>
              <a:t>latent tensor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1681825-44C4-4150-B0EC-86F86726DBAC}"/>
              </a:ext>
            </a:extLst>
          </p:cNvPr>
          <p:cNvSpPr txBox="1"/>
          <p:nvPr/>
        </p:nvSpPr>
        <p:spPr>
          <a:xfrm>
            <a:off x="1428750" y="5238750"/>
            <a:ext cx="9334500" cy="666750"/>
          </a:xfrm>
        </p:spPr>
        <p:txBody>
          <a:bodyPr wrap="square" rtlCol="0" lIns="0" tIns="0" rIns="0" bIns="0" anchor="t"/>
          <a:lstStyle/>
          <a:p>
            <a:pPr algn="ctr"/>
            <a:r>
              <a:rPr sz="2600" b="1">
                <a:solidFill>
                  <a:srgbClr val="102A3A"/>
                </a:solidFill>
                <a:latin typeface="Aptos Display"/>
                <a:ea typeface="Aptos Display"/>
              </a:rPr>
              <a:t>Diffuse in a compressed representation; decode afterward.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2E41297-695B-4730-AC58-6988CD26B975}"/>
              </a:ext>
            </a:extLst>
          </p:cNvPr>
          <p:cNvSpPr txBox="1"/>
          <p:nvPr/>
        </p:nvSpPr>
        <p:spPr>
          <a:xfrm>
            <a:off x="609600" y="400050"/>
            <a:ext cx="885825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Conditioning: The Important Difference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E07C0E3-C27C-428F-BD88-24546881FEF9}"/>
              </a:ext>
            </a:extLst>
          </p:cNvPr>
          <p:cNvSpPr/>
          <p:nvPr/>
        </p:nvSpPr>
        <p:spPr>
          <a:xfrm>
            <a:off x="619125" y="1428750"/>
            <a:ext cx="4191000" cy="40005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ECB82BA2-7D90-47D4-89F2-8EB679DD3806}"/>
              </a:ext>
            </a:extLst>
          </p:cNvPr>
          <p:cNvSpPr txBox="1"/>
          <p:nvPr/>
        </p:nvSpPr>
        <p:spPr>
          <a:xfrm>
            <a:off x="1000125" y="1857375"/>
            <a:ext cx="3429000" cy="6667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F7FBFC"/>
                </a:solidFill>
                <a:latin typeface="Aptos Display"/>
                <a:ea typeface="Aptos Display"/>
              </a:rPr>
              <a:t>Generation alone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051365C-5CBB-4226-B6AA-2E160D46F2DD}"/>
              </a:ext>
            </a:extLst>
          </p:cNvPr>
          <p:cNvSpPr txBox="1"/>
          <p:nvPr/>
        </p:nvSpPr>
        <p:spPr>
          <a:xfrm>
            <a:off x="1000125" y="2952750"/>
            <a:ext cx="3429000" cy="1143000"/>
          </a:xfrm>
        </p:spPr>
        <p:txBody>
          <a:bodyPr wrap="square" rtlCol="0" lIns="0" tIns="0" rIns="0" bIns="0" anchor="t"/>
          <a:lstStyle/>
          <a:p>
            <a:pPr algn="ctr"/>
            <a:r>
              <a:rPr sz="2400" b="1">
                <a:solidFill>
                  <a:srgbClr val="F59E0B"/>
                </a:solidFill>
                <a:latin typeface="Aptos"/>
                <a:ea typeface="Aptos"/>
              </a:rPr>
              <a:t>Noise</a:t>
            </a:r>
            <a:br/>
            <a:r>
              <a:rPr sz="2400" b="1">
                <a:solidFill>
                  <a:srgbClr val="F59E0B"/>
                </a:solidFill>
                <a:latin typeface="Aptos"/>
                <a:ea typeface="Aptos"/>
              </a:rPr>
              <a:t>↓</a:t>
            </a:r>
            <a:br/>
            <a:r>
              <a:rPr sz="2400" b="1">
                <a:solidFill>
                  <a:srgbClr val="F59E0B"/>
                </a:solidFill>
                <a:latin typeface="Aptos"/>
                <a:ea typeface="Aptos"/>
              </a:rPr>
              <a:t>Many possible images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43CFC2D5-5DD5-42DC-9944-629936C53734}"/>
              </a:ext>
            </a:extLst>
          </p:cNvPr>
          <p:cNvSpPr txBox="1"/>
          <p:nvPr/>
        </p:nvSpPr>
        <p:spPr>
          <a:xfrm>
            <a:off x="1000125" y="4476750"/>
            <a:ext cx="3429000" cy="523875"/>
          </a:xfrm>
        </p:spPr>
        <p:txBody>
          <a:bodyPr wrap="square" rtlCol="0" lIns="0" tIns="0" rIns="0" bIns="0" anchor="t"/>
          <a:lstStyle/>
          <a:p>
            <a:pPr algn="ctr"/>
            <a:r>
              <a:rPr sz="1700">
                <a:solidFill>
                  <a:srgbClr val="B8D5DD"/>
                </a:solidFill>
                <a:latin typeface="Aptos"/>
                <a:ea typeface="Aptos"/>
              </a:rPr>
              <a:t>No observation constraint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2C0E15AB-24F9-4816-9424-9A86B625A15B}"/>
              </a:ext>
            </a:extLst>
          </p:cNvPr>
          <p:cNvSpPr/>
          <p:nvPr/>
        </p:nvSpPr>
        <p:spPr>
          <a:xfrm>
            <a:off x="5429250" y="1428750"/>
            <a:ext cx="6096000" cy="4000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38C99A95-6F2D-4C2C-A2F4-EBCFF0204EDC}"/>
              </a:ext>
            </a:extLst>
          </p:cNvPr>
          <p:cNvSpPr txBox="1"/>
          <p:nvPr/>
        </p:nvSpPr>
        <p:spPr>
          <a:xfrm>
            <a:off x="5810250" y="1857375"/>
            <a:ext cx="5334000" cy="666750"/>
          </a:xfrm>
        </p:spPr>
        <p:txBody>
          <a:bodyPr wrap="square" rtlCol="0" lIns="0" tIns="0" rIns="0" bIns="0" anchor="t"/>
          <a:lstStyle/>
          <a:p>
            <a:r>
              <a:rPr sz="2600" b="1">
                <a:solidFill>
                  <a:srgbClr val="0C6F73"/>
                </a:solidFill>
                <a:latin typeface="Aptos Display"/>
                <a:ea typeface="Aptos Display"/>
              </a:rPr>
              <a:t>LDSR-S2 conditioning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F348EFFA-030F-4217-93B3-1D1776BD8817}"/>
              </a:ext>
            </a:extLst>
          </p:cNvPr>
          <p:cNvSpPr txBox="1"/>
          <p:nvPr/>
        </p:nvSpPr>
        <p:spPr>
          <a:xfrm>
            <a:off x="5810250" y="2762250"/>
            <a:ext cx="5334000" cy="904875"/>
          </a:xfrm>
        </p:spPr>
        <p:txBody>
          <a:bodyPr wrap="square" rtlCol="0" lIns="0" tIns="0" rIns="0" bIns="0" anchor="t"/>
          <a:lstStyle/>
          <a:p>
            <a:pPr algn="ctr"/>
            <a:r>
              <a:rPr sz="3800" b="1">
                <a:solidFill>
                  <a:srgbClr val="102A3A"/>
                </a:solidFill>
                <a:latin typeface="Aptos Display"/>
                <a:ea typeface="Aptos Display"/>
              </a:rPr>
              <a:t>z = Aenc(x′LR)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9585816-7460-423F-8DAD-D137B0434FCC}"/>
              </a:ext>
            </a:extLst>
          </p:cNvPr>
          <p:cNvSpPr txBox="1"/>
          <p:nvPr/>
        </p:nvSpPr>
        <p:spPr>
          <a:xfrm>
            <a:off x="5810250" y="3905250"/>
            <a:ext cx="5334000" cy="904875"/>
          </a:xfrm>
        </p:spPr>
        <p:txBody>
          <a:bodyPr wrap="square" rtlCol="0" lIns="0" tIns="0" rIns="0" bIns="0" anchor="t"/>
          <a:lstStyle/>
          <a:p>
            <a:r>
              <a:rPr sz="1900">
                <a:solidFill>
                  <a:srgbClr val="54717D"/>
                </a:solidFill>
                <a:latin typeface="Aptos"/>
                <a:ea typeface="Aptos"/>
              </a:rPr>
              <a:t>The interpolated LR image is encoded and used to constrain every denoising step.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4CC40C6-8AD0-4067-B686-C7AD9906CD58}"/>
              </a:ext>
            </a:extLst>
          </p:cNvPr>
          <p:cNvSpPr/>
          <p:nvPr/>
        </p:nvSpPr>
        <p:spPr>
          <a:xfrm>
            <a:off x="2667000" y="5810250"/>
            <a:ext cx="6858000" cy="66675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900" b="1">
                <a:solidFill>
                  <a:srgbClr val="0C6F73"/>
                </a:solidFill>
                <a:latin typeface="Aptos"/>
                <a:ea typeface="Aptos"/>
              </a:rPr>
              <a:t>The output must remain consistent with the original Sentinel-2 observation.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6BBAFD6C-0E9B-4AE8-8474-70D534D1132F}"/>
              </a:ext>
            </a:extLst>
          </p:cNvPr>
          <p:cNvSpPr txBox="1"/>
          <p:nvPr/>
        </p:nvSpPr>
        <p:spPr>
          <a:xfrm>
            <a:off x="609600" y="400050"/>
            <a:ext cx="74295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Why Conditioning Matters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88574B4-9389-41A6-9906-BEC2ACD6B21F}"/>
              </a:ext>
            </a:extLst>
          </p:cNvPr>
          <p:cNvSpPr/>
          <p:nvPr/>
        </p:nvSpPr>
        <p:spPr>
          <a:xfrm>
            <a:off x="619125" y="1476375"/>
            <a:ext cx="4762500" cy="3667125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59E0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419FEC5-4241-4B88-AF1E-EBB60E6900D6}"/>
              </a:ext>
            </a:extLst>
          </p:cNvPr>
          <p:cNvSpPr txBox="1"/>
          <p:nvPr/>
        </p:nvSpPr>
        <p:spPr>
          <a:xfrm>
            <a:off x="1000125" y="1857375"/>
            <a:ext cx="4000500" cy="571500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8A5500"/>
                </a:solidFill>
                <a:latin typeface="Aptos Display"/>
                <a:ea typeface="Aptos Display"/>
              </a:rPr>
              <a:t>Without conditioning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371F1BE-B912-44DA-A19B-0CA591840977}"/>
              </a:ext>
            </a:extLst>
          </p:cNvPr>
          <p:cNvSpPr txBox="1"/>
          <p:nvPr/>
        </p:nvSpPr>
        <p:spPr>
          <a:xfrm>
            <a:off x="1000125" y="2857500"/>
            <a:ext cx="4000500" cy="1333500"/>
          </a:xfrm>
        </p:spPr>
        <p:txBody>
          <a:bodyPr wrap="square" rtlCol="0" lIns="0" tIns="0" rIns="0" bIns="0" anchor="t"/>
          <a:lstStyle/>
          <a:p>
            <a:pPr algn="ctr"/>
            <a:r>
              <a:rPr sz="2500" b="1">
                <a:solidFill>
                  <a:srgbClr val="102A3A"/>
                </a:solidFill>
                <a:latin typeface="Aptos"/>
                <a:ea typeface="Aptos"/>
              </a:rPr>
              <a:t>Noise</a:t>
            </a:r>
            <a:br/>
            <a:r>
              <a:rPr sz="2500" b="1">
                <a:solidFill>
                  <a:srgbClr val="102A3A"/>
                </a:solidFill>
                <a:latin typeface="Aptos"/>
                <a:ea typeface="Aptos"/>
              </a:rPr>
              <a:t>↓</a:t>
            </a:r>
            <a:br/>
            <a:r>
              <a:rPr sz="2500" b="1">
                <a:solidFill>
                  <a:srgbClr val="102A3A"/>
                </a:solidFill>
                <a:latin typeface="Aptos"/>
                <a:ea typeface="Aptos"/>
              </a:rPr>
              <a:t>Plausible HR image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D367307-6EFF-4E63-96F3-BB073E039169}"/>
              </a:ext>
            </a:extLst>
          </p:cNvPr>
          <p:cNvSpPr txBox="1"/>
          <p:nvPr/>
        </p:nvSpPr>
        <p:spPr>
          <a:xfrm>
            <a:off x="1000125" y="4476750"/>
            <a:ext cx="4000500" cy="428625"/>
          </a:xfrm>
        </p:spPr>
        <p:txBody>
          <a:bodyPr wrap="square" rtlCol="0" lIns="0" tIns="0" rIns="0" bIns="0" anchor="t"/>
          <a:lstStyle/>
          <a:p>
            <a:pPr algn="ctr"/>
            <a:r>
              <a:rPr sz="1700">
                <a:solidFill>
                  <a:srgbClr val="8A5500"/>
                </a:solidFill>
                <a:latin typeface="Aptos"/>
                <a:ea typeface="Aptos"/>
              </a:rPr>
              <a:t>Many unconstrained possibilities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3C219D8-55EC-4D25-9A48-D68CD4244A6B}"/>
              </a:ext>
            </a:extLst>
          </p:cNvPr>
          <p:cNvSpPr/>
          <p:nvPr/>
        </p:nvSpPr>
        <p:spPr>
          <a:xfrm>
            <a:off x="6000750" y="1476375"/>
            <a:ext cx="5572125" cy="3667125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A0B2FBD-90DC-4DDE-B8C0-BC37312C33D3}"/>
              </a:ext>
            </a:extLst>
          </p:cNvPr>
          <p:cNvSpPr txBox="1"/>
          <p:nvPr/>
        </p:nvSpPr>
        <p:spPr>
          <a:xfrm>
            <a:off x="6381750" y="1857375"/>
            <a:ext cx="4810125" cy="571500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0C6F73"/>
                </a:solidFill>
                <a:latin typeface="Aptos Display"/>
                <a:ea typeface="Aptos Display"/>
              </a:rPr>
              <a:t>With LR conditioning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0DDAEDC7-BD8F-4BF0-9A53-2FBD2833A008}"/>
              </a:ext>
            </a:extLst>
          </p:cNvPr>
          <p:cNvSpPr txBox="1"/>
          <p:nvPr/>
        </p:nvSpPr>
        <p:spPr>
          <a:xfrm>
            <a:off x="6381750" y="2714625"/>
            <a:ext cx="4810125" cy="1571625"/>
          </a:xfrm>
        </p:spPr>
        <p:txBody>
          <a:bodyPr wrap="square" rtlCol="0" lIns="0" tIns="0" rIns="0" bIns="0" anchor="t"/>
          <a:lstStyle/>
          <a:p>
            <a:pPr algn="ctr"/>
            <a:r>
              <a:rPr sz="2300" b="1">
                <a:solidFill>
                  <a:srgbClr val="102A3A"/>
                </a:solidFill>
                <a:latin typeface="Aptos"/>
                <a:ea typeface="Aptos"/>
              </a:rPr>
              <a:t>LR Sentinel-2 → Encoder → z</a:t>
            </a:r>
            <a:br/>
            <a:r>
              <a:rPr sz="2300" b="1">
                <a:solidFill>
                  <a:srgbClr val="102A3A"/>
                </a:solidFill>
                <a:latin typeface="Aptos"/>
                <a:ea typeface="Aptos"/>
              </a:rPr>
              <a:t>↓</a:t>
            </a:r>
            <a:br/>
            <a:r>
              <a:rPr sz="2300" b="1">
                <a:solidFill>
                  <a:srgbClr val="102A3A"/>
                </a:solidFill>
                <a:latin typeface="Aptos"/>
                <a:ea typeface="Aptos"/>
              </a:rPr>
              <a:t>Diffusion → SR image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B4573B7B-A699-42C8-9D41-B4CBA33E35FD}"/>
              </a:ext>
            </a:extLst>
          </p:cNvPr>
          <p:cNvSpPr txBox="1"/>
          <p:nvPr/>
        </p:nvSpPr>
        <p:spPr>
          <a:xfrm>
            <a:off x="6381750" y="4476750"/>
            <a:ext cx="4810125" cy="428625"/>
          </a:xfrm>
        </p:spPr>
        <p:txBody>
          <a:bodyPr wrap="square" rtlCol="0" lIns="0" tIns="0" rIns="0" bIns="0" anchor="t"/>
          <a:lstStyle/>
          <a:p>
            <a:pPr algn="ctr"/>
            <a:r>
              <a:rPr sz="1700">
                <a:solidFill>
                  <a:srgbClr val="0C6F73"/>
                </a:solidFill>
                <a:latin typeface="Aptos"/>
                <a:ea typeface="Aptos"/>
              </a:rPr>
              <a:t>Spectral + spatial consistency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789D2596-5ADF-4EC0-9168-E8A50012930D}"/>
              </a:ext>
            </a:extLst>
          </p:cNvPr>
          <p:cNvSpPr txBox="1"/>
          <p:nvPr/>
        </p:nvSpPr>
        <p:spPr>
          <a:xfrm>
            <a:off x="1000125" y="5667375"/>
            <a:ext cx="10191750" cy="523875"/>
          </a:xfrm>
        </p:spPr>
        <p:txBody>
          <a:bodyPr wrap="square" rtlCol="0" lIns="0" tIns="0" rIns="0" bIns="0" anchor="t"/>
          <a:lstStyle/>
          <a:p>
            <a:pPr algn="ctr"/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In Earth observation, unconstrained hallucination can be scientifically misleading.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20D14DF-9ACF-4E62-8A6F-2669B509053E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Training Strategy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9901CDD-2C4C-459B-A183-B3CA60911AF9}"/>
              </a:ext>
            </a:extLst>
          </p:cNvPr>
          <p:cNvSpPr/>
          <p:nvPr/>
        </p:nvSpPr>
        <p:spPr>
          <a:xfrm>
            <a:off x="666750" y="2000250"/>
            <a:ext cx="2857500" cy="228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D82B747-A60A-4782-86C9-E9275438D65A}"/>
              </a:ext>
            </a:extLst>
          </p:cNvPr>
          <p:cNvSpPr txBox="1"/>
          <p:nvPr/>
        </p:nvSpPr>
        <p:spPr>
          <a:xfrm>
            <a:off x="1000125" y="2333625"/>
            <a:ext cx="2190750" cy="204216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1DA7A7"/>
                </a:solidFill>
                <a:latin typeface="Aptos"/>
                <a:ea typeface="Aptos"/>
              </a:rPr>
              <a:t>PHASE 1</a:t>
            </a:r>
          </a:p>
          <a:p>
            <a:br/>
            <a:r>
              <a:rPr sz="2500" b="1">
                <a:solidFill>
                  <a:srgbClr val="102A3A"/>
                </a:solidFill>
                <a:latin typeface="Aptos Display"/>
                <a:ea typeface="Aptos Display"/>
              </a:rPr>
              <a:t>Train the autoencoder</a:t>
            </a:r>
          </a:p>
          <a:p>
            <a:br/>
            <a:r>
              <a:rPr sz="1600">
                <a:solidFill>
                  <a:srgbClr val="54717D"/>
                </a:solidFill>
                <a:latin typeface="Aptos"/>
                <a:ea typeface="Aptos"/>
              </a:rPr>
              <a:t>Learn a meaningful latent representation.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40311B5-0946-42B4-9954-3D506A089F95}"/>
              </a:ext>
            </a:extLst>
          </p:cNvPr>
          <p:cNvSpPr/>
          <p:nvPr/>
        </p:nvSpPr>
        <p:spPr>
          <a:xfrm>
            <a:off x="3667125" y="2857500"/>
            <a:ext cx="666750" cy="571500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1CB1EA6-5267-437F-A415-C9F7C0AE3CB7}"/>
              </a:ext>
            </a:extLst>
          </p:cNvPr>
          <p:cNvSpPr/>
          <p:nvPr/>
        </p:nvSpPr>
        <p:spPr>
          <a:xfrm>
            <a:off x="4476750" y="2000250"/>
            <a:ext cx="3238500" cy="22860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4DC3E5D-58F3-4D66-A505-30721AE5E673}"/>
              </a:ext>
            </a:extLst>
          </p:cNvPr>
          <p:cNvSpPr txBox="1"/>
          <p:nvPr/>
        </p:nvSpPr>
        <p:spPr>
          <a:xfrm>
            <a:off x="4810125" y="2333625"/>
            <a:ext cx="2571750" cy="204216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F59E0B"/>
                </a:solidFill>
                <a:latin typeface="Aptos"/>
                <a:ea typeface="Aptos"/>
              </a:rPr>
              <a:t>PHASE 2</a:t>
            </a:r>
          </a:p>
          <a:p>
            <a:br/>
            <a:r>
              <a:rPr sz="2500" b="1">
                <a:solidFill>
                  <a:srgbClr val="F7FBFC"/>
                </a:solidFill>
                <a:latin typeface="Aptos Display"/>
                <a:ea typeface="Aptos Display"/>
              </a:rPr>
              <a:t>Freeze AE; train denoiser</a:t>
            </a:r>
          </a:p>
          <a:p>
            <a:br/>
            <a:r>
              <a:rPr sz="1600">
                <a:solidFill>
                  <a:srgbClr val="B8D5DD"/>
                </a:solidFill>
                <a:latin typeface="Aptos"/>
                <a:ea typeface="Aptos"/>
              </a:rPr>
              <a:t>Use latent representations and LR conditioning.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8210658-068A-4610-9680-EFAFE49538B5}"/>
              </a:ext>
            </a:extLst>
          </p:cNvPr>
          <p:cNvSpPr/>
          <p:nvPr/>
        </p:nvSpPr>
        <p:spPr>
          <a:xfrm>
            <a:off x="7858125" y="2857500"/>
            <a:ext cx="666750" cy="571500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9E5B993-4C1B-44A1-997C-492AA7F32414}"/>
              </a:ext>
            </a:extLst>
          </p:cNvPr>
          <p:cNvSpPr/>
          <p:nvPr/>
        </p:nvSpPr>
        <p:spPr>
          <a:xfrm>
            <a:off x="8667750" y="2000250"/>
            <a:ext cx="2857500" cy="228600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01DCF56C-7B34-4151-8631-7F1E5D860BA4}"/>
              </a:ext>
            </a:extLst>
          </p:cNvPr>
          <p:cNvSpPr txBox="1"/>
          <p:nvPr/>
        </p:nvSpPr>
        <p:spPr>
          <a:xfrm>
            <a:off x="9001125" y="2333625"/>
            <a:ext cx="2190750" cy="2042160"/>
          </a:xfrm>
        </p:spPr>
        <p:txBody>
          <a:bodyPr wrap="square" rtlCol="0" lIns="0" tIns="0" rIns="0" bIns="0" anchor="t"/>
          <a:lstStyle/>
          <a:p>
            <a:r>
              <a:rPr sz="1600" b="1">
                <a:solidFill>
                  <a:srgbClr val="0C6F73"/>
                </a:solidFill>
                <a:latin typeface="Aptos"/>
                <a:ea typeface="Aptos"/>
              </a:rPr>
              <a:t>PHASE 3</a:t>
            </a:r>
          </a:p>
          <a:p>
            <a:br/>
            <a:r>
              <a:rPr sz="2500" b="1">
                <a:solidFill>
                  <a:srgbClr val="102A3A"/>
                </a:solidFill>
                <a:latin typeface="Aptos Display"/>
                <a:ea typeface="Aptos Display"/>
              </a:rPr>
              <a:t>Diffusion inference</a:t>
            </a:r>
          </a:p>
          <a:p>
            <a:br/>
            <a:r>
              <a:rPr sz="1600">
                <a:solidFill>
                  <a:srgbClr val="54717D"/>
                </a:solidFill>
                <a:latin typeface="Aptos"/>
                <a:ea typeface="Aptos"/>
              </a:rPr>
              <a:t>Reconstruct the high-resolution estimate.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49A9A89-1623-46F4-AB2B-2DEF8AA2A440}"/>
              </a:ext>
            </a:extLst>
          </p:cNvPr>
          <p:cNvSpPr txBox="1"/>
          <p:nvPr/>
        </p:nvSpPr>
        <p:spPr>
          <a:xfrm>
            <a:off x="2143125" y="5143500"/>
            <a:ext cx="7905750" cy="619125"/>
          </a:xfrm>
        </p:spPr>
        <p:txBody>
          <a:bodyPr wrap="square" rtlCol="0" lIns="0" tIns="0" rIns="0" bIns="0" anchor="t"/>
          <a:lstStyle/>
          <a:p>
            <a:pPr algn="ctr"/>
            <a:r>
              <a:rPr sz="2500" b="1">
                <a:solidFill>
                  <a:srgbClr val="102A3A"/>
                </a:solidFill>
                <a:latin typeface="Aptos Display"/>
                <a:ea typeface="Aptos Display"/>
              </a:rPr>
              <a:t>Train representation → learn denoising → perform SR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8ACB2F8-CED1-4C82-8369-0ED4954289F7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Autoencoder Loss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6396412D-5054-4809-8ECA-E6DDEE28EEF5}"/>
              </a:ext>
            </a:extLst>
          </p:cNvPr>
          <p:cNvSpPr/>
          <p:nvPr/>
        </p:nvSpPr>
        <p:spPr>
          <a:xfrm>
            <a:off x="952500" y="1190625"/>
            <a:ext cx="10287000" cy="1000125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30FF1CEC-6F31-4E6D-A8F9-6F0B46C987A0}"/>
              </a:ext>
            </a:extLst>
          </p:cNvPr>
          <p:cNvSpPr txBox="1"/>
          <p:nvPr/>
        </p:nvSpPr>
        <p:spPr>
          <a:xfrm>
            <a:off x="1285875" y="1476375"/>
            <a:ext cx="9620250" cy="523875"/>
          </a:xfrm>
        </p:spPr>
        <p:txBody>
          <a:bodyPr wrap="square" rtlCol="0" lIns="0" tIns="0" rIns="0" bIns="0" anchor="t"/>
          <a:lstStyle/>
          <a:p>
            <a:pPr algn="ctr"/>
            <a:r>
              <a:rPr sz="2500" b="1">
                <a:solidFill>
                  <a:srgbClr val="F7FBFC"/>
                </a:solidFill>
                <a:latin typeface="Aptos Display"/>
                <a:ea typeface="Aptos Display"/>
              </a:rPr>
              <a:t>Ltotal = λWD LWD + λMAE LMAE + λGAN LGAN + λLPIPS LLPIPS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1EE9D60-81D7-45A8-AE3D-3B95EEB48516}"/>
              </a:ext>
            </a:extLst>
          </p:cNvPr>
          <p:cNvSpPr/>
          <p:nvPr/>
        </p:nvSpPr>
        <p:spPr>
          <a:xfrm>
            <a:off x="619125" y="2714625"/>
            <a:ext cx="2524125" cy="2143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0FA8FA21-BAF1-4D97-94C9-99AAB4AD3EED}"/>
              </a:ext>
            </a:extLst>
          </p:cNvPr>
          <p:cNvSpPr txBox="1"/>
          <p:nvPr/>
        </p:nvSpPr>
        <p:spPr>
          <a:xfrm>
            <a:off x="904875" y="3048000"/>
            <a:ext cx="1952625" cy="1381125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1DA7A7"/>
                </a:solidFill>
                <a:latin typeface="Aptos Display"/>
                <a:ea typeface="Aptos Display"/>
              </a:rPr>
              <a:t>LWD</a:t>
            </a:r>
          </a:p>
          <a:p>
            <a:br/>
            <a:r>
              <a:rPr sz="1700">
                <a:solidFill>
                  <a:srgbClr val="102A3A"/>
                </a:solidFill>
                <a:latin typeface="Aptos"/>
                <a:ea typeface="Aptos"/>
              </a:rPr>
              <a:t>Wasserstein distance regularization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0656DFA-DDBB-4B1E-A492-4447EDE474CB}"/>
              </a:ext>
            </a:extLst>
          </p:cNvPr>
          <p:cNvSpPr/>
          <p:nvPr/>
        </p:nvSpPr>
        <p:spPr>
          <a:xfrm>
            <a:off x="3429000" y="2714625"/>
            <a:ext cx="2524125" cy="2143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693B3858-FB10-4E7D-8D8B-886EDC77A627}"/>
              </a:ext>
            </a:extLst>
          </p:cNvPr>
          <p:cNvSpPr txBox="1"/>
          <p:nvPr/>
        </p:nvSpPr>
        <p:spPr>
          <a:xfrm>
            <a:off x="3714750" y="3048000"/>
            <a:ext cx="1952625" cy="1381125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1DA7A7"/>
                </a:solidFill>
                <a:latin typeface="Aptos Display"/>
                <a:ea typeface="Aptos Display"/>
              </a:rPr>
              <a:t>LMAE</a:t>
            </a:r>
          </a:p>
          <a:p>
            <a:br/>
            <a:r>
              <a:rPr sz="1700">
                <a:solidFill>
                  <a:srgbClr val="102A3A"/>
                </a:solidFill>
                <a:latin typeface="Aptos"/>
                <a:ea typeface="Aptos"/>
              </a:rPr>
              <a:t>Mean Absolute Error reconstruction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87E7FF9-741A-4438-AC3B-92930F1B228B}"/>
              </a:ext>
            </a:extLst>
          </p:cNvPr>
          <p:cNvSpPr/>
          <p:nvPr/>
        </p:nvSpPr>
        <p:spPr>
          <a:xfrm>
            <a:off x="6238875" y="2714625"/>
            <a:ext cx="2524125" cy="2143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4E856F21-491C-45DB-8496-C44855A0075F}"/>
              </a:ext>
            </a:extLst>
          </p:cNvPr>
          <p:cNvSpPr txBox="1"/>
          <p:nvPr/>
        </p:nvSpPr>
        <p:spPr>
          <a:xfrm>
            <a:off x="6524625" y="3048000"/>
            <a:ext cx="1952625" cy="1381125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59E0B"/>
                </a:solidFill>
                <a:latin typeface="Aptos Display"/>
                <a:ea typeface="Aptos Display"/>
              </a:rPr>
              <a:t>LGAN</a:t>
            </a:r>
          </a:p>
          <a:p>
            <a:br/>
            <a:r>
              <a:rPr sz="1700">
                <a:solidFill>
                  <a:srgbClr val="102A3A"/>
                </a:solidFill>
                <a:latin typeface="Aptos"/>
                <a:ea typeface="Aptos"/>
              </a:rPr>
              <a:t>Adversarial loss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93B296D2-2F86-482F-B38E-6960E9E94796}"/>
              </a:ext>
            </a:extLst>
          </p:cNvPr>
          <p:cNvSpPr/>
          <p:nvPr/>
        </p:nvSpPr>
        <p:spPr>
          <a:xfrm>
            <a:off x="9048750" y="2714625"/>
            <a:ext cx="2524125" cy="2143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CE0A9D1-9BF5-4E9F-9C08-B43FF270745A}"/>
              </a:ext>
            </a:extLst>
          </p:cNvPr>
          <p:cNvSpPr txBox="1"/>
          <p:nvPr/>
        </p:nvSpPr>
        <p:spPr>
          <a:xfrm>
            <a:off x="9334500" y="3048000"/>
            <a:ext cx="1952625" cy="1381125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59E0B"/>
                </a:solidFill>
                <a:latin typeface="Aptos Display"/>
                <a:ea typeface="Aptos Display"/>
              </a:rPr>
              <a:t>LLPIPS</a:t>
            </a:r>
          </a:p>
          <a:p>
            <a:br/>
            <a:r>
              <a:rPr sz="1700">
                <a:solidFill>
                  <a:srgbClr val="102A3A"/>
                </a:solidFill>
                <a:latin typeface="Aptos"/>
                <a:ea typeface="Aptos"/>
              </a:rPr>
              <a:t>Perceptual similarity loss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503CED8B-6FFC-472A-A10D-B17C73282205}"/>
              </a:ext>
            </a:extLst>
          </p:cNvPr>
          <p:cNvSpPr txBox="1"/>
          <p:nvPr/>
        </p:nvSpPr>
        <p:spPr>
          <a:xfrm>
            <a:off x="1809750" y="5429250"/>
            <a:ext cx="8572500" cy="523875"/>
          </a:xfrm>
        </p:spPr>
        <p:txBody>
          <a:bodyPr wrap="square" rtlCol="0" lIns="0" tIns="0" rIns="0" bIns="0" anchor="t"/>
          <a:lstStyle/>
          <a:p>
            <a:pPr algn="ctr"/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The λ weights balance each objective’s contribution.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C1B5486-E7EC-485A-A9E2-98F8BEFE86FD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Denoiser Training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C5BBB35-C82B-494D-B2CC-D483E572C310}"/>
              </a:ext>
            </a:extLst>
          </p:cNvPr>
          <p:cNvSpPr/>
          <p:nvPr/>
        </p:nvSpPr>
        <p:spPr>
          <a:xfrm>
            <a:off x="619125" y="1524000"/>
            <a:ext cx="2381250" cy="142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102A3A"/>
                </a:solidFill>
                <a:latin typeface="Aptos"/>
                <a:ea typeface="Aptos"/>
              </a:rPr>
              <a:t>HR image</a:t>
            </a:r>
            <a:br/>
            <a:r>
              <a:rPr sz="2000" b="1">
                <a:solidFill>
                  <a:srgbClr val="102A3A"/>
                </a:solidFill>
                <a:latin typeface="Aptos"/>
                <a:ea typeface="Aptos"/>
              </a:rPr>
              <a:t>→ encode</a:t>
            </a:r>
            <a:br/>
            <a:r>
              <a:rPr sz="2000" b="1">
                <a:solidFill>
                  <a:srgbClr val="102A3A"/>
                </a:solidFill>
                <a:latin typeface="Aptos"/>
                <a:ea typeface="Aptos"/>
              </a:rPr>
              <a:t>→ add noise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65D4293F-C1A8-45C4-A803-BC8D86C3C683}"/>
              </a:ext>
            </a:extLst>
          </p:cNvPr>
          <p:cNvSpPr/>
          <p:nvPr/>
        </p:nvSpPr>
        <p:spPr>
          <a:xfrm>
            <a:off x="619125" y="3571875"/>
            <a:ext cx="2381250" cy="142875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C6F73"/>
                </a:solidFill>
                <a:latin typeface="Aptos"/>
                <a:ea typeface="Aptos"/>
              </a:rPr>
              <a:t>LR image</a:t>
            </a:r>
            <a:br/>
            <a:r>
              <a:rPr sz="2000" b="1">
                <a:solidFill>
                  <a:srgbClr val="0C6F73"/>
                </a:solidFill>
                <a:latin typeface="Aptos"/>
                <a:ea typeface="Aptos"/>
              </a:rPr>
              <a:t>→ upscale</a:t>
            </a:r>
            <a:br/>
            <a:r>
              <a:rPr sz="2000" b="1">
                <a:solidFill>
                  <a:srgbClr val="0C6F73"/>
                </a:solidFill>
                <a:latin typeface="Aptos"/>
                <a:ea typeface="Aptos"/>
              </a:rPr>
              <a:t>→ encode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D32B3553-CA13-4E0E-9FA0-43710D84DA64}"/>
              </a:ext>
            </a:extLst>
          </p:cNvPr>
          <p:cNvSpPr/>
          <p:nvPr/>
        </p:nvSpPr>
        <p:spPr>
          <a:xfrm>
            <a:off x="3238500" y="2095500"/>
            <a:ext cx="1714500" cy="523875"/>
          </a:xfrm>
          <a:prstGeom prst="righ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8A3752D-D024-4C6F-8BB7-79D5AB960AA4}"/>
              </a:ext>
            </a:extLst>
          </p:cNvPr>
          <p:cNvSpPr/>
          <p:nvPr/>
        </p:nvSpPr>
        <p:spPr>
          <a:xfrm>
            <a:off x="3238500" y="4048125"/>
            <a:ext cx="1714500" cy="523875"/>
          </a:xfrm>
          <a:prstGeom prst="righ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F1A942B-9DE6-416D-AD3A-DF3833A2D4B0}"/>
              </a:ext>
            </a:extLst>
          </p:cNvPr>
          <p:cNvSpPr/>
          <p:nvPr/>
        </p:nvSpPr>
        <p:spPr>
          <a:xfrm>
            <a:off x="5334000" y="2333625"/>
            <a:ext cx="3429000" cy="20955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5C2C2B9-E732-46B1-8529-9BA5F680FDA2}"/>
              </a:ext>
            </a:extLst>
          </p:cNvPr>
          <p:cNvSpPr txBox="1"/>
          <p:nvPr/>
        </p:nvSpPr>
        <p:spPr>
          <a:xfrm>
            <a:off x="5715000" y="2714625"/>
            <a:ext cx="2667000" cy="1238250"/>
          </a:xfrm>
        </p:spPr>
        <p:txBody>
          <a:bodyPr wrap="square" rtlCol="0" lIns="0" tIns="0" rIns="0" bIns="0" anchor="t"/>
          <a:lstStyle/>
          <a:p>
            <a:pPr algn="ctr"/>
            <a:r>
              <a:rPr sz="2800" b="1">
                <a:solidFill>
                  <a:srgbClr val="F59E0B"/>
                </a:solidFill>
                <a:latin typeface="Aptos Display"/>
                <a:ea typeface="Aptos Display"/>
              </a:rPr>
              <a:t>DENOISING</a:t>
            </a:r>
            <a:br/>
            <a:r>
              <a:rPr sz="2800" b="1">
                <a:solidFill>
                  <a:srgbClr val="F59E0B"/>
                </a:solidFill>
                <a:latin typeface="Aptos Display"/>
                <a:ea typeface="Aptos Display"/>
              </a:rPr>
              <a:t>NETWORK</a:t>
            </a:r>
          </a:p>
          <a:p>
            <a:pPr algn="ctr"/>
            <a:r>
              <a:rPr sz="1600">
                <a:solidFill>
                  <a:srgbClr val="B8D5DD"/>
                </a:solidFill>
                <a:latin typeface="Aptos"/>
                <a:ea typeface="Aptos"/>
              </a:rPr>
              <a:t>conditioned reverse process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7046FE6-B315-4A26-8DBE-5FA9BBAD81FD}"/>
              </a:ext>
            </a:extLst>
          </p:cNvPr>
          <p:cNvSpPr/>
          <p:nvPr/>
        </p:nvSpPr>
        <p:spPr>
          <a:xfrm>
            <a:off x="8953500" y="3095625"/>
            <a:ext cx="857250" cy="523875"/>
          </a:xfrm>
          <a:prstGeom prst="righ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EAB6266F-96CB-46AA-9504-70FBF833BE6F}"/>
              </a:ext>
            </a:extLst>
          </p:cNvPr>
          <p:cNvSpPr/>
          <p:nvPr/>
        </p:nvSpPr>
        <p:spPr>
          <a:xfrm>
            <a:off x="10001250" y="2619375"/>
            <a:ext cx="1571625" cy="1428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400" b="1">
                <a:solidFill>
                  <a:srgbClr val="102A3A"/>
                </a:solidFill>
                <a:latin typeface="Aptos"/>
                <a:ea typeface="Aptos"/>
              </a:rPr>
              <a:t>L2</a:t>
            </a:r>
            <a:br/>
            <a:r>
              <a:rPr sz="2400" b="1">
                <a:solidFill>
                  <a:srgbClr val="102A3A"/>
                </a:solidFill>
                <a:latin typeface="Aptos"/>
                <a:ea typeface="Aptos"/>
              </a:rPr>
              <a:t>objective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4DC45D5-337A-4A29-9B7F-95E558920D36}"/>
              </a:ext>
            </a:extLst>
          </p:cNvPr>
          <p:cNvSpPr txBox="1"/>
          <p:nvPr/>
        </p:nvSpPr>
        <p:spPr>
          <a:xfrm>
            <a:off x="2571750" y="5619750"/>
            <a:ext cx="7048500" cy="476250"/>
          </a:xfrm>
        </p:spPr>
        <p:txBody>
          <a:bodyPr wrap="square" rtlCol="0" lIns="0" tIns="0" rIns="0" bIns="0" anchor="t"/>
          <a:lstStyle/>
          <a:p>
            <a:pPr algn="ctr"/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The model learns to predict the reverse diffusion process.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ADA8DF1-3D70-4CEF-9566-A9EB6014625C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Inference Process</a:t>
            </a:r>
          </a:p>
        </p:txBody>
      </p:sp>
      <p:cxnSp>
        <p:nvCxnSpPr>
          <p:cNvPr id="4" name="Straight Connector 4">
            <a:extLst>
              <a:ext uri="{FF2B5EF4-FFF2-40B4-BE49-F238E27FC236}">
                <a16:creationId xmlns:a16="http://schemas.microsoft.com/office/drawing/2014/main" id="{AF118AF8-1A8D-421D-9214-8EDBE298616A}"/>
              </a:ext>
            </a:extLst>
          </p:cNvPr>
          <p:cNvCxnSpPr/>
          <p:nvPr/>
        </p:nvCxnSpPr>
        <p:spPr>
          <a:xfrm>
            <a:off x="1095375" y="3286125"/>
            <a:ext cx="9906000" cy="9525"/>
          </a:xfrm>
          <a:prstGeom prst="straightConnector1">
            <a:avLst/>
          </a:prstGeom>
          <a:ln w="50800" cap="flat">
            <a:solidFill>
              <a:srgbClr val="1DA7A7"/>
            </a:solidFill>
            <a:tailEnd type="triangle" w="med" len="med"/>
          </a:ln>
        </p:spPr>
      </p:cxnSp>
      <p:sp>
        <p:nvSpPr>
          <p:cNvPr id="5" name="Shape 5">
            <a:extLst>
              <a:ext uri="{FF2B5EF4-FFF2-40B4-BE49-F238E27FC236}">
                <a16:creationId xmlns:a16="http://schemas.microsoft.com/office/drawing/2014/main" id="{4F7135EE-4830-4E87-AD17-B03A598BF006}"/>
              </a:ext>
            </a:extLst>
          </p:cNvPr>
          <p:cNvSpPr/>
          <p:nvPr/>
        </p:nvSpPr>
        <p:spPr>
          <a:xfrm>
            <a:off x="809625" y="2952750"/>
            <a:ext cx="666750" cy="666750"/>
          </a:xfrm>
          <a:prstGeom prst="ellipse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7FBFC"/>
                </a:solidFill>
                <a:latin typeface="Aptos"/>
                <a:ea typeface="Aptos"/>
              </a:rPr>
              <a:t>1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96A90F5-A0AC-44D2-B4FF-BE479BA82F96}"/>
              </a:ext>
            </a:extLst>
          </p:cNvPr>
          <p:cNvSpPr/>
          <p:nvPr/>
        </p:nvSpPr>
        <p:spPr>
          <a:xfrm>
            <a:off x="2714625" y="2952750"/>
            <a:ext cx="666750" cy="666750"/>
          </a:xfrm>
          <a:prstGeom prst="ellipse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  <a:ea typeface="Aptos"/>
              </a:rPr>
              <a:t>2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8EB5BB5-5EF4-4351-93EC-8C1162BD8F50}"/>
              </a:ext>
            </a:extLst>
          </p:cNvPr>
          <p:cNvSpPr/>
          <p:nvPr/>
        </p:nvSpPr>
        <p:spPr>
          <a:xfrm>
            <a:off x="4619625" y="2952750"/>
            <a:ext cx="666750" cy="666750"/>
          </a:xfrm>
          <a:prstGeom prst="ellipse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  <a:ea typeface="Aptos"/>
              </a:rPr>
              <a:t>3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4124818-4ED4-4F24-BF11-0CD2BA1F6CA9}"/>
              </a:ext>
            </a:extLst>
          </p:cNvPr>
          <p:cNvSpPr/>
          <p:nvPr/>
        </p:nvSpPr>
        <p:spPr>
          <a:xfrm>
            <a:off x="6524625" y="2952750"/>
            <a:ext cx="666750" cy="66675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071B2B"/>
                </a:solidFill>
                <a:latin typeface="Aptos"/>
                <a:ea typeface="Aptos"/>
              </a:rPr>
              <a:t>4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8BDD567C-BCC0-40B0-B64C-061627A0E5FA}"/>
              </a:ext>
            </a:extLst>
          </p:cNvPr>
          <p:cNvSpPr/>
          <p:nvPr/>
        </p:nvSpPr>
        <p:spPr>
          <a:xfrm>
            <a:off x="8429625" y="2952750"/>
            <a:ext cx="666750" cy="666750"/>
          </a:xfrm>
          <a:prstGeom prst="ellipse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7FBFC"/>
                </a:solidFill>
                <a:latin typeface="Aptos"/>
                <a:ea typeface="Aptos"/>
              </a:rPr>
              <a:t>5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F45616B5-FE4B-4E78-8781-A8714C3B744D}"/>
              </a:ext>
            </a:extLst>
          </p:cNvPr>
          <p:cNvSpPr/>
          <p:nvPr/>
        </p:nvSpPr>
        <p:spPr>
          <a:xfrm>
            <a:off x="10334625" y="2952750"/>
            <a:ext cx="666750" cy="666750"/>
          </a:xfrm>
          <a:prstGeom prst="ellipse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FFFFF"/>
                </a:solidFill>
                <a:latin typeface="Aptos"/>
                <a:ea typeface="Aptos"/>
              </a:rPr>
              <a:t>6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5A79863-0BC9-4499-981A-709EFC9B503E}"/>
              </a:ext>
            </a:extLst>
          </p:cNvPr>
          <p:cNvSpPr txBox="1"/>
          <p:nvPr/>
        </p:nvSpPr>
        <p:spPr>
          <a:xfrm>
            <a:off x="523875" y="1952625"/>
            <a:ext cx="1238250" cy="714375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LR</a:t>
            </a:r>
            <a:br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Sentinel-2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992761E6-987A-4C12-B261-F5F816297CB2}"/>
              </a:ext>
            </a:extLst>
          </p:cNvPr>
          <p:cNvSpPr txBox="1"/>
          <p:nvPr/>
        </p:nvSpPr>
        <p:spPr>
          <a:xfrm>
            <a:off x="2381250" y="3857625"/>
            <a:ext cx="1333500" cy="714375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Interpolate</a:t>
            </a:r>
            <a:br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to target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5ED1AE1-1660-4226-A280-295190FD1C54}"/>
              </a:ext>
            </a:extLst>
          </p:cNvPr>
          <p:cNvSpPr txBox="1"/>
          <p:nvPr/>
        </p:nvSpPr>
        <p:spPr>
          <a:xfrm>
            <a:off x="4286250" y="1952625"/>
            <a:ext cx="1333500" cy="714375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Encode</a:t>
            </a:r>
            <a:br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z=Aenc(x′LR)</a:t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7CA03B8F-A733-4EDD-92AC-4266F8AA742A}"/>
              </a:ext>
            </a:extLst>
          </p:cNvPr>
          <p:cNvSpPr txBox="1"/>
          <p:nvPr/>
        </p:nvSpPr>
        <p:spPr>
          <a:xfrm>
            <a:off x="6191250" y="3857625"/>
            <a:ext cx="1333500" cy="714375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Sample</a:t>
            </a:r>
            <a:br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xT ~ 𝒩(0,I)</a:t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27DDB1E-731A-47BD-A172-5CB4AA3AF216}"/>
              </a:ext>
            </a:extLst>
          </p:cNvPr>
          <p:cNvSpPr txBox="1"/>
          <p:nvPr/>
        </p:nvSpPr>
        <p:spPr>
          <a:xfrm>
            <a:off x="8096250" y="1952625"/>
            <a:ext cx="1333500" cy="714375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Iterative</a:t>
            </a:r>
            <a:br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denoising</a:t>
            </a:r>
          </a:p>
        </p:txBody>
      </p:sp>
      <p:sp>
        <p:nvSpPr>
          <p:cNvPr id="16" name="TextBox 16">
            <a:extLst>
              <a:ext uri="{FF2B5EF4-FFF2-40B4-BE49-F238E27FC236}">
                <a16:creationId xmlns:a16="http://schemas.microsoft.com/office/drawing/2014/main" id="{772C7858-C622-42F2-8A0C-A93A00FEB291}"/>
              </a:ext>
            </a:extLst>
          </p:cNvPr>
          <p:cNvSpPr txBox="1"/>
          <p:nvPr/>
        </p:nvSpPr>
        <p:spPr>
          <a:xfrm>
            <a:off x="10001250" y="3857625"/>
            <a:ext cx="1333500" cy="714375"/>
          </a:xfrm>
        </p:spPr>
        <p:txBody>
          <a:bodyPr wrap="square" rtlCol="0" lIns="0" tIns="0" rIns="0" bIns="0" anchor="t"/>
          <a:lstStyle/>
          <a:p>
            <a:pPr algn="ctr"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Decode</a:t>
            </a:r>
            <a:br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x̂HR=Adec(x₀)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271BB552-853C-4FD1-AE73-0BB8703D444F}"/>
              </a:ext>
            </a:extLst>
          </p:cNvPr>
          <p:cNvSpPr/>
          <p:nvPr/>
        </p:nvSpPr>
        <p:spPr>
          <a:xfrm>
            <a:off x="2476500" y="5334000"/>
            <a:ext cx="7239000" cy="66675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0C6F73"/>
                </a:solidFill>
                <a:latin typeface="Aptos"/>
                <a:ea typeface="Aptos"/>
              </a:rPr>
              <a:t>Conditioned noise becomes a super-resolved RGB-NIR estimate.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75AB133-26AB-441D-915E-7DA4F7D3C681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DDIM Sampling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43D3482-72B2-494C-AC3F-39570D87333B}"/>
              </a:ext>
            </a:extLst>
          </p:cNvPr>
          <p:cNvSpPr txBox="1"/>
          <p:nvPr/>
        </p:nvSpPr>
        <p:spPr>
          <a:xfrm>
            <a:off x="628650" y="1000125"/>
            <a:ext cx="9048750" cy="428625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Denoising Diffusion Implicit Models: configurable iterative sampling at inference.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EBBE3BD2-472C-4477-8D85-057FBFD78CD2}"/>
              </a:ext>
            </a:extLst>
          </p:cNvPr>
          <p:cNvSpPr/>
          <p:nvPr/>
        </p:nvSpPr>
        <p:spPr>
          <a:xfrm>
            <a:off x="619125" y="1905000"/>
            <a:ext cx="3333750" cy="2571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17D84FFA-A7A1-4C11-AD03-821DA684D447}"/>
              </a:ext>
            </a:extLst>
          </p:cNvPr>
          <p:cNvSpPr txBox="1"/>
          <p:nvPr/>
        </p:nvSpPr>
        <p:spPr>
          <a:xfrm>
            <a:off x="904875" y="2333625"/>
            <a:ext cx="2762250" cy="1381125"/>
          </a:xfrm>
        </p:spPr>
        <p:txBody>
          <a:bodyPr wrap="square" rtlCol="0" lIns="0" tIns="0" rIns="0" bIns="0" anchor="t"/>
          <a:lstStyle/>
          <a:p>
            <a:pPr algn="ctr"/>
            <a:r>
              <a:rPr sz="6400" b="1">
                <a:solidFill>
                  <a:srgbClr val="1DA7A7"/>
                </a:solidFill>
                <a:latin typeface="Aptos Display"/>
                <a:ea typeface="Aptos Display"/>
              </a:rPr>
              <a:t>20</a:t>
            </a:r>
          </a:p>
          <a:p>
            <a:pPr algn="ctr"/>
            <a:r>
              <a:rPr sz="2000" b="1">
                <a:solidFill>
                  <a:srgbClr val="102A3A"/>
                </a:solidFill>
                <a:latin typeface="Aptos"/>
                <a:ea typeface="Aptos"/>
              </a:rPr>
              <a:t>steps · faster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4CF28E4-181F-4428-AEA5-92AFC9B27139}"/>
              </a:ext>
            </a:extLst>
          </p:cNvPr>
          <p:cNvSpPr/>
          <p:nvPr/>
        </p:nvSpPr>
        <p:spPr>
          <a:xfrm>
            <a:off x="4429125" y="1905000"/>
            <a:ext cx="3333750" cy="257175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CC51581A-E7AB-436D-9145-78CAF5F6EE46}"/>
              </a:ext>
            </a:extLst>
          </p:cNvPr>
          <p:cNvSpPr txBox="1"/>
          <p:nvPr/>
        </p:nvSpPr>
        <p:spPr>
          <a:xfrm>
            <a:off x="4714875" y="2333625"/>
            <a:ext cx="2762250" cy="1381125"/>
          </a:xfrm>
        </p:spPr>
        <p:txBody>
          <a:bodyPr wrap="square" rtlCol="0" lIns="0" tIns="0" rIns="0" bIns="0" anchor="t"/>
          <a:lstStyle/>
          <a:p>
            <a:pPr algn="ctr"/>
            <a:r>
              <a:rPr sz="6400" b="1">
                <a:solidFill>
                  <a:srgbClr val="F59E0B"/>
                </a:solidFill>
                <a:latin typeface="Aptos Display"/>
                <a:ea typeface="Aptos Display"/>
              </a:rPr>
              <a:t>50</a:t>
            </a:r>
          </a:p>
          <a:p>
            <a:pPr algn="ctr"/>
            <a:r>
              <a:rPr sz="2000" b="1">
                <a:solidFill>
                  <a:srgbClr val="F7FBFC"/>
                </a:solidFill>
                <a:latin typeface="Aptos"/>
                <a:ea typeface="Aptos"/>
              </a:rPr>
              <a:t>steps · more compute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C1E4AE2F-477C-40DC-81FD-B4EB93C576E0}"/>
              </a:ext>
            </a:extLst>
          </p:cNvPr>
          <p:cNvSpPr/>
          <p:nvPr/>
        </p:nvSpPr>
        <p:spPr>
          <a:xfrm>
            <a:off x="8239125" y="1905000"/>
            <a:ext cx="3333750" cy="2571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1C1229FF-658D-4FC8-B811-A20DA17AB23E}"/>
              </a:ext>
            </a:extLst>
          </p:cNvPr>
          <p:cNvSpPr txBox="1"/>
          <p:nvPr/>
        </p:nvSpPr>
        <p:spPr>
          <a:xfrm>
            <a:off x="8524875" y="2333625"/>
            <a:ext cx="2762250" cy="1381125"/>
          </a:xfrm>
        </p:spPr>
        <p:txBody>
          <a:bodyPr wrap="square" rtlCol="0" lIns="0" tIns="0" rIns="0" bIns="0" anchor="t"/>
          <a:lstStyle/>
          <a:p>
            <a:pPr algn="ctr"/>
            <a:r>
              <a:rPr sz="6400" b="1">
                <a:solidFill>
                  <a:srgbClr val="1DA7A7"/>
                </a:solidFill>
                <a:latin typeface="Aptos Display"/>
                <a:ea typeface="Aptos Display"/>
              </a:rPr>
              <a:t>100</a:t>
            </a:r>
          </a:p>
          <a:p>
            <a:pPr algn="ctr"/>
            <a:r>
              <a:rPr sz="2000" b="1">
                <a:solidFill>
                  <a:srgbClr val="102A3A"/>
                </a:solidFill>
                <a:latin typeface="Aptos"/>
                <a:ea typeface="Aptos"/>
              </a:rPr>
              <a:t>steps · OpenSR demo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58F37241-02D3-4851-BD23-A0E3A3FD1093}"/>
              </a:ext>
            </a:extLst>
          </p:cNvPr>
          <p:cNvSpPr txBox="1"/>
          <p:nvPr/>
        </p:nvSpPr>
        <p:spPr>
          <a:xfrm>
            <a:off x="1762125" y="5143500"/>
            <a:ext cx="8667750" cy="731520"/>
          </a:xfrm>
        </p:spPr>
        <p:txBody>
          <a:bodyPr wrap="square" rtlCol="0" lIns="0" tIns="0" rIns="0" bIns="0" anchor="t"/>
          <a:lstStyle/>
          <a:p>
            <a:pPr algn="ctr"/>
            <a:r>
              <a:rPr sz="2400" b="1">
                <a:solidFill>
                  <a:srgbClr val="102A3A"/>
                </a:solidFill>
                <a:latin typeface="Aptos Display"/>
                <a:ea typeface="Aptos Display"/>
              </a:rPr>
              <a:t>Sampling steps control denoising iterations—not output dimensions.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C3E8561-680A-4A3C-849C-429A7C707A84}"/>
              </a:ext>
            </a:extLst>
          </p:cNvPr>
          <p:cNvSpPr txBox="1"/>
          <p:nvPr/>
        </p:nvSpPr>
        <p:spPr>
          <a:xfrm>
            <a:off x="609600" y="400050"/>
            <a:ext cx="85725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Sampling Steps vs. Image Size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058CE7C7-1984-4DD5-8B0B-47FD90501A6C}"/>
              </a:ext>
            </a:extLst>
          </p:cNvPr>
          <p:cNvSpPr/>
          <p:nvPr/>
        </p:nvSpPr>
        <p:spPr>
          <a:xfrm>
            <a:off x="666750" y="1476375"/>
            <a:ext cx="5143500" cy="390525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180F15D-B7D1-4921-B670-BF5C8012C266}"/>
              </a:ext>
            </a:extLst>
          </p:cNvPr>
          <p:cNvSpPr txBox="1"/>
          <p:nvPr/>
        </p:nvSpPr>
        <p:spPr>
          <a:xfrm>
            <a:off x="1047750" y="1857375"/>
            <a:ext cx="4381500" cy="571500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F59E0B"/>
                </a:solidFill>
                <a:latin typeface="Aptos Display"/>
                <a:ea typeface="Aptos Display"/>
              </a:rPr>
              <a:t>SAMPLING_STEPS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A2AF2FC-2FBB-457B-82B1-6EB4A4C070BD}"/>
              </a:ext>
            </a:extLst>
          </p:cNvPr>
          <p:cNvSpPr txBox="1"/>
          <p:nvPr/>
        </p:nvSpPr>
        <p:spPr>
          <a:xfrm>
            <a:off x="1047750" y="2714625"/>
            <a:ext cx="4381500" cy="1619250"/>
          </a:xfrm>
        </p:spPr>
        <p:txBody>
          <a:bodyPr wrap="square" rtlCol="0" lIns="0" tIns="0" rIns="0" bIns="0" anchor="t"/>
          <a:lstStyle/>
          <a:p>
            <a:r>
              <a:rPr sz="2300" b="1">
                <a:solidFill>
                  <a:srgbClr val="F7FBFC"/>
                </a:solidFill>
                <a:latin typeface="Aptos"/>
                <a:ea typeface="Aptos"/>
              </a:rPr>
              <a:t>20 → faster</a:t>
            </a:r>
            <a:br/>
            <a:r>
              <a:rPr sz="2300" b="1">
                <a:solidFill>
                  <a:srgbClr val="F7FBFC"/>
                </a:solidFill>
                <a:latin typeface="Aptos"/>
                <a:ea typeface="Aptos"/>
              </a:rPr>
              <a:t>50 → more computation</a:t>
            </a:r>
            <a:br/>
            <a:r>
              <a:rPr sz="2300" b="1">
                <a:solidFill>
                  <a:srgbClr val="F7FBFC"/>
                </a:solidFill>
                <a:latin typeface="Aptos"/>
                <a:ea typeface="Aptos"/>
              </a:rPr>
              <a:t>100 → more computation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56BDA34B-A6FF-49B6-8F18-5DC4DBAC6A24}"/>
              </a:ext>
            </a:extLst>
          </p:cNvPr>
          <p:cNvSpPr txBox="1"/>
          <p:nvPr/>
        </p:nvSpPr>
        <p:spPr>
          <a:xfrm>
            <a:off x="1047750" y="4619625"/>
            <a:ext cx="4381500" cy="428625"/>
          </a:xfrm>
        </p:spPr>
        <p:txBody>
          <a:bodyPr wrap="square" rtlCol="0" lIns="0" tIns="0" rIns="0" bIns="0" anchor="t"/>
          <a:lstStyle/>
          <a:p>
            <a:r>
              <a:rPr sz="1700">
                <a:solidFill>
                  <a:srgbClr val="B8D5DD"/>
                </a:solidFill>
                <a:latin typeface="Aptos"/>
                <a:ea typeface="Aptos"/>
              </a:rPr>
              <a:t>Controls denoising iterations.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326AB255-8651-4D31-BF4C-E31219BFA22B}"/>
              </a:ext>
            </a:extLst>
          </p:cNvPr>
          <p:cNvSpPr/>
          <p:nvPr/>
        </p:nvSpPr>
        <p:spPr>
          <a:xfrm>
            <a:off x="6381750" y="1476375"/>
            <a:ext cx="5143500" cy="3905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AC11E70-5EF5-48D6-9269-4D931E95AEF6}"/>
              </a:ext>
            </a:extLst>
          </p:cNvPr>
          <p:cNvSpPr txBox="1"/>
          <p:nvPr/>
        </p:nvSpPr>
        <p:spPr>
          <a:xfrm>
            <a:off x="6762750" y="1857375"/>
            <a:ext cx="4381500" cy="571500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1DA7A7"/>
                </a:solidFill>
                <a:latin typeface="Aptos Display"/>
                <a:ea typeface="Aptos Display"/>
              </a:rPr>
              <a:t>MAX_PATCHES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6A80F71-9008-4F19-8479-0D0CAB505A63}"/>
              </a:ext>
            </a:extLst>
          </p:cNvPr>
          <p:cNvSpPr txBox="1"/>
          <p:nvPr/>
        </p:nvSpPr>
        <p:spPr>
          <a:xfrm>
            <a:off x="6762750" y="2714625"/>
            <a:ext cx="4381500" cy="1428750"/>
          </a:xfrm>
        </p:spPr>
        <p:txBody>
          <a:bodyPr wrap="square" rtlCol="0" lIns="0" tIns="0" rIns="0" bIns="0" anchor="t"/>
          <a:lstStyle/>
          <a:p>
            <a:r>
              <a:rPr sz="2300" b="1">
                <a:solidFill>
                  <a:srgbClr val="102A3A"/>
                </a:solidFill>
                <a:latin typeface="Aptos"/>
                <a:ea typeface="Aptos"/>
              </a:rPr>
              <a:t>Controls how many image patches the pipeline can process.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875B7615-00F3-4AE1-8039-9E0C3AF92B62}"/>
              </a:ext>
            </a:extLst>
          </p:cNvPr>
          <p:cNvSpPr txBox="1"/>
          <p:nvPr/>
        </p:nvSpPr>
        <p:spPr>
          <a:xfrm>
            <a:off x="6762750" y="4476750"/>
            <a:ext cx="4381500" cy="619125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Does not improve model quality.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B0929EA4-CCE8-4861-87E1-62C383E3293B}"/>
              </a:ext>
            </a:extLst>
          </p:cNvPr>
          <p:cNvSpPr/>
          <p:nvPr/>
        </p:nvSpPr>
        <p:spPr>
          <a:xfrm>
            <a:off x="2619375" y="5715000"/>
            <a:ext cx="6953250" cy="619125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0C6F73"/>
                </a:solidFill>
                <a:latin typeface="Aptos"/>
                <a:ea typeface="Aptos"/>
              </a:rPr>
              <a:t>The output remains 512 × 512 → 2048 × 2048 at every step setting.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5C57C0EA-83B4-4AAF-86C7-337574BA467B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Patch-Based Processing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71FE86B4-4F77-4738-8DC5-66BDFD2967FA}"/>
              </a:ext>
            </a:extLst>
          </p:cNvPr>
          <p:cNvSpPr txBox="1"/>
          <p:nvPr/>
        </p:nvSpPr>
        <p:spPr>
          <a:xfrm>
            <a:off x="628650" y="990600"/>
            <a:ext cx="9144000" cy="428625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Large scenes are split into manageable, overlapping tensors.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0A14EF3-B905-4DFF-9C86-F76953CBD529}"/>
              </a:ext>
            </a:extLst>
          </p:cNvPr>
          <p:cNvSpPr/>
          <p:nvPr/>
        </p:nvSpPr>
        <p:spPr>
          <a:xfrm>
            <a:off x="619125" y="1714500"/>
            <a:ext cx="3286125" cy="31432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07C309D-D1A7-4114-AC1B-955CB92A6541}"/>
              </a:ext>
            </a:extLst>
          </p:cNvPr>
          <p:cNvSpPr txBox="1"/>
          <p:nvPr/>
        </p:nvSpPr>
        <p:spPr>
          <a:xfrm>
            <a:off x="952500" y="2143125"/>
            <a:ext cx="2619375" cy="1809750"/>
          </a:xfrm>
        </p:spPr>
        <p:txBody>
          <a:bodyPr wrap="square" rtlCol="0" lIns="0" tIns="0" rIns="0" bIns="0" anchor="t"/>
          <a:lstStyle/>
          <a:p>
            <a:pPr algn="ctr"/>
            <a:r>
              <a:rPr sz="3400" b="1">
                <a:solidFill>
                  <a:srgbClr val="102A3A"/>
                </a:solidFill>
                <a:latin typeface="Aptos Display"/>
                <a:ea typeface="Aptos Display"/>
              </a:rPr>
              <a:t>512 × 512</a:t>
            </a:r>
          </a:p>
          <a:p>
            <a:pPr algn="ctr"/>
            <a:r>
              <a:rPr sz="1700">
                <a:solidFill>
                  <a:srgbClr val="54717D"/>
                </a:solidFill>
                <a:latin typeface="Aptos"/>
                <a:ea typeface="Aptos"/>
              </a:rPr>
              <a:t>input scene</a:t>
            </a:r>
          </a:p>
          <a:p>
            <a:pPr algn="ctr"/>
            <a:r>
              <a:rPr sz="2400" b="1">
                <a:solidFill>
                  <a:srgbClr val="1DA7A7"/>
                </a:solidFill>
                <a:latin typeface="Aptos"/>
                <a:ea typeface="Aptos"/>
              </a:rPr>
              <a:t>↓</a:t>
            </a:r>
            <a:br/>
            <a:r>
              <a:rPr sz="2400" b="1">
                <a:solidFill>
                  <a:srgbClr val="1DA7A7"/>
                </a:solidFill>
                <a:latin typeface="Aptos"/>
                <a:ea typeface="Aptos"/>
              </a:rPr>
              <a:t>25 patches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243ECEB1-70D5-4CD1-ACE9-93691178091D}"/>
              </a:ext>
            </a:extLst>
          </p:cNvPr>
          <p:cNvSpPr/>
          <p:nvPr/>
        </p:nvSpPr>
        <p:spPr>
          <a:xfrm>
            <a:off x="4095750" y="2952750"/>
            <a:ext cx="952500" cy="571500"/>
          </a:xfrm>
          <a:prstGeom prst="righ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4FE9D4FE-7E3D-48FD-A8C2-7FC4B7750A03}"/>
              </a:ext>
            </a:extLst>
          </p:cNvPr>
          <p:cNvSpPr/>
          <p:nvPr/>
        </p:nvSpPr>
        <p:spPr>
          <a:xfrm>
            <a:off x="5238750" y="1714500"/>
            <a:ext cx="2857500" cy="314325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1AA188F-713F-4A2E-AFFF-FA6DCBBA9E50}"/>
              </a:ext>
            </a:extLst>
          </p:cNvPr>
          <p:cNvSpPr txBox="1"/>
          <p:nvPr/>
        </p:nvSpPr>
        <p:spPr>
          <a:xfrm>
            <a:off x="5572125" y="2143125"/>
            <a:ext cx="2190750" cy="1905000"/>
          </a:xfrm>
        </p:spPr>
        <p:txBody>
          <a:bodyPr wrap="square" rtlCol="0" lIns="0" tIns="0" rIns="0" bIns="0" anchor="t"/>
          <a:lstStyle/>
          <a:p>
            <a:pPr algn="ctr"/>
            <a:r>
              <a:rPr sz="3400" b="1">
                <a:solidFill>
                  <a:srgbClr val="F59E0B"/>
                </a:solidFill>
                <a:latin typeface="Aptos Display"/>
                <a:ea typeface="Aptos Display"/>
              </a:rPr>
              <a:t>128 × 128</a:t>
            </a:r>
          </a:p>
          <a:p>
            <a:pPr algn="ctr"/>
            <a:r>
              <a:rPr sz="1700">
                <a:solidFill>
                  <a:srgbClr val="B8D5DD"/>
                </a:solidFill>
                <a:latin typeface="Aptos"/>
                <a:ea typeface="Aptos"/>
              </a:rPr>
              <a:t>LR patch</a:t>
            </a:r>
          </a:p>
          <a:p>
            <a:pPr algn="ctr"/>
            <a:r>
              <a:rPr sz="2300" b="1">
                <a:solidFill>
                  <a:srgbClr val="F7FBFC"/>
                </a:solidFill>
                <a:latin typeface="Aptos"/>
                <a:ea typeface="Aptos"/>
              </a:rPr>
              <a:t>↓  4× SR  ↓</a:t>
            </a:r>
          </a:p>
          <a:p>
            <a:pPr algn="ctr"/>
            <a:r>
              <a:rPr sz="3400" b="1">
                <a:solidFill>
                  <a:srgbClr val="1DA7A7"/>
                </a:solidFill>
                <a:latin typeface="Aptos Display"/>
                <a:ea typeface="Aptos Display"/>
              </a:rPr>
              <a:t>512 × 512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ADDF5C6-5C20-4181-82F5-EA9A40D78142}"/>
              </a:ext>
            </a:extLst>
          </p:cNvPr>
          <p:cNvSpPr/>
          <p:nvPr/>
        </p:nvSpPr>
        <p:spPr>
          <a:xfrm>
            <a:off x="8286750" y="2952750"/>
            <a:ext cx="952500" cy="571500"/>
          </a:xfrm>
          <a:prstGeom prst="righ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3621483-B0F2-4CFF-BDA2-CACDBED5E7F7}"/>
              </a:ext>
            </a:extLst>
          </p:cNvPr>
          <p:cNvSpPr/>
          <p:nvPr/>
        </p:nvSpPr>
        <p:spPr>
          <a:xfrm>
            <a:off x="9429750" y="1714500"/>
            <a:ext cx="2143125" cy="314325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2B859F4-8710-4399-B72C-A823D6D555F6}"/>
              </a:ext>
            </a:extLst>
          </p:cNvPr>
          <p:cNvSpPr txBox="1"/>
          <p:nvPr/>
        </p:nvSpPr>
        <p:spPr>
          <a:xfrm>
            <a:off x="9667875" y="2333625"/>
            <a:ext cx="1666875" cy="1619250"/>
          </a:xfrm>
        </p:spPr>
        <p:txBody>
          <a:bodyPr wrap="square" rtlCol="0" lIns="0" tIns="0" rIns="0" bIns="0" anchor="t"/>
          <a:lstStyle/>
          <a:p>
            <a:pPr algn="ctr"/>
            <a:r>
              <a:rPr sz="3000" b="1">
                <a:solidFill>
                  <a:srgbClr val="0C6F73"/>
                </a:solidFill>
                <a:latin typeface="Aptos Display"/>
                <a:ea typeface="Aptos Display"/>
              </a:rPr>
              <a:t>2048 × 2048</a:t>
            </a:r>
          </a:p>
          <a:p>
            <a:pPr algn="ctr"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reconstructed output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22D3EA8B-63EF-4B3C-8984-B5FC842DF25D}"/>
              </a:ext>
            </a:extLst>
          </p:cNvPr>
          <p:cNvSpPr txBox="1"/>
          <p:nvPr/>
        </p:nvSpPr>
        <p:spPr>
          <a:xfrm>
            <a:off x="1619250" y="5429250"/>
            <a:ext cx="8953500" cy="571500"/>
          </a:xfrm>
        </p:spPr>
        <p:txBody>
          <a:bodyPr wrap="square" rtlCol="0" lIns="0" tIns="0" rIns="0" bIns="0" anchor="t"/>
          <a:lstStyle/>
          <a:p>
            <a:pPr algn="ctr"/>
            <a:r>
              <a:rPr sz="2200" b="1">
                <a:solidFill>
                  <a:srgbClr val="102A3A"/>
                </a:solidFill>
                <a:latin typeface="Aptos"/>
                <a:ea typeface="Aptos"/>
              </a:rPr>
              <a:t>Patch processing manages memory while preserving the 4× spatial scale.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0C40931-B57E-4984-91C3-B438BCDCBDD7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Overlap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8BD2BA2-D9C5-4E2E-9EB3-36E257478D68}"/>
              </a:ext>
            </a:extLst>
          </p:cNvPr>
          <p:cNvSpPr txBox="1"/>
          <p:nvPr/>
        </p:nvSpPr>
        <p:spPr>
          <a:xfrm>
            <a:off x="628650" y="990600"/>
            <a:ext cx="9334500" cy="428625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Shared context between neighboring patches reduces boundary artifacts.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507A2B2E-1AB8-45D8-8251-DABDCFD3F2A9}"/>
              </a:ext>
            </a:extLst>
          </p:cNvPr>
          <p:cNvSpPr/>
          <p:nvPr/>
        </p:nvSpPr>
        <p:spPr>
          <a:xfrm>
            <a:off x="666750" y="1571625"/>
            <a:ext cx="4953000" cy="36195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59E0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24C35921-E7F2-43F1-AAE3-E93A85B31D43}"/>
              </a:ext>
            </a:extLst>
          </p:cNvPr>
          <p:cNvSpPr txBox="1"/>
          <p:nvPr/>
        </p:nvSpPr>
        <p:spPr>
          <a:xfrm>
            <a:off x="1047750" y="1952625"/>
            <a:ext cx="4191000" cy="523875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8A5500"/>
                </a:solidFill>
                <a:latin typeface="Aptos Display"/>
                <a:ea typeface="Aptos Display"/>
              </a:rPr>
              <a:t>No overlap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C0307884-0414-4B27-A8CB-0740F8A340DE}"/>
              </a:ext>
            </a:extLst>
          </p:cNvPr>
          <p:cNvSpPr/>
          <p:nvPr/>
        </p:nvSpPr>
        <p:spPr>
          <a:xfrm>
            <a:off x="1428750" y="2857500"/>
            <a:ext cx="1619250" cy="1428750"/>
          </a:xfrm>
          <a:prstGeom prst="rect">
            <a:avLst/>
          </a:prstGeom>
          <a:solidFill>
            <a:srgbClr val="F9C96B"/>
          </a:solidFill>
          <a:ln w="12700">
            <a:solidFill>
              <a:srgbClr val="8A550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D54DA14B-7170-4DEB-B3A6-D761F6792981}"/>
              </a:ext>
            </a:extLst>
          </p:cNvPr>
          <p:cNvSpPr/>
          <p:nvPr/>
        </p:nvSpPr>
        <p:spPr>
          <a:xfrm>
            <a:off x="3048000" y="2857500"/>
            <a:ext cx="1619250" cy="1428750"/>
          </a:xfrm>
          <a:prstGeom prst="rect">
            <a:avLst/>
          </a:prstGeom>
          <a:solidFill>
            <a:srgbClr val="FDE6B8"/>
          </a:solidFill>
          <a:ln w="12700">
            <a:solidFill>
              <a:srgbClr val="8A5500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B84B834-6242-4882-8580-C7D3F4916675}"/>
              </a:ext>
            </a:extLst>
          </p:cNvPr>
          <p:cNvSpPr txBox="1"/>
          <p:nvPr/>
        </p:nvSpPr>
        <p:spPr>
          <a:xfrm>
            <a:off x="1905000" y="4429125"/>
            <a:ext cx="2286000" cy="381000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8A5500"/>
                </a:solidFill>
                <a:latin typeface="Aptos"/>
                <a:ea typeface="Aptos"/>
              </a:rPr>
              <a:t>visible seam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8489D33-96E3-4FA9-9279-69CE9600D57F}"/>
              </a:ext>
            </a:extLst>
          </p:cNvPr>
          <p:cNvSpPr/>
          <p:nvPr/>
        </p:nvSpPr>
        <p:spPr>
          <a:xfrm>
            <a:off x="6191250" y="1571625"/>
            <a:ext cx="5334000" cy="361950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6F00E49-B159-4332-9F0D-C40F5ABE277C}"/>
              </a:ext>
            </a:extLst>
          </p:cNvPr>
          <p:cNvSpPr txBox="1"/>
          <p:nvPr/>
        </p:nvSpPr>
        <p:spPr>
          <a:xfrm>
            <a:off x="6572250" y="1952625"/>
            <a:ext cx="4572000" cy="523875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0C6F73"/>
                </a:solidFill>
                <a:latin typeface="Aptos Display"/>
                <a:ea typeface="Aptos Display"/>
              </a:rPr>
              <a:t>With 8-pixel overlap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210C28DD-593F-4591-8FF7-A64E719786B9}"/>
              </a:ext>
            </a:extLst>
          </p:cNvPr>
          <p:cNvSpPr/>
          <p:nvPr/>
        </p:nvSpPr>
        <p:spPr>
          <a:xfrm>
            <a:off x="7239000" y="2857500"/>
            <a:ext cx="1809750" cy="1428750"/>
          </a:xfrm>
          <a:prstGeom prst="rect">
            <a:avLst/>
          </a:prstGeom>
          <a:solidFill>
            <a:srgbClr val="65C9C5">
              <a:alpha val="66667"/>
            </a:srgbClr>
          </a:solidFill>
          <a:ln w="12700">
            <a:solidFill>
              <a:srgbClr val="0C6F7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7C6D4744-0D72-4943-A219-A39A0DF08A1C}"/>
              </a:ext>
            </a:extLst>
          </p:cNvPr>
          <p:cNvSpPr/>
          <p:nvPr/>
        </p:nvSpPr>
        <p:spPr>
          <a:xfrm>
            <a:off x="8572500" y="2857500"/>
            <a:ext cx="1809750" cy="1428750"/>
          </a:xfrm>
          <a:prstGeom prst="rect">
            <a:avLst/>
          </a:prstGeom>
          <a:solidFill>
            <a:srgbClr val="1DA7A7">
              <a:alpha val="53333"/>
            </a:srgbClr>
          </a:solidFill>
          <a:ln w="12700">
            <a:solidFill>
              <a:srgbClr val="0C6F73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DD2D7636-4D15-4DF8-9B5A-FD8485548EF6}"/>
              </a:ext>
            </a:extLst>
          </p:cNvPr>
          <p:cNvSpPr txBox="1"/>
          <p:nvPr/>
        </p:nvSpPr>
        <p:spPr>
          <a:xfrm>
            <a:off x="7334250" y="4429125"/>
            <a:ext cx="2857500" cy="381000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0C6F73"/>
                </a:solidFill>
                <a:latin typeface="Aptos"/>
                <a:ea typeface="Aptos"/>
              </a:rPr>
              <a:t>shared context blends edges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06C11B29-3C4F-44D4-ABFE-1C243AAFCEB2}"/>
              </a:ext>
            </a:extLst>
          </p:cNvPr>
          <p:cNvSpPr/>
          <p:nvPr/>
        </p:nvSpPr>
        <p:spPr>
          <a:xfrm>
            <a:off x="3143250" y="5619750"/>
            <a:ext cx="5905500" cy="619125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7FBFC"/>
                </a:solidFill>
                <a:latin typeface="Aptos"/>
                <a:ea typeface="Aptos"/>
              </a:rPr>
              <a:t>PATCH_SIZE = 128   ·   OVERLAP = 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929DF6B-411D-405E-8EB1-61532C9CA950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Spectral Information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4996766C-E607-42C4-A9E5-9AACFC55C214}"/>
              </a:ext>
            </a:extLst>
          </p:cNvPr>
          <p:cNvSpPr/>
          <p:nvPr/>
        </p:nvSpPr>
        <p:spPr>
          <a:xfrm>
            <a:off x="666750" y="1524000"/>
            <a:ext cx="4762500" cy="3714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FCAE6040-FE4F-429D-B36E-B960107FEFA3}"/>
              </a:ext>
            </a:extLst>
          </p:cNvPr>
          <p:cNvSpPr txBox="1"/>
          <p:nvPr/>
        </p:nvSpPr>
        <p:spPr>
          <a:xfrm>
            <a:off x="1047750" y="1952625"/>
            <a:ext cx="4000500" cy="571500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102A3A"/>
                </a:solidFill>
                <a:latin typeface="Aptos Display"/>
                <a:ea typeface="Aptos Display"/>
              </a:rPr>
              <a:t>Normal RGB image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5AC761A3-6197-4697-8AE4-DED3AC690C05}"/>
              </a:ext>
            </a:extLst>
          </p:cNvPr>
          <p:cNvSpPr txBox="1"/>
          <p:nvPr/>
        </p:nvSpPr>
        <p:spPr>
          <a:xfrm>
            <a:off x="1047750" y="2952750"/>
            <a:ext cx="4000500" cy="1238250"/>
          </a:xfrm>
        </p:spPr>
        <p:txBody>
          <a:bodyPr wrap="square" rtlCol="0" lIns="0" tIns="0" rIns="0" bIns="0" anchor="t"/>
          <a:lstStyle/>
          <a:p>
            <a:pPr algn="ctr"/>
            <a:r>
              <a:rPr sz="4500" b="1">
                <a:solidFill>
                  <a:srgbClr val="1DA7A7"/>
                </a:solidFill>
                <a:latin typeface="Aptos Display"/>
                <a:ea typeface="Aptos Display"/>
              </a:rPr>
              <a:t>3 channels</a:t>
            </a:r>
          </a:p>
          <a:p>
            <a:pPr algn="ctr"/>
            <a:r>
              <a:rPr sz="2000">
                <a:solidFill>
                  <a:srgbClr val="54717D"/>
                </a:solidFill>
                <a:latin typeface="Aptos"/>
                <a:ea typeface="Aptos"/>
              </a:rPr>
              <a:t>[R, G, B]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41DD11C-D65A-4A38-9AC5-B657B1D67F0E}"/>
              </a:ext>
            </a:extLst>
          </p:cNvPr>
          <p:cNvSpPr/>
          <p:nvPr/>
        </p:nvSpPr>
        <p:spPr>
          <a:xfrm>
            <a:off x="6191250" y="1524000"/>
            <a:ext cx="5334000" cy="371475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0708A82-E668-40DC-A0CE-E2FE5057AE6E}"/>
              </a:ext>
            </a:extLst>
          </p:cNvPr>
          <p:cNvSpPr txBox="1"/>
          <p:nvPr/>
        </p:nvSpPr>
        <p:spPr>
          <a:xfrm>
            <a:off x="6572250" y="1952625"/>
            <a:ext cx="4572000" cy="571500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F7FBFC"/>
                </a:solidFill>
                <a:latin typeface="Aptos Display"/>
                <a:ea typeface="Aptos Display"/>
              </a:rPr>
              <a:t>Sentinel-2 RGB-NIR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DCECBD9-CDA3-4279-B70F-C4D91AB9CC0D}"/>
              </a:ext>
            </a:extLst>
          </p:cNvPr>
          <p:cNvSpPr txBox="1"/>
          <p:nvPr/>
        </p:nvSpPr>
        <p:spPr>
          <a:xfrm>
            <a:off x="6572250" y="2857500"/>
            <a:ext cx="4572000" cy="1428750"/>
          </a:xfrm>
        </p:spPr>
        <p:txBody>
          <a:bodyPr wrap="square" rtlCol="0" lIns="0" tIns="0" rIns="0" bIns="0" anchor="t"/>
          <a:lstStyle/>
          <a:p>
            <a:pPr algn="ctr"/>
            <a:r>
              <a:rPr sz="4500" b="1">
                <a:solidFill>
                  <a:srgbClr val="F59E0B"/>
                </a:solidFill>
                <a:latin typeface="Aptos Display"/>
                <a:ea typeface="Aptos Display"/>
              </a:rPr>
              <a:t>4 channels</a:t>
            </a:r>
          </a:p>
          <a:p>
            <a:pPr algn="ctr"/>
            <a:r>
              <a:rPr sz="2000">
                <a:solidFill>
                  <a:srgbClr val="B8D5DD"/>
                </a:solidFill>
                <a:latin typeface="Aptos"/>
                <a:ea typeface="Aptos"/>
              </a:rPr>
              <a:t>[B04, B03, B02, B08]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9F75F0F9-FC16-4B2F-A142-30D49C3BCD13}"/>
              </a:ext>
            </a:extLst>
          </p:cNvPr>
          <p:cNvSpPr/>
          <p:nvPr/>
        </p:nvSpPr>
        <p:spPr>
          <a:xfrm>
            <a:off x="1905000" y="5619750"/>
            <a:ext cx="8382000" cy="66675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100" b="1">
                <a:solidFill>
                  <a:srgbClr val="0C6F73"/>
                </a:solidFill>
                <a:latin typeface="Aptos"/>
                <a:ea typeface="Aptos"/>
              </a:rPr>
              <a:t>Sharper-looking output is not automatically spectrally faithful output.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06F462E-F013-4A5B-AC64-2D2ACFA87B7D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F7FBFC"/>
                </a:solidFill>
                <a:latin typeface="Aptos Display"/>
                <a:ea typeface="Aptos Display"/>
              </a:rPr>
              <a:t>Trustworthiness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B12B8DB-D31B-4596-A493-0494D4EFECC1}"/>
              </a:ext>
            </a:extLst>
          </p:cNvPr>
          <p:cNvSpPr txBox="1"/>
          <p:nvPr/>
        </p:nvSpPr>
        <p:spPr>
          <a:xfrm>
            <a:off x="762000" y="1476375"/>
            <a:ext cx="10668000" cy="1476375"/>
          </a:xfrm>
        </p:spPr>
        <p:txBody>
          <a:bodyPr wrap="square" rtlCol="0" lIns="0" tIns="0" rIns="0" bIns="0" anchor="t"/>
          <a:lstStyle/>
          <a:p>
            <a:pPr algn="ctr"/>
            <a:r>
              <a:rPr sz="5600" b="1">
                <a:solidFill>
                  <a:srgbClr val="1DA7A7"/>
                </a:solidFill>
                <a:latin typeface="Aptos Display"/>
                <a:ea typeface="Aptos Display"/>
              </a:rPr>
              <a:t>MORE DETAIL</a:t>
            </a:r>
          </a:p>
          <a:p>
            <a:pPr algn="ctr"/>
            <a:r>
              <a:rPr sz="2400">
                <a:solidFill>
                  <a:srgbClr val="B8D5DD"/>
                </a:solidFill>
                <a:latin typeface="Aptos"/>
                <a:ea typeface="Aptos"/>
              </a:rPr>
              <a:t>does not necessarily mean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128952FA-0B3C-46C9-BDD7-CD8DB4C52A62}"/>
              </a:ext>
            </a:extLst>
          </p:cNvPr>
          <p:cNvSpPr txBox="1"/>
          <p:nvPr/>
        </p:nvSpPr>
        <p:spPr>
          <a:xfrm>
            <a:off x="762000" y="3048000"/>
            <a:ext cx="10668000" cy="952500"/>
          </a:xfrm>
        </p:spPr>
        <p:txBody>
          <a:bodyPr wrap="square" rtlCol="0" lIns="0" tIns="0" rIns="0" bIns="0" anchor="t"/>
          <a:lstStyle/>
          <a:p>
            <a:pPr algn="ctr"/>
            <a:r>
              <a:rPr sz="6200" b="1">
                <a:solidFill>
                  <a:srgbClr val="F59E0B"/>
                </a:solidFill>
                <a:latin typeface="Aptos Display"/>
                <a:ea typeface="Aptos Display"/>
              </a:rPr>
              <a:t>MORE TRUTH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AA47C21F-795A-48AE-A9C3-8D468C6C868F}"/>
              </a:ext>
            </a:extLst>
          </p:cNvPr>
          <p:cNvSpPr/>
          <p:nvPr/>
        </p:nvSpPr>
        <p:spPr>
          <a:xfrm>
            <a:off x="1524000" y="4524375"/>
            <a:ext cx="9144000" cy="1238250"/>
          </a:xfrm>
          <a:prstGeom prst="roundRect">
            <a:avLst/>
          </a:prstGeom>
          <a:solidFill>
            <a:srgbClr val="FFFFFF">
              <a:alpha val="7059"/>
            </a:srgbClr>
          </a:solidFill>
          <a:ln w="12700">
            <a:solidFill>
              <a:srgbClr val="365A6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D13D9F86-A2C7-4CB5-A6CA-7A8AC5B4838F}"/>
              </a:ext>
            </a:extLst>
          </p:cNvPr>
          <p:cNvSpPr txBox="1"/>
          <p:nvPr/>
        </p:nvSpPr>
        <p:spPr>
          <a:xfrm>
            <a:off x="1952625" y="4810125"/>
            <a:ext cx="8286750" cy="809625"/>
          </a:xfrm>
        </p:spPr>
        <p:txBody>
          <a:bodyPr wrap="square" rtlCol="0" lIns="0" tIns="0" rIns="0" bIns="0" anchor="t"/>
          <a:lstStyle/>
          <a:p>
            <a:pPr algn="ctr"/>
            <a:r>
              <a:rPr sz="2100" b="1">
                <a:solidFill>
                  <a:srgbClr val="F7FBFC"/>
                </a:solidFill>
                <a:latin typeface="Aptos"/>
                <a:ea typeface="Aptos"/>
              </a:rPr>
              <a:t>Hallucination can invent plausible roads, buildings, field boundaries, or textures that do not exist.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0679767-3455-4F6C-BAD9-92D222109C2F}"/>
              </a:ext>
            </a:extLst>
          </p:cNvPr>
          <p:cNvSpPr txBox="1"/>
          <p:nvPr/>
        </p:nvSpPr>
        <p:spPr>
          <a:xfrm>
            <a:off x="3238500" y="6143625"/>
            <a:ext cx="5715000" cy="333375"/>
          </a:xfrm>
        </p:spPr>
        <p:txBody>
          <a:bodyPr wrap="square" rtlCol="0" lIns="0" tIns="0" rIns="0" bIns="0" anchor="t"/>
          <a:lstStyle/>
          <a:p>
            <a:pPr algn="ctr"/>
            <a:r>
              <a:rPr sz="1600">
                <a:solidFill>
                  <a:srgbClr val="B8D5DD"/>
                </a:solidFill>
                <a:latin typeface="Aptos"/>
                <a:ea typeface="Aptos"/>
              </a:rPr>
              <a:t>Central design requirement: remain tied to observation.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A000180-4942-4A92-BD1C-5AB1AF60EC07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Uncertainty Maps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31DA2B85-032B-4254-9562-6239B1A788A5}"/>
              </a:ext>
            </a:extLst>
          </p:cNvPr>
          <p:cNvSpPr/>
          <p:nvPr/>
        </p:nvSpPr>
        <p:spPr>
          <a:xfrm>
            <a:off x="666750" y="1571625"/>
            <a:ext cx="4095750" cy="342900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3A610D5-A470-4DEA-9A35-E534F0CA7A46}"/>
              </a:ext>
            </a:extLst>
          </p:cNvPr>
          <p:cNvSpPr txBox="1"/>
          <p:nvPr/>
        </p:nvSpPr>
        <p:spPr>
          <a:xfrm>
            <a:off x="1000125" y="2000250"/>
            <a:ext cx="3429000" cy="2047875"/>
          </a:xfrm>
        </p:spPr>
        <p:txBody>
          <a:bodyPr wrap="square" rtlCol="0" lIns="0" tIns="0" rIns="0" bIns="0" anchor="t"/>
          <a:lstStyle/>
          <a:p>
            <a:pPr algn="ctr"/>
            <a:r>
              <a:rPr sz="3000" b="1">
                <a:solidFill>
                  <a:srgbClr val="0C6F73"/>
                </a:solidFill>
                <a:latin typeface="Aptos Display"/>
                <a:ea typeface="Aptos Display"/>
              </a:rPr>
              <a:t>SR IMAGE</a:t>
            </a:r>
          </a:p>
          <a:p>
            <a:pPr algn="ctr"/>
            <a:r>
              <a:rPr sz="2100">
                <a:solidFill>
                  <a:srgbClr val="102A3A"/>
                </a:solidFill>
                <a:latin typeface="Aptos"/>
                <a:ea typeface="Aptos"/>
              </a:rPr>
              <a:t>+</a:t>
            </a:r>
            <a:br/>
            <a:r>
              <a:rPr sz="2100">
                <a:solidFill>
                  <a:srgbClr val="102A3A"/>
                </a:solidFill>
                <a:latin typeface="Aptos"/>
                <a:ea typeface="Aptos"/>
              </a:rPr>
              <a:t>probabilistic reconstruction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3DDAE5CC-4802-4C71-96FF-3B5143B63372}"/>
              </a:ext>
            </a:extLst>
          </p:cNvPr>
          <p:cNvSpPr/>
          <p:nvPr/>
        </p:nvSpPr>
        <p:spPr>
          <a:xfrm>
            <a:off x="4953000" y="2905125"/>
            <a:ext cx="1095375" cy="619125"/>
          </a:xfrm>
          <a:prstGeom prst="righ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F804DF5F-117E-451F-9CA7-3D3AD71C3E83}"/>
              </a:ext>
            </a:extLst>
          </p:cNvPr>
          <p:cNvSpPr/>
          <p:nvPr/>
        </p:nvSpPr>
        <p:spPr>
          <a:xfrm>
            <a:off x="6238875" y="1571625"/>
            <a:ext cx="5286375" cy="34290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2DF4DA98-76EE-4A8B-A3C2-71238753FBFB}"/>
              </a:ext>
            </a:extLst>
          </p:cNvPr>
          <p:cNvSpPr txBox="1"/>
          <p:nvPr/>
        </p:nvSpPr>
        <p:spPr>
          <a:xfrm>
            <a:off x="6619875" y="1952625"/>
            <a:ext cx="4524375" cy="883920"/>
          </a:xfrm>
        </p:spPr>
        <p:txBody>
          <a:bodyPr wrap="square" rtlCol="0" lIns="0" tIns="0" rIns="0" bIns="0" anchor="t"/>
          <a:lstStyle/>
          <a:p>
            <a:pPr algn="ctr"/>
            <a:r>
              <a:rPr sz="2900" b="1">
                <a:solidFill>
                  <a:srgbClr val="F59E0B"/>
                </a:solidFill>
                <a:latin typeface="Aptos Display"/>
                <a:ea typeface="Aptos Display"/>
              </a:rPr>
              <a:t>PIXEL-LEVEL</a:t>
            </a:r>
            <a:br/>
            <a:r>
              <a:rPr sz="2900" b="1">
                <a:solidFill>
                  <a:srgbClr val="F59E0B"/>
                </a:solidFill>
                <a:latin typeface="Aptos Display"/>
                <a:ea typeface="Aptos Display"/>
              </a:rPr>
              <a:t>UNCERTAINTY</a:t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8D1FFBC-5FBA-415E-BF13-8ADE500FD293}"/>
              </a:ext>
            </a:extLst>
          </p:cNvPr>
          <p:cNvSpPr txBox="1"/>
          <p:nvPr/>
        </p:nvSpPr>
        <p:spPr>
          <a:xfrm>
            <a:off x="6619875" y="3190875"/>
            <a:ext cx="4524375" cy="1285875"/>
          </a:xfrm>
        </p:spPr>
        <p:txBody>
          <a:bodyPr wrap="square" rtlCol="0" lIns="0" tIns="0" rIns="0" bIns="0" anchor="t"/>
          <a:lstStyle/>
          <a:p>
            <a:pPr algn="ctr"/>
            <a:r>
              <a:rPr sz="2000" b="1">
                <a:solidFill>
                  <a:srgbClr val="F7FBFC"/>
                </a:solidFill>
                <a:latin typeface="Aptos"/>
                <a:ea typeface="Aptos"/>
              </a:rPr>
              <a:t>Where is the model confident?</a:t>
            </a:r>
            <a:br/>
            <a:r>
              <a:rPr sz="2000" b="1">
                <a:solidFill>
                  <a:srgbClr val="F7FBFC"/>
                </a:solidFill>
                <a:latin typeface="Aptos"/>
                <a:ea typeface="Aptos"/>
              </a:rPr>
              <a:t>Where should the output be treated cautiously?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91BF23B2-FA1E-4351-B3D1-6DC391D28065}"/>
              </a:ext>
            </a:extLst>
          </p:cNvPr>
          <p:cNvSpPr txBox="1"/>
          <p:nvPr/>
        </p:nvSpPr>
        <p:spPr>
          <a:xfrm>
            <a:off x="1476375" y="5476875"/>
            <a:ext cx="9239250" cy="666750"/>
          </a:xfrm>
        </p:spPr>
        <p:txBody>
          <a:bodyPr wrap="square" rtlCol="0" lIns="0" tIns="0" rIns="0" bIns="0" anchor="t"/>
          <a:lstStyle/>
          <a:p>
            <a:pPr algn="ctr"/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Useful for environmental monitoring, land-cover mapping, and change detection.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21FBA31-CA69-4873-A003-647294ACD9D9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Your Implementation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D388893-A659-4E6B-8056-FFAAB3E0DED6}"/>
              </a:ext>
            </a:extLst>
          </p:cNvPr>
          <p:cNvSpPr txBox="1"/>
          <p:nvPr/>
        </p:nvSpPr>
        <p:spPr>
          <a:xfrm>
            <a:off x="628650" y="990600"/>
            <a:ext cx="8572500" cy="40005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Technology stack from source imagery to deployable super-resolution output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A886DF72-8A5E-4DAB-93F9-4E31A91D6DB7}"/>
              </a:ext>
            </a:extLst>
          </p:cNvPr>
          <p:cNvSpPr/>
          <p:nvPr/>
        </p:nvSpPr>
        <p:spPr>
          <a:xfrm>
            <a:off x="476250" y="2190750"/>
            <a:ext cx="1476375" cy="1047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Sentinel-2</a:t>
            </a:r>
            <a:br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GeoTIFF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9FEC46F4-B3FA-4F61-8507-D3E5F6B977EC}"/>
              </a:ext>
            </a:extLst>
          </p:cNvPr>
          <p:cNvSpPr/>
          <p:nvPr/>
        </p:nvSpPr>
        <p:spPr>
          <a:xfrm>
            <a:off x="2047875" y="2476500"/>
            <a:ext cx="428625" cy="42862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3467961D-CA64-450B-9255-09EED5AE860B}"/>
              </a:ext>
            </a:extLst>
          </p:cNvPr>
          <p:cNvSpPr/>
          <p:nvPr/>
        </p:nvSpPr>
        <p:spPr>
          <a:xfrm>
            <a:off x="2571750" y="2190750"/>
            <a:ext cx="1476375" cy="104775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0C6F73"/>
                </a:solidFill>
                <a:latin typeface="Aptos"/>
                <a:ea typeface="Aptos"/>
              </a:rPr>
              <a:t>Python</a:t>
            </a:r>
            <a:br/>
            <a:r>
              <a:rPr sz="1700" b="1">
                <a:solidFill>
                  <a:srgbClr val="0C6F73"/>
                </a:solidFill>
                <a:latin typeface="Aptos"/>
                <a:ea typeface="Aptos"/>
              </a:rPr>
              <a:t>Rasterio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6358D95-D7BC-4C77-BB44-8F3531E014F9}"/>
              </a:ext>
            </a:extLst>
          </p:cNvPr>
          <p:cNvSpPr/>
          <p:nvPr/>
        </p:nvSpPr>
        <p:spPr>
          <a:xfrm>
            <a:off x="4143375" y="2476500"/>
            <a:ext cx="428625" cy="42862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AB029AC7-BC5C-495B-91BD-7CF609BC1B65}"/>
              </a:ext>
            </a:extLst>
          </p:cNvPr>
          <p:cNvSpPr/>
          <p:nvPr/>
        </p:nvSpPr>
        <p:spPr>
          <a:xfrm>
            <a:off x="4667250" y="1952625"/>
            <a:ext cx="1809750" cy="15240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100" b="1">
                <a:solidFill>
                  <a:srgbClr val="F59E0B"/>
                </a:solidFill>
                <a:latin typeface="Aptos"/>
                <a:ea typeface="Aptos"/>
              </a:rPr>
              <a:t>OpenSR</a:t>
            </a:r>
            <a:br/>
            <a:r>
              <a:rPr sz="2100" b="1">
                <a:solidFill>
                  <a:srgbClr val="F59E0B"/>
                </a:solidFill>
                <a:latin typeface="Aptos"/>
                <a:ea typeface="Aptos"/>
              </a:rPr>
              <a:t>LDSR-S2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B8D4A839-1A29-4EA6-82D4-C836DC0FBE3B}"/>
              </a:ext>
            </a:extLst>
          </p:cNvPr>
          <p:cNvSpPr/>
          <p:nvPr/>
        </p:nvSpPr>
        <p:spPr>
          <a:xfrm>
            <a:off x="6572250" y="2476500"/>
            <a:ext cx="428625" cy="42862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941C80E1-18A3-465F-BD6C-CD08E2745C93}"/>
              </a:ext>
            </a:extLst>
          </p:cNvPr>
          <p:cNvSpPr/>
          <p:nvPr/>
        </p:nvSpPr>
        <p:spPr>
          <a:xfrm>
            <a:off x="7096125" y="2190750"/>
            <a:ext cx="1476375" cy="104775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0C6F73"/>
                </a:solidFill>
                <a:latin typeface="Aptos"/>
                <a:ea typeface="Aptos"/>
              </a:rPr>
              <a:t>PyTorch</a:t>
            </a:r>
            <a:br/>
            <a:r>
              <a:rPr sz="1700" b="1">
                <a:solidFill>
                  <a:srgbClr val="0C6F73"/>
                </a:solidFill>
                <a:latin typeface="Aptos"/>
                <a:ea typeface="Aptos"/>
              </a:rPr>
              <a:t>Tesla T4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EDE230E0-560F-4CFC-B158-C13434527D6C}"/>
              </a:ext>
            </a:extLst>
          </p:cNvPr>
          <p:cNvSpPr/>
          <p:nvPr/>
        </p:nvSpPr>
        <p:spPr>
          <a:xfrm>
            <a:off x="8667750" y="2476500"/>
            <a:ext cx="428625" cy="42862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E18499AF-0757-4ABA-8585-98C9843AB1DB}"/>
              </a:ext>
            </a:extLst>
          </p:cNvPr>
          <p:cNvSpPr/>
          <p:nvPr/>
        </p:nvSpPr>
        <p:spPr>
          <a:xfrm>
            <a:off x="9191625" y="2190750"/>
            <a:ext cx="2381250" cy="104775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59E0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900" b="1">
                <a:solidFill>
                  <a:srgbClr val="8A5500"/>
                </a:solidFill>
                <a:latin typeface="Aptos"/>
                <a:ea typeface="Aptos"/>
              </a:rPr>
              <a:t>2048 × 2048</a:t>
            </a:r>
            <a:br/>
            <a:r>
              <a:rPr sz="1900" b="1">
                <a:solidFill>
                  <a:srgbClr val="8A5500"/>
                </a:solidFill>
                <a:latin typeface="Aptos"/>
                <a:ea typeface="Aptos"/>
              </a:rPr>
              <a:t>SR GeoTIFF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FBB9D059-D40E-4AFF-9830-66692B410D88}"/>
              </a:ext>
            </a:extLst>
          </p:cNvPr>
          <p:cNvSpPr/>
          <p:nvPr/>
        </p:nvSpPr>
        <p:spPr>
          <a:xfrm>
            <a:off x="1619250" y="4381500"/>
            <a:ext cx="8953500" cy="1095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58A03CDF-892B-42A3-8C5C-D6A83218E812}"/>
              </a:ext>
            </a:extLst>
          </p:cNvPr>
          <p:cNvSpPr txBox="1"/>
          <p:nvPr/>
        </p:nvSpPr>
        <p:spPr>
          <a:xfrm>
            <a:off x="2000250" y="4686300"/>
            <a:ext cx="8191500" cy="619125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102A3A"/>
                </a:solidFill>
                <a:latin typeface="Aptos"/>
                <a:ea typeface="Aptos"/>
              </a:rPr>
              <a:t>Python · PyTorch · OpenSR · OpenSR Utils · Rasterio · FastAPI · Streamlit · Kaggle GPU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1F3D7A4B-7B9A-4C58-A93E-415B3A7B9B63}"/>
              </a:ext>
            </a:extLst>
          </p:cNvPr>
          <p:cNvSpPr txBox="1"/>
          <p:nvPr/>
        </p:nvSpPr>
        <p:spPr>
          <a:xfrm>
            <a:off x="609600" y="400050"/>
            <a:ext cx="81915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Our Processing Pipeline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8830521E-463E-4020-BBEB-BD8E7B2D97A1}"/>
              </a:ext>
            </a:extLst>
          </p:cNvPr>
          <p:cNvSpPr/>
          <p:nvPr/>
        </p:nvSpPr>
        <p:spPr>
          <a:xfrm>
            <a:off x="523875" y="1619250"/>
            <a:ext cx="200025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Sentinel-2</a:t>
            </a:r>
            <a:br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GeoTIFF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114F8C87-57C8-4887-9C09-98FB43AF1916}"/>
              </a:ext>
            </a:extLst>
          </p:cNvPr>
          <p:cNvSpPr/>
          <p:nvPr/>
        </p:nvSpPr>
        <p:spPr>
          <a:xfrm>
            <a:off x="2619375" y="1857375"/>
            <a:ext cx="428625" cy="42862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C7CB6DE8-EFE6-4634-8E9E-37C98F63249F}"/>
              </a:ext>
            </a:extLst>
          </p:cNvPr>
          <p:cNvSpPr/>
          <p:nvPr/>
        </p:nvSpPr>
        <p:spPr>
          <a:xfrm>
            <a:off x="3143250" y="1619250"/>
            <a:ext cx="200025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Validation</a:t>
            </a:r>
            <a:br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+ AOI selection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BDD2877F-F6DC-400E-9B18-8F38E702C529}"/>
              </a:ext>
            </a:extLst>
          </p:cNvPr>
          <p:cNvSpPr/>
          <p:nvPr/>
        </p:nvSpPr>
        <p:spPr>
          <a:xfrm>
            <a:off x="5238750" y="1857375"/>
            <a:ext cx="428625" cy="42862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F58B601-3C13-4631-925E-98972ECB53E4}"/>
              </a:ext>
            </a:extLst>
          </p:cNvPr>
          <p:cNvSpPr/>
          <p:nvPr/>
        </p:nvSpPr>
        <p:spPr>
          <a:xfrm>
            <a:off x="5762625" y="1619250"/>
            <a:ext cx="2000250" cy="95250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0C6F73"/>
                </a:solidFill>
                <a:latin typeface="Aptos"/>
                <a:ea typeface="Aptos"/>
              </a:rPr>
              <a:t>Patch extraction</a:t>
            </a:r>
            <a:br/>
            <a:r>
              <a:rPr sz="1700" b="1">
                <a:solidFill>
                  <a:srgbClr val="0C6F73"/>
                </a:solidFill>
                <a:latin typeface="Aptos"/>
                <a:ea typeface="Aptos"/>
              </a:rPr>
              <a:t>128 × 128 × 4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478BDEAB-BBC4-4F63-9A55-34938B988D89}"/>
              </a:ext>
            </a:extLst>
          </p:cNvPr>
          <p:cNvSpPr/>
          <p:nvPr/>
        </p:nvSpPr>
        <p:spPr>
          <a:xfrm>
            <a:off x="7858125" y="1857375"/>
            <a:ext cx="428625" cy="42862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45523811-A542-421C-984D-40977354ADBB}"/>
              </a:ext>
            </a:extLst>
          </p:cNvPr>
          <p:cNvSpPr/>
          <p:nvPr/>
        </p:nvSpPr>
        <p:spPr>
          <a:xfrm>
            <a:off x="8382000" y="1428750"/>
            <a:ext cx="3143250" cy="13335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100" b="1">
                <a:solidFill>
                  <a:srgbClr val="F59E0B"/>
                </a:solidFill>
                <a:latin typeface="Aptos"/>
                <a:ea typeface="Aptos"/>
              </a:rPr>
              <a:t>LDSR-S2 Encoder</a:t>
            </a:r>
            <a:br/>
            <a:r>
              <a:rPr sz="2100" b="1">
                <a:solidFill>
                  <a:srgbClr val="F59E0B"/>
                </a:solidFill>
                <a:latin typeface="Aptos"/>
                <a:ea typeface="Aptos"/>
              </a:rPr>
              <a:t>→ Latent Diffusion</a:t>
            </a:r>
          </a:p>
        </p:txBody>
      </p:sp>
      <p:cxnSp>
        <p:nvCxnSpPr>
          <p:cNvPr id="11" name="Straight Connector 11">
            <a:extLst>
              <a:ext uri="{FF2B5EF4-FFF2-40B4-BE49-F238E27FC236}">
                <a16:creationId xmlns:a16="http://schemas.microsoft.com/office/drawing/2014/main" id="{31D623AD-B086-45B9-959E-002426E8F712}"/>
              </a:ext>
            </a:extLst>
          </p:cNvPr>
          <p:cNvCxnSpPr/>
          <p:nvPr/>
        </p:nvCxnSpPr>
        <p:spPr>
          <a:xfrm>
            <a:off x="9953625" y="2952750"/>
            <a:ext cx="19050" cy="904875"/>
          </a:xfrm>
          <a:prstGeom prst="straightConnector1">
            <a:avLst/>
          </a:prstGeom>
          <a:ln w="38100" cap="flat">
            <a:solidFill>
              <a:srgbClr val="1DA7A7"/>
            </a:solidFill>
            <a:tailEnd type="triangle" w="med" len="med"/>
          </a:ln>
        </p:spPr>
      </p:cxnSp>
      <p:sp>
        <p:nvSpPr>
          <p:cNvPr id="12" name="Shape 12">
            <a:extLst>
              <a:ext uri="{FF2B5EF4-FFF2-40B4-BE49-F238E27FC236}">
                <a16:creationId xmlns:a16="http://schemas.microsoft.com/office/drawing/2014/main" id="{4CD2B80D-92B1-4D6F-911C-359437BF572B}"/>
              </a:ext>
            </a:extLst>
          </p:cNvPr>
          <p:cNvSpPr/>
          <p:nvPr/>
        </p:nvSpPr>
        <p:spPr>
          <a:xfrm>
            <a:off x="8382000" y="4000500"/>
            <a:ext cx="3143250" cy="11430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100" b="1">
                <a:solidFill>
                  <a:srgbClr val="F7FBFC"/>
                </a:solidFill>
                <a:latin typeface="Aptos"/>
                <a:ea typeface="Aptos"/>
              </a:rPr>
              <a:t>DDIM Sampling</a:t>
            </a:r>
            <a:br/>
            <a:r>
              <a:rPr sz="2100" b="1">
                <a:solidFill>
                  <a:srgbClr val="F7FBFC"/>
                </a:solidFill>
                <a:latin typeface="Aptos"/>
                <a:ea typeface="Aptos"/>
              </a:rPr>
              <a:t>→ Decoder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AA85EB15-E6A0-420E-843F-8F5965B910A1}"/>
              </a:ext>
            </a:extLst>
          </p:cNvPr>
          <p:cNvSpPr/>
          <p:nvPr/>
        </p:nvSpPr>
        <p:spPr>
          <a:xfrm>
            <a:off x="7858125" y="4333875"/>
            <a:ext cx="428625" cy="428625"/>
          </a:xfrm>
          <a:prstGeom prst="lef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BD00927E-6E4E-43F6-B4BF-95E7F351A56C}"/>
              </a:ext>
            </a:extLst>
          </p:cNvPr>
          <p:cNvSpPr/>
          <p:nvPr/>
        </p:nvSpPr>
        <p:spPr>
          <a:xfrm>
            <a:off x="5762625" y="4095750"/>
            <a:ext cx="2000250" cy="95250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0C6F73"/>
                </a:solidFill>
                <a:latin typeface="Aptos"/>
                <a:ea typeface="Aptos"/>
              </a:rPr>
              <a:t>SR patches</a:t>
            </a:r>
            <a:br/>
            <a:r>
              <a:rPr sz="1700" b="1">
                <a:solidFill>
                  <a:srgbClr val="0C6F73"/>
                </a:solidFill>
                <a:latin typeface="Aptos"/>
                <a:ea typeface="Aptos"/>
              </a:rPr>
              <a:t>512 × 512 × 4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100206BA-D413-49E5-813A-FED1022BE7FD}"/>
              </a:ext>
            </a:extLst>
          </p:cNvPr>
          <p:cNvSpPr/>
          <p:nvPr/>
        </p:nvSpPr>
        <p:spPr>
          <a:xfrm>
            <a:off x="5238750" y="4333875"/>
            <a:ext cx="428625" cy="428625"/>
          </a:xfrm>
          <a:prstGeom prst="lef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BCD6C91B-A57C-47C0-BBBB-BD7D2DD1DCBB}"/>
              </a:ext>
            </a:extLst>
          </p:cNvPr>
          <p:cNvSpPr/>
          <p:nvPr/>
        </p:nvSpPr>
        <p:spPr>
          <a:xfrm>
            <a:off x="3143250" y="4095750"/>
            <a:ext cx="2000250" cy="952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Patch</a:t>
            </a:r>
            <a:br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reconstruction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9C189E5E-87E3-4643-B9F0-3E83CC6EDA07}"/>
              </a:ext>
            </a:extLst>
          </p:cNvPr>
          <p:cNvSpPr/>
          <p:nvPr/>
        </p:nvSpPr>
        <p:spPr>
          <a:xfrm>
            <a:off x="2619375" y="4333875"/>
            <a:ext cx="428625" cy="428625"/>
          </a:xfrm>
          <a:prstGeom prst="lef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A0D2432E-BC1F-4FB3-9987-9FCBD0BAB70C}"/>
              </a:ext>
            </a:extLst>
          </p:cNvPr>
          <p:cNvSpPr/>
          <p:nvPr/>
        </p:nvSpPr>
        <p:spPr>
          <a:xfrm>
            <a:off x="523875" y="4095750"/>
            <a:ext cx="2000250" cy="95250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59E0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900" b="1">
                <a:solidFill>
                  <a:srgbClr val="8A5500"/>
                </a:solidFill>
                <a:latin typeface="Aptos"/>
                <a:ea typeface="Aptos"/>
              </a:rPr>
              <a:t>Final SR</a:t>
            </a:r>
            <a:br/>
            <a:r>
              <a:rPr sz="1900" b="1">
                <a:solidFill>
                  <a:srgbClr val="8A5500"/>
                </a:solidFill>
                <a:latin typeface="Aptos"/>
                <a:ea typeface="Aptos"/>
              </a:rPr>
              <a:t>GeoTIFF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B5A169B-F2DB-4504-B0A8-58562ED84169}"/>
              </a:ext>
            </a:extLst>
          </p:cNvPr>
          <p:cNvSpPr txBox="1"/>
          <p:nvPr/>
        </p:nvSpPr>
        <p:spPr>
          <a:xfrm>
            <a:off x="2667000" y="5715000"/>
            <a:ext cx="6858000" cy="428625"/>
          </a:xfrm>
        </p:spPr>
        <p:txBody>
          <a:bodyPr wrap="square" rtlCol="0" lIns="0" tIns="0" rIns="0" bIns="0" anchor="t"/>
          <a:lstStyle/>
          <a:p>
            <a:pPr algn="ctr"/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An end-to-end geospatial reconstruction workflow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D28524F-5AE2-4895-91E5-92A23529952F}"/>
              </a:ext>
            </a:extLst>
          </p:cNvPr>
          <p:cNvSpPr txBox="1"/>
          <p:nvPr/>
        </p:nvSpPr>
        <p:spPr>
          <a:xfrm>
            <a:off x="609600" y="400050"/>
            <a:ext cx="78105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Our Experimental Setup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51800655-A524-4805-89B8-7D3FC5B92DDD}"/>
              </a:ext>
            </a:extLst>
          </p:cNvPr>
          <p:cNvSpPr/>
          <p:nvPr/>
        </p:nvSpPr>
        <p:spPr>
          <a:xfrm>
            <a:off x="619125" y="1381125"/>
            <a:ext cx="5238750" cy="1952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66D9492F-0771-4D7D-83F3-91F6CC73A21B}"/>
              </a:ext>
            </a:extLst>
          </p:cNvPr>
          <p:cNvSpPr txBox="1"/>
          <p:nvPr/>
        </p:nvSpPr>
        <p:spPr>
          <a:xfrm>
            <a:off x="952500" y="1714500"/>
            <a:ext cx="4572000" cy="1285875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1DA7A7"/>
                </a:solidFill>
                <a:latin typeface="Aptos"/>
                <a:ea typeface="Aptos"/>
              </a:rPr>
              <a:t>INPUT</a:t>
            </a:r>
          </a:p>
          <a:p>
            <a:br/>
            <a:r>
              <a:rPr sz="2400" b="1">
                <a:solidFill>
                  <a:srgbClr val="102A3A"/>
                </a:solidFill>
                <a:latin typeface="Aptos Display"/>
                <a:ea typeface="Aptos Display"/>
              </a:rPr>
              <a:t>Sentinel-2 · 512 × 512 · 4 bands · 10 m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7CA2EB1B-8F11-4030-9B87-E212F9264CB3}"/>
              </a:ext>
            </a:extLst>
          </p:cNvPr>
          <p:cNvSpPr/>
          <p:nvPr/>
        </p:nvSpPr>
        <p:spPr>
          <a:xfrm>
            <a:off x="6334125" y="1381125"/>
            <a:ext cx="5238750" cy="1952625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9561E9F-6BA4-44EA-B49B-65315F4EAEE2}"/>
              </a:ext>
            </a:extLst>
          </p:cNvPr>
          <p:cNvSpPr txBox="1"/>
          <p:nvPr/>
        </p:nvSpPr>
        <p:spPr>
          <a:xfrm>
            <a:off x="6667500" y="1714500"/>
            <a:ext cx="4572000" cy="1285875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F59E0B"/>
                </a:solidFill>
                <a:latin typeface="Aptos"/>
                <a:ea typeface="Aptos"/>
              </a:rPr>
              <a:t>OUTPUT</a:t>
            </a:r>
          </a:p>
          <a:p>
            <a:br/>
            <a:r>
              <a:rPr sz="2400" b="1">
                <a:solidFill>
                  <a:srgbClr val="F7FBFC"/>
                </a:solidFill>
                <a:latin typeface="Aptos Display"/>
                <a:ea typeface="Aptos Display"/>
              </a:rPr>
              <a:t>LDSR-S2 · 2048 × 2048 · 4 bands · target 2.5 m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BBBC9010-792C-49F2-83BC-8C09FFC10149}"/>
              </a:ext>
            </a:extLst>
          </p:cNvPr>
          <p:cNvSpPr/>
          <p:nvPr/>
        </p:nvSpPr>
        <p:spPr>
          <a:xfrm>
            <a:off x="619125" y="3762375"/>
            <a:ext cx="5238750" cy="19526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EEDBD870-7712-4609-BF5A-141F075CAEB6}"/>
              </a:ext>
            </a:extLst>
          </p:cNvPr>
          <p:cNvSpPr txBox="1"/>
          <p:nvPr/>
        </p:nvSpPr>
        <p:spPr>
          <a:xfrm>
            <a:off x="952500" y="4095750"/>
            <a:ext cx="4572000" cy="1285875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1DA7A7"/>
                </a:solidFill>
                <a:latin typeface="Aptos"/>
                <a:ea typeface="Aptos"/>
              </a:rPr>
              <a:t>HARDWARE</a:t>
            </a:r>
          </a:p>
          <a:p>
            <a:br/>
            <a:r>
              <a:rPr sz="2800" b="1">
                <a:solidFill>
                  <a:srgbClr val="102A3A"/>
                </a:solidFill>
                <a:latin typeface="Aptos Display"/>
                <a:ea typeface="Aptos Display"/>
              </a:rPr>
              <a:t>NVIDIA Tesla T4 GPU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D1DE4CAC-2988-46F1-958E-9531F7C63FD8}"/>
              </a:ext>
            </a:extLst>
          </p:cNvPr>
          <p:cNvSpPr/>
          <p:nvPr/>
        </p:nvSpPr>
        <p:spPr>
          <a:xfrm>
            <a:off x="6334125" y="3762375"/>
            <a:ext cx="5238750" cy="1952625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D8B2573C-3E91-43B5-A2B9-E85E89417CC6}"/>
              </a:ext>
            </a:extLst>
          </p:cNvPr>
          <p:cNvSpPr txBox="1"/>
          <p:nvPr/>
        </p:nvSpPr>
        <p:spPr>
          <a:xfrm>
            <a:off x="6667500" y="4095750"/>
            <a:ext cx="4572000" cy="1285875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0C6F73"/>
                </a:solidFill>
                <a:latin typeface="Aptos"/>
                <a:ea typeface="Aptos"/>
              </a:rPr>
              <a:t>SAMPLING TESTS</a:t>
            </a:r>
          </a:p>
          <a:p>
            <a:br/>
            <a:r>
              <a:rPr sz="2800" b="1">
                <a:solidFill>
                  <a:srgbClr val="102A3A"/>
                </a:solidFill>
                <a:latin typeface="Aptos Display"/>
                <a:ea typeface="Aptos Display"/>
              </a:rPr>
              <a:t>20 · 50 · 100 DDIM steps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463E23A7-B6C3-4BE3-81CB-094F0ED536BD}"/>
              </a:ext>
            </a:extLst>
          </p:cNvPr>
          <p:cNvSpPr txBox="1"/>
          <p:nvPr/>
        </p:nvSpPr>
        <p:spPr>
          <a:xfrm>
            <a:off x="609600" y="400050"/>
            <a:ext cx="8001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Our Actual Visualization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92EEE3A-54F8-41AB-B535-E3D0F718B170}"/>
              </a:ext>
            </a:extLst>
          </p:cNvPr>
          <p:cNvSpPr txBox="1"/>
          <p:nvPr/>
        </p:nvSpPr>
        <p:spPr>
          <a:xfrm>
            <a:off x="628650" y="981075"/>
            <a:ext cx="9048750" cy="518160"/>
          </a:xfrm>
        </p:spPr>
        <p:txBody>
          <a:bodyPr wrap="square" rtlCol="0" lIns="0" tIns="0" rIns="0" bIns="0" anchor="t"/>
          <a:lstStyle/>
          <a:p>
            <a:r>
              <a:rPr sz="1700">
                <a:solidFill>
                  <a:srgbClr val="54717D"/>
                </a:solidFill>
                <a:latin typeface="Aptos"/>
                <a:ea typeface="Aptos"/>
              </a:rPr>
              <a:t>Dimension comparison shown schematically; the source screenshot was not included in the attachment.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965CB549-8C71-48AA-AA8C-3F9F9C2ED5B8}"/>
              </a:ext>
            </a:extLst>
          </p:cNvPr>
          <p:cNvSpPr/>
          <p:nvPr/>
        </p:nvSpPr>
        <p:spPr>
          <a:xfrm>
            <a:off x="904875" y="1809750"/>
            <a:ext cx="3429000" cy="3429000"/>
          </a:xfrm>
          <a:prstGeom prst="rect">
            <a:avLst/>
          </a:prstGeom>
          <a:solidFill>
            <a:srgbClr val="365A69"/>
          </a:solidFill>
          <a:ln w="25400">
            <a:solidFill>
              <a:srgbClr val="102A3A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B51C86C0-F284-4113-8F42-5DD78E5E97B1}"/>
              </a:ext>
            </a:extLst>
          </p:cNvPr>
          <p:cNvSpPr/>
          <p:nvPr/>
        </p:nvSpPr>
        <p:spPr>
          <a:xfrm>
            <a:off x="1095375" y="2000250"/>
            <a:ext cx="762000" cy="762000"/>
          </a:xfrm>
          <a:prstGeom prst="rect">
            <a:avLst/>
          </a:prstGeom>
          <a:solidFill>
            <a:srgbClr val="1DA7A7">
              <a:alpha val="40000"/>
            </a:srgbClr>
          </a:solidFill>
          <a:ln w="12700">
            <a:solidFill>
              <a:srgbClr val="B8D5D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5269219E-C585-4DD8-80C5-F61575524355}"/>
              </a:ext>
            </a:extLst>
          </p:cNvPr>
          <p:cNvSpPr/>
          <p:nvPr/>
        </p:nvSpPr>
        <p:spPr>
          <a:xfrm>
            <a:off x="3190875" y="4095750"/>
            <a:ext cx="952500" cy="952500"/>
          </a:xfrm>
          <a:prstGeom prst="rect">
            <a:avLst/>
          </a:prstGeom>
          <a:solidFill>
            <a:srgbClr val="F59E0B">
              <a:alpha val="40000"/>
            </a:srgbClr>
          </a:solidFill>
          <a:ln w="12700">
            <a:solidFill>
              <a:srgbClr val="F59E0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40A4068-C9F0-421B-9D29-698DA83513BD}"/>
              </a:ext>
            </a:extLst>
          </p:cNvPr>
          <p:cNvSpPr txBox="1"/>
          <p:nvPr/>
        </p:nvSpPr>
        <p:spPr>
          <a:xfrm>
            <a:off x="904875" y="5381625"/>
            <a:ext cx="3429000" cy="666750"/>
          </a:xfrm>
        </p:spPr>
        <p:txBody>
          <a:bodyPr wrap="square" rtlCol="0" lIns="0" tIns="0" rIns="0" bIns="0" anchor="t"/>
          <a:lstStyle/>
          <a:p>
            <a:pPr algn="ctr"/>
            <a:r>
              <a:rPr sz="2200" b="1">
                <a:solidFill>
                  <a:srgbClr val="102A3A"/>
                </a:solidFill>
                <a:latin typeface="Aptos"/>
                <a:ea typeface="Aptos"/>
              </a:rPr>
              <a:t>Original Sentinel-2</a:t>
            </a:r>
            <a:br/>
            <a:r>
              <a:rPr sz="2200" b="1">
                <a:solidFill>
                  <a:srgbClr val="102A3A"/>
                </a:solidFill>
                <a:latin typeface="Aptos"/>
                <a:ea typeface="Aptos"/>
              </a:rPr>
              <a:t>512 × 512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50B4AC14-C307-4730-A881-ECB99135690B}"/>
              </a:ext>
            </a:extLst>
          </p:cNvPr>
          <p:cNvSpPr/>
          <p:nvPr/>
        </p:nvSpPr>
        <p:spPr>
          <a:xfrm>
            <a:off x="4810125" y="3143250"/>
            <a:ext cx="1714500" cy="762000"/>
          </a:xfrm>
          <a:prstGeom prst="righ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2ABB59D1-5E68-45D1-836F-F3DBDB66FE8A}"/>
              </a:ext>
            </a:extLst>
          </p:cNvPr>
          <p:cNvSpPr txBox="1"/>
          <p:nvPr/>
        </p:nvSpPr>
        <p:spPr>
          <a:xfrm>
            <a:off x="4953000" y="3286125"/>
            <a:ext cx="1333500" cy="428625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  <a:ea typeface="Aptos"/>
              </a:rPr>
              <a:t>LDSR-S2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01F109C8-2FF9-4FB3-AB90-03B637FD30D4}"/>
              </a:ext>
            </a:extLst>
          </p:cNvPr>
          <p:cNvSpPr/>
          <p:nvPr/>
        </p:nvSpPr>
        <p:spPr>
          <a:xfrm>
            <a:off x="7000875" y="1524000"/>
            <a:ext cx="4095750" cy="4095750"/>
          </a:xfrm>
          <a:prstGeom prst="rect">
            <a:avLst/>
          </a:prstGeom>
          <a:solidFill>
            <a:srgbClr val="071B2B"/>
          </a:solidFill>
          <a:ln w="254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8D41A7E-C51E-4CB3-B237-ECA8EB18E635}"/>
              </a:ext>
            </a:extLst>
          </p:cNvPr>
          <p:cNvSpPr/>
          <p:nvPr/>
        </p:nvSpPr>
        <p:spPr>
          <a:xfrm>
            <a:off x="7191375" y="1714500"/>
            <a:ext cx="876300" cy="876300"/>
          </a:xfrm>
          <a:prstGeom prst="rect">
            <a:avLst/>
          </a:prstGeom>
          <a:solidFill>
            <a:srgbClr val="1DA7A7">
              <a:alpha val="53333"/>
            </a:srgbClr>
          </a:solidFill>
          <a:ln w="12700">
            <a:solidFill>
              <a:srgbClr val="B8D5DD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44E232A6-B84C-4FF2-B41E-F25F5924B18F}"/>
              </a:ext>
            </a:extLst>
          </p:cNvPr>
          <p:cNvSpPr/>
          <p:nvPr/>
        </p:nvSpPr>
        <p:spPr>
          <a:xfrm>
            <a:off x="9839325" y="4362450"/>
            <a:ext cx="1066800" cy="1066800"/>
          </a:xfrm>
          <a:prstGeom prst="rect">
            <a:avLst/>
          </a:prstGeom>
          <a:solidFill>
            <a:srgbClr val="F59E0B">
              <a:alpha val="53333"/>
            </a:srgbClr>
          </a:solidFill>
          <a:ln w="12700">
            <a:solidFill>
              <a:srgbClr val="F59E0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4" name="TextBox 14">
            <a:extLst>
              <a:ext uri="{FF2B5EF4-FFF2-40B4-BE49-F238E27FC236}">
                <a16:creationId xmlns:a16="http://schemas.microsoft.com/office/drawing/2014/main" id="{30F3484C-F2CB-4C41-B7CD-35D58E504912}"/>
              </a:ext>
            </a:extLst>
          </p:cNvPr>
          <p:cNvSpPr txBox="1"/>
          <p:nvPr/>
        </p:nvSpPr>
        <p:spPr>
          <a:xfrm>
            <a:off x="7000875" y="5715000"/>
            <a:ext cx="4095750" cy="670560"/>
          </a:xfrm>
        </p:spPr>
        <p:txBody>
          <a:bodyPr wrap="square" rtlCol="0" lIns="0" tIns="0" rIns="0" bIns="0" anchor="t"/>
          <a:lstStyle/>
          <a:p>
            <a:pPr algn="ctr"/>
            <a:r>
              <a:rPr sz="2200" b="1">
                <a:solidFill>
                  <a:srgbClr val="102A3A"/>
                </a:solidFill>
                <a:latin typeface="Aptos"/>
                <a:ea typeface="Aptos"/>
              </a:rPr>
              <a:t>Super-resolved output · 2048 × 2048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F36EE54D-387B-47EC-B6B5-EB128F3882B5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What We Observed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1E6EEADA-EBCB-4551-B982-E0B6F8981AE5}"/>
              </a:ext>
            </a:extLst>
          </p:cNvPr>
          <p:cNvSpPr/>
          <p:nvPr/>
        </p:nvSpPr>
        <p:spPr>
          <a:xfrm>
            <a:off x="619125" y="1428750"/>
            <a:ext cx="3381375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75DFEA0B-62D0-45C9-9F93-EE3B7AC050CB}"/>
              </a:ext>
            </a:extLst>
          </p:cNvPr>
          <p:cNvSpPr txBox="1"/>
          <p:nvPr/>
        </p:nvSpPr>
        <p:spPr>
          <a:xfrm>
            <a:off x="904875" y="1762125"/>
            <a:ext cx="2809875" cy="1143000"/>
          </a:xfrm>
        </p:spPr>
        <p:txBody>
          <a:bodyPr wrap="square" rtlCol="0" lIns="0" tIns="0" rIns="0" bIns="0" anchor="t"/>
          <a:lstStyle/>
          <a:p>
            <a:r>
              <a:rPr sz="2300" b="1">
                <a:solidFill>
                  <a:srgbClr val="1DA7A7"/>
                </a:solidFill>
                <a:latin typeface="Aptos Display"/>
                <a:ea typeface="Aptos Display"/>
              </a:rPr>
              <a:t>4× reconstruction</a:t>
            </a:r>
          </a:p>
          <a:p>
            <a:br/>
            <a:r>
              <a:rPr sz="1700">
                <a:solidFill>
                  <a:srgbClr val="102A3A"/>
                </a:solidFill>
                <a:latin typeface="Aptos"/>
                <a:ea typeface="Aptos"/>
              </a:rPr>
              <a:t>512² → 2048² output dimensions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F1CDDDA8-01D5-4629-8B45-B34C46C59387}"/>
              </a:ext>
            </a:extLst>
          </p:cNvPr>
          <p:cNvSpPr/>
          <p:nvPr/>
        </p:nvSpPr>
        <p:spPr>
          <a:xfrm>
            <a:off x="4410075" y="1428750"/>
            <a:ext cx="3381375" cy="180975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8CE1680A-CE6B-4252-884F-34E7CC52BD92}"/>
              </a:ext>
            </a:extLst>
          </p:cNvPr>
          <p:cNvSpPr txBox="1"/>
          <p:nvPr/>
        </p:nvSpPr>
        <p:spPr>
          <a:xfrm>
            <a:off x="4695825" y="1762125"/>
            <a:ext cx="2809875" cy="1143000"/>
          </a:xfrm>
        </p:spPr>
        <p:txBody>
          <a:bodyPr wrap="square" rtlCol="0" lIns="0" tIns="0" rIns="0" bIns="0" anchor="t"/>
          <a:lstStyle/>
          <a:p>
            <a:r>
              <a:rPr sz="2300" b="1">
                <a:solidFill>
                  <a:srgbClr val="F59E0B"/>
                </a:solidFill>
                <a:latin typeface="Aptos Display"/>
                <a:ea typeface="Aptos Display"/>
              </a:rPr>
              <a:t>Finer-looking detail</a:t>
            </a:r>
          </a:p>
          <a:p>
            <a:br/>
            <a:r>
              <a:rPr sz="1700">
                <a:solidFill>
                  <a:srgbClr val="F7FBFC"/>
                </a:solidFill>
                <a:latin typeface="Aptos"/>
                <a:ea typeface="Aptos"/>
              </a:rPr>
              <a:t>Spatial structures appear more detailed.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1B0CD0C0-2A98-480D-99A7-00C786F4FB77}"/>
              </a:ext>
            </a:extLst>
          </p:cNvPr>
          <p:cNvSpPr/>
          <p:nvPr/>
        </p:nvSpPr>
        <p:spPr>
          <a:xfrm>
            <a:off x="8191500" y="1428750"/>
            <a:ext cx="3381375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20FCF178-D950-4528-9B6A-2E79F6BB3651}"/>
              </a:ext>
            </a:extLst>
          </p:cNvPr>
          <p:cNvSpPr txBox="1"/>
          <p:nvPr/>
        </p:nvSpPr>
        <p:spPr>
          <a:xfrm>
            <a:off x="8477250" y="1762125"/>
            <a:ext cx="2809875" cy="1143000"/>
          </a:xfrm>
        </p:spPr>
        <p:txBody>
          <a:bodyPr wrap="square" rtlCol="0" lIns="0" tIns="0" rIns="0" bIns="0" anchor="t"/>
          <a:lstStyle/>
          <a:p>
            <a:r>
              <a:rPr sz="2300" b="1">
                <a:solidFill>
                  <a:srgbClr val="1DA7A7"/>
                </a:solidFill>
                <a:latin typeface="Aptos Display"/>
                <a:ea typeface="Aptos Display"/>
              </a:rPr>
              <a:t>Steps cost compute</a:t>
            </a:r>
          </a:p>
          <a:p>
            <a:br/>
            <a:r>
              <a:rPr sz="1700">
                <a:solidFill>
                  <a:srgbClr val="102A3A"/>
                </a:solidFill>
                <a:latin typeface="Aptos"/>
                <a:ea typeface="Aptos"/>
              </a:rPr>
              <a:t>More DDIM steps do not change scale.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5DD93411-996F-405D-92E4-5572569A7DC0}"/>
              </a:ext>
            </a:extLst>
          </p:cNvPr>
          <p:cNvSpPr/>
          <p:nvPr/>
        </p:nvSpPr>
        <p:spPr>
          <a:xfrm>
            <a:off x="619125" y="3619500"/>
            <a:ext cx="3381375" cy="18097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C13867C7-2B9C-4B11-9F35-7FCBDF51390D}"/>
              </a:ext>
            </a:extLst>
          </p:cNvPr>
          <p:cNvSpPr txBox="1"/>
          <p:nvPr/>
        </p:nvSpPr>
        <p:spPr>
          <a:xfrm>
            <a:off x="904875" y="3952875"/>
            <a:ext cx="2809875" cy="1143000"/>
          </a:xfrm>
        </p:spPr>
        <p:txBody>
          <a:bodyPr wrap="square" rtlCol="0" lIns="0" tIns="0" rIns="0" bIns="0" anchor="t"/>
          <a:lstStyle/>
          <a:p>
            <a:r>
              <a:rPr sz="2300" b="1">
                <a:solidFill>
                  <a:srgbClr val="1DA7A7"/>
                </a:solidFill>
                <a:latin typeface="Aptos Display"/>
                <a:ea typeface="Aptos Display"/>
              </a:rPr>
              <a:t>MAX_PATCHES</a:t>
            </a:r>
          </a:p>
          <a:p>
            <a:br/>
            <a:r>
              <a:rPr sz="1700">
                <a:solidFill>
                  <a:srgbClr val="102A3A"/>
                </a:solidFill>
                <a:latin typeface="Aptos"/>
                <a:ea typeface="Aptos"/>
              </a:rPr>
              <a:t>Controls workload capacity, not quality.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7DC54E3E-77E8-413B-B23B-B8006C2042B7}"/>
              </a:ext>
            </a:extLst>
          </p:cNvPr>
          <p:cNvSpPr/>
          <p:nvPr/>
        </p:nvSpPr>
        <p:spPr>
          <a:xfrm>
            <a:off x="4410075" y="3619500"/>
            <a:ext cx="3381375" cy="180975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C2405B96-A3DE-4439-B6C3-368C64706B27}"/>
              </a:ext>
            </a:extLst>
          </p:cNvPr>
          <p:cNvSpPr txBox="1"/>
          <p:nvPr/>
        </p:nvSpPr>
        <p:spPr>
          <a:xfrm>
            <a:off x="4695825" y="3952875"/>
            <a:ext cx="2809875" cy="1143000"/>
          </a:xfrm>
        </p:spPr>
        <p:txBody>
          <a:bodyPr wrap="square" rtlCol="0" lIns="0" tIns="0" rIns="0" bIns="0" anchor="t"/>
          <a:lstStyle/>
          <a:p>
            <a:r>
              <a:rPr sz="2300" b="1">
                <a:solidFill>
                  <a:srgbClr val="0C6F73"/>
                </a:solidFill>
                <a:latin typeface="Aptos Display"/>
                <a:ea typeface="Aptos Display"/>
              </a:rPr>
              <a:t>Spectral fidelity</a:t>
            </a:r>
          </a:p>
          <a:p>
            <a:br/>
            <a:r>
              <a:rPr sz="1700">
                <a:solidFill>
                  <a:srgbClr val="102A3A"/>
                </a:solidFill>
                <a:latin typeface="Aptos"/>
                <a:ea typeface="Aptos"/>
              </a:rPr>
              <a:t>Must accompany visual sharpness.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49E81020-E235-4220-A91D-C2B39CB88FBC}"/>
              </a:ext>
            </a:extLst>
          </p:cNvPr>
          <p:cNvSpPr/>
          <p:nvPr/>
        </p:nvSpPr>
        <p:spPr>
          <a:xfrm>
            <a:off x="8191500" y="3619500"/>
            <a:ext cx="3381375" cy="180975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59E0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0E713207-73D8-4021-9FCB-799408CDB695}"/>
              </a:ext>
            </a:extLst>
          </p:cNvPr>
          <p:cNvSpPr txBox="1"/>
          <p:nvPr/>
        </p:nvSpPr>
        <p:spPr>
          <a:xfrm>
            <a:off x="8477250" y="3952875"/>
            <a:ext cx="2809875" cy="1143000"/>
          </a:xfrm>
        </p:spPr>
        <p:txBody>
          <a:bodyPr wrap="square" rtlCol="0" lIns="0" tIns="0" rIns="0" bIns="0" anchor="t"/>
          <a:lstStyle/>
          <a:p>
            <a:r>
              <a:rPr sz="2300" b="1">
                <a:solidFill>
                  <a:srgbClr val="8A5500"/>
                </a:solidFill>
                <a:latin typeface="Aptos Display"/>
                <a:ea typeface="Aptos Display"/>
              </a:rPr>
              <a:t>Interpret carefully</a:t>
            </a:r>
          </a:p>
          <a:p>
            <a:br/>
            <a:r>
              <a:rPr sz="1700">
                <a:solidFill>
                  <a:srgbClr val="102A3A"/>
                </a:solidFill>
                <a:latin typeface="Aptos"/>
                <a:ea typeface="Aptos"/>
              </a:rPr>
              <a:t>Visual and quantitative gains can diverge.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E7E56FE-E93C-4D86-B34F-D6651634B053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Evaluation Metrics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F1206703-38A0-494B-B4AB-F7BA6FA8C888}"/>
              </a:ext>
            </a:extLst>
          </p:cNvPr>
          <p:cNvSpPr/>
          <p:nvPr/>
        </p:nvSpPr>
        <p:spPr>
          <a:xfrm>
            <a:off x="666750" y="1476375"/>
            <a:ext cx="5191125" cy="38100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83D0A7D6-4B33-4AA2-998B-8AB614C9AD75}"/>
              </a:ext>
            </a:extLst>
          </p:cNvPr>
          <p:cNvSpPr txBox="1"/>
          <p:nvPr/>
        </p:nvSpPr>
        <p:spPr>
          <a:xfrm>
            <a:off x="1047750" y="1857375"/>
            <a:ext cx="4429125" cy="523875"/>
          </a:xfrm>
        </p:spPr>
        <p:txBody>
          <a:bodyPr wrap="square" rtlCol="0" lIns="0" tIns="0" rIns="0" bIns="0" anchor="t"/>
          <a:lstStyle/>
          <a:p>
            <a:r>
              <a:rPr sz="3000" b="1">
                <a:solidFill>
                  <a:srgbClr val="F59E0B"/>
                </a:solidFill>
                <a:latin typeface="Aptos Display"/>
                <a:ea typeface="Aptos Display"/>
              </a:rPr>
              <a:t>PSNR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098B8120-46EE-40A4-8934-E85E56A2011E}"/>
              </a:ext>
            </a:extLst>
          </p:cNvPr>
          <p:cNvSpPr txBox="1"/>
          <p:nvPr/>
        </p:nvSpPr>
        <p:spPr>
          <a:xfrm>
            <a:off x="1047750" y="2619375"/>
            <a:ext cx="4429125" cy="904875"/>
          </a:xfrm>
        </p:spPr>
        <p:txBody>
          <a:bodyPr wrap="square" rtlCol="0" lIns="0" tIns="0" rIns="0" bIns="0" anchor="t"/>
          <a:lstStyle/>
          <a:p>
            <a:pPr algn="ctr"/>
            <a:r>
              <a:rPr sz="2800" b="1">
                <a:solidFill>
                  <a:srgbClr val="F7FBFC"/>
                </a:solidFill>
                <a:latin typeface="Aptos"/>
                <a:ea typeface="Aptos"/>
              </a:rPr>
              <a:t>10 log₁₀(MAXI² / MSE)</a:t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253C69AD-66EB-4977-936D-738B622E23AB}"/>
              </a:ext>
            </a:extLst>
          </p:cNvPr>
          <p:cNvSpPr txBox="1"/>
          <p:nvPr/>
        </p:nvSpPr>
        <p:spPr>
          <a:xfrm>
            <a:off x="1047750" y="3857625"/>
            <a:ext cx="4429125" cy="95250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B8D5DD"/>
                </a:solidFill>
                <a:latin typeface="Aptos"/>
                <a:ea typeface="Aptos"/>
              </a:rPr>
              <a:t>Peak Signal-to-Noise Ratio</a:t>
            </a:r>
            <a:br/>
            <a:r>
              <a:rPr sz="1800">
                <a:solidFill>
                  <a:srgbClr val="B8D5DD"/>
                </a:solidFill>
                <a:latin typeface="Aptos"/>
                <a:ea typeface="Aptos"/>
              </a:rPr>
              <a:t>Higher generally means lower pixel-wise error.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AECF115B-3560-4F75-B38D-D3DBFB270B36}"/>
              </a:ext>
            </a:extLst>
          </p:cNvPr>
          <p:cNvSpPr/>
          <p:nvPr/>
        </p:nvSpPr>
        <p:spPr>
          <a:xfrm>
            <a:off x="6334125" y="1476375"/>
            <a:ext cx="5191125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51F001C0-50B2-4330-9577-8FEBCFC07EE9}"/>
              </a:ext>
            </a:extLst>
          </p:cNvPr>
          <p:cNvSpPr txBox="1"/>
          <p:nvPr/>
        </p:nvSpPr>
        <p:spPr>
          <a:xfrm>
            <a:off x="6715125" y="1857375"/>
            <a:ext cx="4429125" cy="523875"/>
          </a:xfrm>
        </p:spPr>
        <p:txBody>
          <a:bodyPr wrap="square" rtlCol="0" lIns="0" tIns="0" rIns="0" bIns="0" anchor="t"/>
          <a:lstStyle/>
          <a:p>
            <a:r>
              <a:rPr sz="3000" b="1">
                <a:solidFill>
                  <a:srgbClr val="1DA7A7"/>
                </a:solidFill>
                <a:latin typeface="Aptos Display"/>
                <a:ea typeface="Aptos Display"/>
              </a:rPr>
              <a:t>MSE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EF250F6E-71BB-4B96-979B-1F31FB295C2F}"/>
              </a:ext>
            </a:extLst>
          </p:cNvPr>
          <p:cNvSpPr txBox="1"/>
          <p:nvPr/>
        </p:nvSpPr>
        <p:spPr>
          <a:xfrm>
            <a:off x="6715125" y="2619375"/>
            <a:ext cx="4429125" cy="904875"/>
          </a:xfrm>
        </p:spPr>
        <p:txBody>
          <a:bodyPr wrap="square" rtlCol="0" lIns="0" tIns="0" rIns="0" bIns="0" anchor="t"/>
          <a:lstStyle/>
          <a:p>
            <a:pPr algn="ctr"/>
            <a:r>
              <a:rPr sz="2800" b="1">
                <a:solidFill>
                  <a:srgbClr val="102A3A"/>
                </a:solidFill>
                <a:latin typeface="Aptos"/>
                <a:ea typeface="Aptos"/>
              </a:rPr>
              <a:t>(1/N) Σ (xi − x̂i)²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9F8EC019-B8B9-4975-A1A8-5BCAE5A4CD8A}"/>
              </a:ext>
            </a:extLst>
          </p:cNvPr>
          <p:cNvSpPr txBox="1"/>
          <p:nvPr/>
        </p:nvSpPr>
        <p:spPr>
          <a:xfrm>
            <a:off x="6715125" y="3857625"/>
            <a:ext cx="4429125" cy="95250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Mean Squared Error</a:t>
            </a:r>
            <a:br/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Measures average squared reconstruction error.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93DFBAA-58E1-4AEC-877D-7AF602B74017}"/>
              </a:ext>
            </a:extLst>
          </p:cNvPr>
          <p:cNvSpPr txBox="1"/>
          <p:nvPr/>
        </p:nvSpPr>
        <p:spPr>
          <a:xfrm>
            <a:off x="2428875" y="5715000"/>
            <a:ext cx="7334250" cy="640080"/>
          </a:xfrm>
        </p:spPr>
        <p:txBody>
          <a:bodyPr wrap="square" rtlCol="0" lIns="0" tIns="0" rIns="0" bIns="0" anchor="t"/>
          <a:lstStyle/>
          <a:p>
            <a:pPr algn="ctr"/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Metrics quantify fidelity; they do not replace scientific interpretation.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C6F2F1D7-D4E0-4142-88D5-263BB6FF4ABA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SSIM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BA6BF84A-1490-4118-A1D4-5BF8B217B239}"/>
              </a:ext>
            </a:extLst>
          </p:cNvPr>
          <p:cNvSpPr txBox="1"/>
          <p:nvPr/>
        </p:nvSpPr>
        <p:spPr>
          <a:xfrm>
            <a:off x="628650" y="990600"/>
            <a:ext cx="8572500" cy="428625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Structural Similarity Index compares image structure—not only pixel error.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7348CF59-675F-4CAF-98B3-1280F789A889}"/>
              </a:ext>
            </a:extLst>
          </p:cNvPr>
          <p:cNvSpPr/>
          <p:nvPr/>
        </p:nvSpPr>
        <p:spPr>
          <a:xfrm>
            <a:off x="666750" y="1952625"/>
            <a:ext cx="2381250" cy="2381250"/>
          </a:xfrm>
          <a:prstGeom prst="ellipse">
            <a:avLst/>
          </a:prstGeom>
          <a:solidFill>
            <a:srgbClr val="DDF3F2"/>
          </a:solidFill>
          <a:ln w="254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B6952BF4-7803-44ED-813C-409F6EEE6ABF}"/>
              </a:ext>
            </a:extLst>
          </p:cNvPr>
          <p:cNvSpPr txBox="1"/>
          <p:nvPr/>
        </p:nvSpPr>
        <p:spPr>
          <a:xfrm>
            <a:off x="904875" y="2714625"/>
            <a:ext cx="1905000" cy="714375"/>
          </a:xfrm>
        </p:spPr>
        <p:txBody>
          <a:bodyPr wrap="square" rtlCol="0" lIns="0" tIns="0" rIns="0" bIns="0" anchor="t"/>
          <a:lstStyle/>
          <a:p>
            <a:pPr algn="ctr"/>
            <a:r>
              <a:rPr sz="2300" b="1">
                <a:solidFill>
                  <a:srgbClr val="0C6F73"/>
                </a:solidFill>
                <a:latin typeface="Aptos"/>
                <a:ea typeface="Aptos"/>
              </a:rPr>
              <a:t>Luminance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9E721B68-810E-4F30-ABC5-D3F8DE4E79B5}"/>
              </a:ext>
            </a:extLst>
          </p:cNvPr>
          <p:cNvSpPr/>
          <p:nvPr/>
        </p:nvSpPr>
        <p:spPr>
          <a:xfrm>
            <a:off x="3476625" y="1952625"/>
            <a:ext cx="2381250" cy="2381250"/>
          </a:xfrm>
          <a:prstGeom prst="ellipse">
            <a:avLst/>
          </a:prstGeom>
          <a:solidFill>
            <a:srgbClr val="DDF3F2"/>
          </a:solidFill>
          <a:ln w="254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9325AA27-8211-490C-91FE-5CBD373B7B8E}"/>
              </a:ext>
            </a:extLst>
          </p:cNvPr>
          <p:cNvSpPr txBox="1"/>
          <p:nvPr/>
        </p:nvSpPr>
        <p:spPr>
          <a:xfrm>
            <a:off x="3714750" y="2714625"/>
            <a:ext cx="1905000" cy="714375"/>
          </a:xfrm>
        </p:spPr>
        <p:txBody>
          <a:bodyPr wrap="square" rtlCol="0" lIns="0" tIns="0" rIns="0" bIns="0" anchor="t"/>
          <a:lstStyle/>
          <a:p>
            <a:pPr algn="ctr"/>
            <a:r>
              <a:rPr sz="2300" b="1">
                <a:solidFill>
                  <a:srgbClr val="0C6F73"/>
                </a:solidFill>
                <a:latin typeface="Aptos"/>
                <a:ea typeface="Aptos"/>
              </a:rPr>
              <a:t>Contrast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B3322151-B0F8-452E-B1DF-152E19A3B7F2}"/>
              </a:ext>
            </a:extLst>
          </p:cNvPr>
          <p:cNvSpPr/>
          <p:nvPr/>
        </p:nvSpPr>
        <p:spPr>
          <a:xfrm>
            <a:off x="6286500" y="1952625"/>
            <a:ext cx="2381250" cy="2381250"/>
          </a:xfrm>
          <a:prstGeom prst="ellipse">
            <a:avLst/>
          </a:prstGeom>
          <a:solidFill>
            <a:srgbClr val="DDF3F2"/>
          </a:solidFill>
          <a:ln w="254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5C2F257F-B992-4861-95E9-5A141DB17F5B}"/>
              </a:ext>
            </a:extLst>
          </p:cNvPr>
          <p:cNvSpPr txBox="1"/>
          <p:nvPr/>
        </p:nvSpPr>
        <p:spPr>
          <a:xfrm>
            <a:off x="6524625" y="2714625"/>
            <a:ext cx="1905000" cy="714375"/>
          </a:xfrm>
        </p:spPr>
        <p:txBody>
          <a:bodyPr wrap="square" rtlCol="0" lIns="0" tIns="0" rIns="0" bIns="0" anchor="t"/>
          <a:lstStyle/>
          <a:p>
            <a:pPr algn="ctr"/>
            <a:r>
              <a:rPr sz="2300" b="1">
                <a:solidFill>
                  <a:srgbClr val="0C6F73"/>
                </a:solidFill>
                <a:latin typeface="Aptos"/>
                <a:ea typeface="Aptos"/>
              </a:rPr>
              <a:t>Structure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636DB1B-ECFC-450D-9D8E-26DA1A034FA7}"/>
              </a:ext>
            </a:extLst>
          </p:cNvPr>
          <p:cNvSpPr/>
          <p:nvPr/>
        </p:nvSpPr>
        <p:spPr>
          <a:xfrm>
            <a:off x="9096375" y="1762125"/>
            <a:ext cx="2476500" cy="276225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4D63FFB1-3EE7-492B-AABE-E9594D228493}"/>
              </a:ext>
            </a:extLst>
          </p:cNvPr>
          <p:cNvSpPr txBox="1"/>
          <p:nvPr/>
        </p:nvSpPr>
        <p:spPr>
          <a:xfrm>
            <a:off x="9429750" y="2238375"/>
            <a:ext cx="1809750" cy="1809750"/>
          </a:xfrm>
        </p:spPr>
        <p:txBody>
          <a:bodyPr wrap="square" rtlCol="0" lIns="0" tIns="0" rIns="0" bIns="0" anchor="t"/>
          <a:lstStyle/>
          <a:p>
            <a:pPr algn="ctr"/>
            <a:r>
              <a:rPr sz="2800" b="1">
                <a:solidFill>
                  <a:srgbClr val="F7FBFC"/>
                </a:solidFill>
                <a:latin typeface="Aptos Display"/>
                <a:ea typeface="Aptos Display"/>
              </a:rPr>
              <a:t>SSIM(x,y)</a:t>
            </a:r>
          </a:p>
          <a:p>
            <a:pPr algn="ctr"/>
            <a:r>
              <a:rPr sz="2000" b="1">
                <a:solidFill>
                  <a:srgbClr val="F59E0B"/>
                </a:solidFill>
                <a:latin typeface="Aptos"/>
                <a:ea typeface="Aptos"/>
              </a:rPr>
              <a:t>= l(x,y)c(x,y)s(x,y)</a:t>
            </a:r>
          </a:p>
          <a:p>
            <a:pPr algn="ctr"/>
            <a:r>
              <a:rPr sz="1700">
                <a:solidFill>
                  <a:srgbClr val="B8D5DD"/>
                </a:solidFill>
                <a:latin typeface="Aptos"/>
                <a:ea typeface="Aptos"/>
              </a:rPr>
              <a:t>closer to 1 is better</a:t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FCB9418C-0F9B-4CF1-9044-7B3E9660319B}"/>
              </a:ext>
            </a:extLst>
          </p:cNvPr>
          <p:cNvSpPr txBox="1"/>
          <p:nvPr/>
        </p:nvSpPr>
        <p:spPr>
          <a:xfrm>
            <a:off x="2190750" y="5334000"/>
            <a:ext cx="7810500" cy="666750"/>
          </a:xfrm>
        </p:spPr>
        <p:txBody>
          <a:bodyPr wrap="square" rtlCol="0" lIns="0" tIns="0" rIns="0" bIns="0" anchor="t"/>
          <a:lstStyle/>
          <a:p>
            <a:pPr algn="ctr"/>
            <a:r>
              <a:rPr sz="2200" b="1">
                <a:solidFill>
                  <a:srgbClr val="102A3A"/>
                </a:solidFill>
                <a:latin typeface="Aptos"/>
                <a:ea typeface="Aptos"/>
              </a:rPr>
              <a:t>SSIM asks whether the reconstructed image preserves perceived structure.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A08442E-330C-4723-B67A-5DBF8CF64205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RMSE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2C2261D-4A9C-4701-B895-E4A0D8A59646}"/>
              </a:ext>
            </a:extLst>
          </p:cNvPr>
          <p:cNvSpPr/>
          <p:nvPr/>
        </p:nvSpPr>
        <p:spPr>
          <a:xfrm>
            <a:off x="1285875" y="1619250"/>
            <a:ext cx="9620250" cy="20955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0D4CD41C-3FF5-463F-BACD-E57538D235B7}"/>
              </a:ext>
            </a:extLst>
          </p:cNvPr>
          <p:cNvSpPr txBox="1"/>
          <p:nvPr/>
        </p:nvSpPr>
        <p:spPr>
          <a:xfrm>
            <a:off x="1714500" y="2238375"/>
            <a:ext cx="8763000" cy="952500"/>
          </a:xfrm>
        </p:spPr>
        <p:txBody>
          <a:bodyPr wrap="square" rtlCol="0" lIns="0" tIns="0" rIns="0" bIns="0" anchor="t"/>
          <a:lstStyle/>
          <a:p>
            <a:pPr algn="ctr"/>
            <a:r>
              <a:rPr sz="3800" b="1">
                <a:solidFill>
                  <a:srgbClr val="F7FBFC"/>
                </a:solidFill>
                <a:latin typeface="Aptos Display"/>
                <a:ea typeface="Aptos Display"/>
              </a:rPr>
              <a:t>RMSE = √[(1/N) Σ (xi − x̂i)²]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F68F8C3-2979-4C70-8CF1-EAB1F3D38C2E}"/>
              </a:ext>
            </a:extLst>
          </p:cNvPr>
          <p:cNvSpPr/>
          <p:nvPr/>
        </p:nvSpPr>
        <p:spPr>
          <a:xfrm>
            <a:off x="2190750" y="4333875"/>
            <a:ext cx="3143250" cy="1285875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CA193894-283E-4CAF-8382-F65DCC0BBB10}"/>
              </a:ext>
            </a:extLst>
          </p:cNvPr>
          <p:cNvSpPr txBox="1"/>
          <p:nvPr/>
        </p:nvSpPr>
        <p:spPr>
          <a:xfrm>
            <a:off x="2524125" y="4619625"/>
            <a:ext cx="2476500" cy="762000"/>
          </a:xfrm>
        </p:spPr>
        <p:txBody>
          <a:bodyPr wrap="square" rtlCol="0" lIns="0" tIns="0" rIns="0" bIns="0" anchor="t"/>
          <a:lstStyle/>
          <a:p>
            <a:pPr algn="ctr"/>
            <a:r>
              <a:rPr sz="3000" b="1">
                <a:solidFill>
                  <a:srgbClr val="1DA7A7"/>
                </a:solidFill>
                <a:latin typeface="Aptos Display"/>
                <a:ea typeface="Aptos Display"/>
              </a:rPr>
              <a:t>LOWER</a:t>
            </a:r>
          </a:p>
          <a:p>
            <a:pPr algn="ctr"/>
            <a:r>
              <a:rPr sz="1700">
                <a:solidFill>
                  <a:srgbClr val="102A3A"/>
                </a:solidFill>
                <a:latin typeface="Aptos"/>
                <a:ea typeface="Aptos"/>
              </a:rPr>
              <a:t>reconstruction error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FDCC2C82-88BC-43ED-B14B-10335A91D00A}"/>
              </a:ext>
            </a:extLst>
          </p:cNvPr>
          <p:cNvSpPr/>
          <p:nvPr/>
        </p:nvSpPr>
        <p:spPr>
          <a:xfrm>
            <a:off x="5619750" y="4667250"/>
            <a:ext cx="952500" cy="571500"/>
          </a:xfrm>
          <a:prstGeom prst="righ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96F9AAF7-3BB6-4241-A3AB-CECF099AD48B}"/>
              </a:ext>
            </a:extLst>
          </p:cNvPr>
          <p:cNvSpPr/>
          <p:nvPr/>
        </p:nvSpPr>
        <p:spPr>
          <a:xfrm>
            <a:off x="6858000" y="4333875"/>
            <a:ext cx="3143250" cy="12858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D1B6DB6F-DBA5-479C-9EFD-C30695BE2E8C}"/>
              </a:ext>
            </a:extLst>
          </p:cNvPr>
          <p:cNvSpPr txBox="1"/>
          <p:nvPr/>
        </p:nvSpPr>
        <p:spPr>
          <a:xfrm>
            <a:off x="7191375" y="4619625"/>
            <a:ext cx="2476500" cy="762000"/>
          </a:xfrm>
        </p:spPr>
        <p:txBody>
          <a:bodyPr wrap="square" rtlCol="0" lIns="0" tIns="0" rIns="0" bIns="0" anchor="t"/>
          <a:lstStyle/>
          <a:p>
            <a:pPr algn="ctr"/>
            <a:r>
              <a:rPr sz="3000" b="1">
                <a:solidFill>
                  <a:srgbClr val="102A3A"/>
                </a:solidFill>
                <a:latin typeface="Aptos Display"/>
                <a:ea typeface="Aptos Display"/>
              </a:rPr>
              <a:t>BETTER</a:t>
            </a:r>
          </a:p>
          <a:p>
            <a:pPr algn="ctr"/>
            <a:r>
              <a:rPr sz="1700">
                <a:solidFill>
                  <a:srgbClr val="54717D"/>
                </a:solidFill>
                <a:latin typeface="Aptos"/>
                <a:ea typeface="Aptos"/>
              </a:rPr>
              <a:t>pixel-wise agreement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A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A0268519-2859-4870-B902-43553712BCA0}"/>
              </a:ext>
            </a:extLst>
          </p:cNvPr>
          <p:cNvSpPr txBox="1"/>
          <p:nvPr/>
        </p:nvSpPr>
        <p:spPr>
          <a:xfrm>
            <a:off x="609600" y="400050"/>
            <a:ext cx="85725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Important Evaluation Result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89DBCB7-D673-48D7-B7E3-F0944F4AF534}"/>
              </a:ext>
            </a:extLst>
          </p:cNvPr>
          <p:cNvSpPr txBox="1"/>
          <p:nvPr/>
        </p:nvSpPr>
        <p:spPr>
          <a:xfrm>
            <a:off x="628650" y="1000125"/>
            <a:ext cx="8572500" cy="38100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54717D"/>
                </a:solidFill>
                <a:latin typeface="Aptos"/>
                <a:ea typeface="Aptos"/>
              </a:rPr>
              <a:t>Small cross-sensor test—use for discussion, not definitive ranking.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0C0904C9-CA80-495F-98F3-B618DF024E27}"/>
              </a:ext>
            </a:extLst>
          </p:cNvPr>
          <p:cNvSpPr/>
          <p:nvPr/>
        </p:nvSpPr>
        <p:spPr>
          <a:xfrm>
            <a:off x="619125" y="1666875"/>
            <a:ext cx="6953250" cy="304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2E87F94-3C99-40ED-9262-20D0FD3952D3}"/>
              </a:ext>
            </a:extLst>
          </p:cNvPr>
          <p:cNvSpPr/>
          <p:nvPr/>
        </p:nvSpPr>
        <p:spPr>
          <a:xfrm>
            <a:off x="904875" y="2047875"/>
            <a:ext cx="6381750" cy="523875"/>
          </a:xfrm>
          <a:prstGeom prst="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F4355E2B-4902-4D7E-9D2D-3ED1F9AAC032}"/>
              </a:ext>
            </a:extLst>
          </p:cNvPr>
          <p:cNvSpPr txBox="1"/>
          <p:nvPr/>
        </p:nvSpPr>
        <p:spPr>
          <a:xfrm>
            <a:off x="1095375" y="2152650"/>
            <a:ext cx="6000750" cy="333375"/>
          </a:xfrm>
        </p:spPr>
        <p:txBody>
          <a:bodyPr wrap="square" rtlCol="0" lIns="0" tIns="0" rIns="0" bIns="0" anchor="t"/>
          <a:lstStyle/>
          <a:p>
            <a:r>
              <a:rPr sz="1700" b="1">
                <a:solidFill>
                  <a:srgbClr val="F7FBFC"/>
                </a:solidFill>
                <a:latin typeface="Aptos"/>
                <a:ea typeface="Aptos"/>
              </a:rPr>
              <a:t>METHOD               PSNR          SSIM          RMSE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81BAF4B9-063A-482B-8647-3CE36C3D9A9C}"/>
              </a:ext>
            </a:extLst>
          </p:cNvPr>
          <p:cNvSpPr txBox="1"/>
          <p:nvPr/>
        </p:nvSpPr>
        <p:spPr>
          <a:xfrm>
            <a:off x="1095375" y="2857500"/>
            <a:ext cx="6000750" cy="523875"/>
          </a:xfrm>
        </p:spPr>
        <p:txBody>
          <a:bodyPr wrap="square" rtlCol="0" lIns="0" tIns="0" rIns="0" bIns="0" anchor="t"/>
          <a:lstStyle/>
          <a:p>
            <a:r>
              <a:rPr sz="1900" b="1">
                <a:solidFill>
                  <a:srgbClr val="102A3A"/>
                </a:solidFill>
                <a:latin typeface="Aptos"/>
                <a:ea typeface="Aptos"/>
              </a:rPr>
              <a:t>Bicubic               18.346 dB     0.3928        0.01238</a:t>
            </a:r>
          </a:p>
        </p:txBody>
      </p:sp>
      <p:cxnSp>
        <p:nvCxnSpPr>
          <p:cNvPr id="9" name="Straight Connector 9">
            <a:extLst>
              <a:ext uri="{FF2B5EF4-FFF2-40B4-BE49-F238E27FC236}">
                <a16:creationId xmlns:a16="http://schemas.microsoft.com/office/drawing/2014/main" id="{14A4CE59-2419-465F-AAB5-AD66062CEFAB}"/>
              </a:ext>
            </a:extLst>
          </p:cNvPr>
          <p:cNvCxnSpPr/>
          <p:nvPr/>
        </p:nvCxnSpPr>
        <p:spPr>
          <a:xfrm>
            <a:off x="1000125" y="3571875"/>
            <a:ext cx="6096000" cy="9525"/>
          </a:xfrm>
          <a:prstGeom prst="line">
            <a:avLst/>
          </a:prstGeom>
          <a:ln w="12700" cap="flat">
            <a:solidFill>
              <a:srgbClr val="C8D9DF"/>
            </a:solidFill>
          </a:ln>
        </p:spPr>
      </p:cxnSp>
      <p:sp>
        <p:nvSpPr>
          <p:cNvPr id="10" name="TextBox 10">
            <a:extLst>
              <a:ext uri="{FF2B5EF4-FFF2-40B4-BE49-F238E27FC236}">
                <a16:creationId xmlns:a16="http://schemas.microsoft.com/office/drawing/2014/main" id="{FE7E3C6E-57A8-498F-BD36-C95ABB2C9748}"/>
              </a:ext>
            </a:extLst>
          </p:cNvPr>
          <p:cNvSpPr txBox="1"/>
          <p:nvPr/>
        </p:nvSpPr>
        <p:spPr>
          <a:xfrm>
            <a:off x="1095375" y="3810000"/>
            <a:ext cx="6000750" cy="523875"/>
          </a:xfrm>
        </p:spPr>
        <p:txBody>
          <a:bodyPr wrap="square" rtlCol="0" lIns="0" tIns="0" rIns="0" bIns="0" anchor="t"/>
          <a:lstStyle/>
          <a:p>
            <a:r>
              <a:rPr sz="1900" b="1">
                <a:solidFill>
                  <a:srgbClr val="0C6F73"/>
                </a:solidFill>
                <a:latin typeface="Aptos"/>
                <a:ea typeface="Aptos"/>
              </a:rPr>
              <a:t>LDSR-S2              18.120 dB     0.3753        0.01268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F1C3749D-AAC3-460A-93E5-C284C6FABD8E}"/>
              </a:ext>
            </a:extLst>
          </p:cNvPr>
          <p:cNvSpPr/>
          <p:nvPr/>
        </p:nvSpPr>
        <p:spPr>
          <a:xfrm>
            <a:off x="8048625" y="1666875"/>
            <a:ext cx="3524250" cy="30480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61F21A4-9B11-4F39-9585-2E40634B218C}"/>
              </a:ext>
            </a:extLst>
          </p:cNvPr>
          <p:cNvSpPr txBox="1"/>
          <p:nvPr/>
        </p:nvSpPr>
        <p:spPr>
          <a:xfrm>
            <a:off x="8382000" y="2047875"/>
            <a:ext cx="2857500" cy="2484120"/>
          </a:xfrm>
        </p:spPr>
        <p:txBody>
          <a:bodyPr wrap="square" rtlCol="0" lIns="0" tIns="0" rIns="0" bIns="0" anchor="t"/>
          <a:lstStyle/>
          <a:p>
            <a:r>
              <a:rPr sz="2500" b="1">
                <a:solidFill>
                  <a:srgbClr val="F59E0B"/>
                </a:solidFill>
                <a:latin typeface="Aptos Display"/>
                <a:ea typeface="Aptos Display"/>
              </a:rPr>
              <a:t>Interpretation</a:t>
            </a:r>
          </a:p>
          <a:p>
            <a:br/>
            <a:r>
              <a:rPr sz="1700">
                <a:solidFill>
                  <a:srgbClr val="F7FBFC"/>
                </a:solidFill>
                <a:latin typeface="Aptos"/>
                <a:ea typeface="Aptos"/>
              </a:rPr>
              <a:t>Do not claim LDSR-S2 is better than bicubic from this limited cross-sensor experiment.</a:t>
            </a:r>
            <a:br/>
            <a:br/>
            <a:r>
              <a:rPr sz="1700">
                <a:solidFill>
                  <a:srgbClr val="F7FBFC"/>
                </a:solidFill>
                <a:latin typeface="Aptos"/>
                <a:ea typeface="Aptos"/>
              </a:rPr>
              <a:t>Visual improvement and quantitative improvement are not always the same.</a:t>
            </a:r>
          </a:p>
        </p:txBody>
      </p:sp>
      <p:sp>
        <p:nvSpPr>
          <p:cNvPr id="13" name="Shape 13">
            <a:extLst>
              <a:ext uri="{FF2B5EF4-FFF2-40B4-BE49-F238E27FC236}">
                <a16:creationId xmlns:a16="http://schemas.microsoft.com/office/drawing/2014/main" id="{FF9912DF-CDC8-4B89-A518-F7DFBB0FF190}"/>
              </a:ext>
            </a:extLst>
          </p:cNvPr>
          <p:cNvSpPr/>
          <p:nvPr/>
        </p:nvSpPr>
        <p:spPr>
          <a:xfrm>
            <a:off x="2095500" y="5238750"/>
            <a:ext cx="8001000" cy="714375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59E0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8A5500"/>
                </a:solidFill>
                <a:latin typeface="Aptos"/>
                <a:ea typeface="Aptos"/>
              </a:rPr>
              <a:t>Different sensors and limited samples prevent a definitive model ranking.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BD4E1CB0-EB27-4F55-968D-8E22383CADD9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Limitations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79C99AA1-EF3A-4523-B076-911F871B1F5A}"/>
              </a:ext>
            </a:extLst>
          </p:cNvPr>
          <p:cNvSpPr/>
          <p:nvPr/>
        </p:nvSpPr>
        <p:spPr>
          <a:xfrm>
            <a:off x="619125" y="1333500"/>
            <a:ext cx="3381375" cy="1857375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59E0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1C3A376-CA8C-4124-B377-84C5E0E6021D}"/>
              </a:ext>
            </a:extLst>
          </p:cNvPr>
          <p:cNvSpPr txBox="1"/>
          <p:nvPr/>
        </p:nvSpPr>
        <p:spPr>
          <a:xfrm>
            <a:off x="904875" y="1666875"/>
            <a:ext cx="2809875" cy="1190625"/>
          </a:xfrm>
        </p:spPr>
        <p:txBody>
          <a:bodyPr wrap="square" rtlCol="0" lIns="0" tIns="0" rIns="0" bIns="0" anchor="t"/>
          <a:lstStyle/>
          <a:p>
            <a:r>
              <a:rPr sz="2100" b="1">
                <a:solidFill>
                  <a:srgbClr val="8A5500"/>
                </a:solidFill>
                <a:latin typeface="Aptos Display"/>
                <a:ea typeface="Aptos Display"/>
              </a:rPr>
              <a:t>01  Hallucination</a:t>
            </a:r>
          </a:p>
          <a:p>
            <a:br/>
            <a:r>
              <a:rPr sz="1600">
                <a:solidFill>
                  <a:srgbClr val="102A3A"/>
                </a:solidFill>
                <a:latin typeface="Aptos"/>
                <a:ea typeface="Aptos"/>
              </a:rPr>
              <a:t>Generated detail may not exist.</a:t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2DF0615F-9317-44F1-8EBA-66DC19C5E24A}"/>
              </a:ext>
            </a:extLst>
          </p:cNvPr>
          <p:cNvSpPr/>
          <p:nvPr/>
        </p:nvSpPr>
        <p:spPr>
          <a:xfrm>
            <a:off x="4410075" y="1333500"/>
            <a:ext cx="3381375" cy="1857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A0E8A081-F051-4940-BCF9-3E7454AE8BC1}"/>
              </a:ext>
            </a:extLst>
          </p:cNvPr>
          <p:cNvSpPr txBox="1"/>
          <p:nvPr/>
        </p:nvSpPr>
        <p:spPr>
          <a:xfrm>
            <a:off x="4695825" y="1666875"/>
            <a:ext cx="2809875" cy="1190625"/>
          </a:xfrm>
        </p:spPr>
        <p:txBody>
          <a:bodyPr wrap="square" rtlCol="0" lIns="0" tIns="0" rIns="0" bIns="0" anchor="t"/>
          <a:lstStyle/>
          <a:p>
            <a:r>
              <a:rPr sz="2100" b="1">
                <a:solidFill>
                  <a:srgbClr val="1DA7A7"/>
                </a:solidFill>
                <a:latin typeface="Aptos Display"/>
                <a:ea typeface="Aptos Display"/>
              </a:rPr>
              <a:t>02  Spectral distortion</a:t>
            </a:r>
          </a:p>
          <a:p>
            <a:br/>
            <a:r>
              <a:rPr sz="1600">
                <a:solidFill>
                  <a:srgbClr val="102A3A"/>
                </a:solidFill>
                <a:latin typeface="Aptos"/>
                <a:ea typeface="Aptos"/>
              </a:rPr>
              <a:t>Sharp pixels can carry wrong values.</a:t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013841B4-6ACD-4065-B641-68E27B455227}"/>
              </a:ext>
            </a:extLst>
          </p:cNvPr>
          <p:cNvSpPr/>
          <p:nvPr/>
        </p:nvSpPr>
        <p:spPr>
          <a:xfrm>
            <a:off x="8191500" y="1333500"/>
            <a:ext cx="3381375" cy="1857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489D6816-E7AC-4C77-9A11-2775FF9E9A02}"/>
              </a:ext>
            </a:extLst>
          </p:cNvPr>
          <p:cNvSpPr txBox="1"/>
          <p:nvPr/>
        </p:nvSpPr>
        <p:spPr>
          <a:xfrm>
            <a:off x="8477250" y="1666875"/>
            <a:ext cx="2809875" cy="1190625"/>
          </a:xfrm>
        </p:spPr>
        <p:txBody>
          <a:bodyPr wrap="square" rtlCol="0" lIns="0" tIns="0" rIns="0" bIns="0" anchor="t"/>
          <a:lstStyle/>
          <a:p>
            <a:r>
              <a:rPr sz="2100" b="1">
                <a:solidFill>
                  <a:srgbClr val="1DA7A7"/>
                </a:solidFill>
                <a:latin typeface="Aptos Display"/>
                <a:ea typeface="Aptos Display"/>
              </a:rPr>
              <a:t>03  Computational cost</a:t>
            </a:r>
          </a:p>
          <a:p>
            <a:br/>
            <a:r>
              <a:rPr sz="1600">
                <a:solidFill>
                  <a:srgbClr val="102A3A"/>
                </a:solidFill>
                <a:latin typeface="Aptos"/>
                <a:ea typeface="Aptos"/>
              </a:rPr>
              <a:t>Diffusion repeats denoising steps.</a:t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35363BE2-58FE-413D-8A24-B350B93C8B40}"/>
              </a:ext>
            </a:extLst>
          </p:cNvPr>
          <p:cNvSpPr/>
          <p:nvPr/>
        </p:nvSpPr>
        <p:spPr>
          <a:xfrm>
            <a:off x="619125" y="3571875"/>
            <a:ext cx="3381375" cy="1857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1FAF9CAB-2D91-4EBB-A44E-C2153BDCEC57}"/>
              </a:ext>
            </a:extLst>
          </p:cNvPr>
          <p:cNvSpPr txBox="1"/>
          <p:nvPr/>
        </p:nvSpPr>
        <p:spPr>
          <a:xfrm>
            <a:off x="904875" y="3905250"/>
            <a:ext cx="2809875" cy="1190625"/>
          </a:xfrm>
        </p:spPr>
        <p:txBody>
          <a:bodyPr wrap="square" rtlCol="0" lIns="0" tIns="0" rIns="0" bIns="0" anchor="t"/>
          <a:lstStyle/>
          <a:p>
            <a:r>
              <a:rPr sz="2100" b="1">
                <a:solidFill>
                  <a:srgbClr val="1DA7A7"/>
                </a:solidFill>
                <a:latin typeface="Aptos Display"/>
                <a:ea typeface="Aptos Display"/>
              </a:rPr>
              <a:t>04  Large scenes</a:t>
            </a:r>
          </a:p>
          <a:p>
            <a:br/>
            <a:r>
              <a:rPr sz="1600">
                <a:solidFill>
                  <a:srgbClr val="102A3A"/>
                </a:solidFill>
                <a:latin typeface="Aptos"/>
                <a:ea typeface="Aptos"/>
              </a:rPr>
              <a:t>Require patch-based processing.</a:t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8A9C80CF-93D6-4A3D-9CF4-A10169C96709}"/>
              </a:ext>
            </a:extLst>
          </p:cNvPr>
          <p:cNvSpPr/>
          <p:nvPr/>
        </p:nvSpPr>
        <p:spPr>
          <a:xfrm>
            <a:off x="4410075" y="3571875"/>
            <a:ext cx="3381375" cy="185737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3" name="TextBox 13">
            <a:extLst>
              <a:ext uri="{FF2B5EF4-FFF2-40B4-BE49-F238E27FC236}">
                <a16:creationId xmlns:a16="http://schemas.microsoft.com/office/drawing/2014/main" id="{16D774C3-C4EF-4582-B07A-E2FBF35BE73E}"/>
              </a:ext>
            </a:extLst>
          </p:cNvPr>
          <p:cNvSpPr txBox="1"/>
          <p:nvPr/>
        </p:nvSpPr>
        <p:spPr>
          <a:xfrm>
            <a:off x="4695825" y="3905250"/>
            <a:ext cx="2809875" cy="1190625"/>
          </a:xfrm>
        </p:spPr>
        <p:txBody>
          <a:bodyPr wrap="square" rtlCol="0" lIns="0" tIns="0" rIns="0" bIns="0" anchor="t"/>
          <a:lstStyle/>
          <a:p>
            <a:r>
              <a:rPr sz="2100" b="1">
                <a:solidFill>
                  <a:srgbClr val="1DA7A7"/>
                </a:solidFill>
                <a:latin typeface="Aptos Display"/>
                <a:ea typeface="Aptos Display"/>
              </a:rPr>
              <a:t>05  Reference challenge</a:t>
            </a:r>
          </a:p>
          <a:p>
            <a:br/>
            <a:r>
              <a:rPr sz="1600">
                <a:solidFill>
                  <a:srgbClr val="102A3A"/>
                </a:solidFill>
                <a:latin typeface="Aptos"/>
                <a:ea typeface="Aptos"/>
              </a:rPr>
              <a:t>True 2.5 m Sentinel-2 HR is unavailable.</a:t>
            </a: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D2E42DCA-6CF6-4E3D-8B72-A5C527870833}"/>
              </a:ext>
            </a:extLst>
          </p:cNvPr>
          <p:cNvSpPr/>
          <p:nvPr/>
        </p:nvSpPr>
        <p:spPr>
          <a:xfrm>
            <a:off x="8191500" y="3571875"/>
            <a:ext cx="3381375" cy="1857375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772FC451-C371-46D8-80D8-757A196C2B3B}"/>
              </a:ext>
            </a:extLst>
          </p:cNvPr>
          <p:cNvSpPr txBox="1"/>
          <p:nvPr/>
        </p:nvSpPr>
        <p:spPr>
          <a:xfrm>
            <a:off x="8477250" y="3905250"/>
            <a:ext cx="2809875" cy="1190625"/>
          </a:xfrm>
        </p:spPr>
        <p:txBody>
          <a:bodyPr wrap="square" rtlCol="0" lIns="0" tIns="0" rIns="0" bIns="0" anchor="t"/>
          <a:lstStyle/>
          <a:p>
            <a:r>
              <a:rPr sz="2100" b="1">
                <a:solidFill>
                  <a:srgbClr val="F59E0B"/>
                </a:solidFill>
                <a:latin typeface="Aptos Display"/>
                <a:ea typeface="Aptos Display"/>
              </a:rPr>
              <a:t>06  Cross-sensor limits</a:t>
            </a:r>
          </a:p>
          <a:p>
            <a:br/>
            <a:r>
              <a:rPr sz="1600">
                <a:solidFill>
                  <a:srgbClr val="F7FBFC"/>
                </a:solidFill>
                <a:latin typeface="Aptos"/>
                <a:ea typeface="Aptos"/>
              </a:rPr>
              <a:t>Aerial and Sentinel-2 sensors differ.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85362ECB-87DF-4344-B59E-F0D36397F2B9}"/>
              </a:ext>
            </a:extLst>
          </p:cNvPr>
          <p:cNvSpPr txBox="1"/>
          <p:nvPr/>
        </p:nvSpPr>
        <p:spPr>
          <a:xfrm>
            <a:off x="609600" y="400050"/>
            <a:ext cx="8001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Why We Use Kaggle GPU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A36DDD2-5D28-4666-BAF9-7EC0DBCCF444}"/>
              </a:ext>
            </a:extLst>
          </p:cNvPr>
          <p:cNvSpPr/>
          <p:nvPr/>
        </p:nvSpPr>
        <p:spPr>
          <a:xfrm>
            <a:off x="666750" y="1524000"/>
            <a:ext cx="4095750" cy="381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555AA48D-68D4-4B42-99EB-0A27328086CD}"/>
              </a:ext>
            </a:extLst>
          </p:cNvPr>
          <p:cNvSpPr txBox="1"/>
          <p:nvPr/>
        </p:nvSpPr>
        <p:spPr>
          <a:xfrm>
            <a:off x="1047750" y="1952625"/>
            <a:ext cx="3333750" cy="619125"/>
          </a:xfrm>
        </p:spPr>
        <p:txBody>
          <a:bodyPr wrap="square" rtlCol="0" lIns="0" tIns="0" rIns="0" bIns="0" anchor="t"/>
          <a:lstStyle/>
          <a:p>
            <a:r>
              <a:rPr sz="2700" b="1">
                <a:solidFill>
                  <a:srgbClr val="102A3A"/>
                </a:solidFill>
                <a:latin typeface="Aptos Display"/>
                <a:ea typeface="Aptos Display"/>
              </a:rPr>
              <a:t>Local CPU</a:t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71BE99AB-53B8-43F3-B3C7-1C31DB235477}"/>
              </a:ext>
            </a:extLst>
          </p:cNvPr>
          <p:cNvSpPr txBox="1"/>
          <p:nvPr/>
        </p:nvSpPr>
        <p:spPr>
          <a:xfrm>
            <a:off x="1047750" y="2952750"/>
            <a:ext cx="3333750" cy="1238250"/>
          </a:xfrm>
        </p:spPr>
        <p:txBody>
          <a:bodyPr wrap="square" rtlCol="0" lIns="0" tIns="0" rIns="0" bIns="0" anchor="t"/>
          <a:lstStyle/>
          <a:p>
            <a:pPr algn="ctr"/>
            <a:r>
              <a:rPr sz="2700" b="1">
                <a:solidFill>
                  <a:srgbClr val="54717D"/>
                </a:solidFill>
                <a:latin typeface="Aptos"/>
                <a:ea typeface="Aptos"/>
              </a:rPr>
              <a:t>Repeated diffusion</a:t>
            </a:r>
            <a:br/>
            <a:r>
              <a:rPr sz="2700" b="1">
                <a:solidFill>
                  <a:srgbClr val="54717D"/>
                </a:solidFill>
                <a:latin typeface="Aptos"/>
                <a:ea typeface="Aptos"/>
              </a:rPr>
              <a:t>steps</a:t>
            </a:r>
          </a:p>
          <a:p>
            <a:pPr algn="ctr"/>
            <a:r>
              <a:rPr sz="1800">
                <a:solidFill>
                  <a:srgbClr val="8A5500"/>
                </a:solidFill>
                <a:latin typeface="Aptos"/>
                <a:ea typeface="Aptos"/>
              </a:rPr>
              <a:t>very slow inference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A48B30AF-4E25-411A-A41E-9B0531C29617}"/>
              </a:ext>
            </a:extLst>
          </p:cNvPr>
          <p:cNvSpPr/>
          <p:nvPr/>
        </p:nvSpPr>
        <p:spPr>
          <a:xfrm>
            <a:off x="5048250" y="3000375"/>
            <a:ext cx="1238250" cy="714375"/>
          </a:xfrm>
          <a:prstGeom prst="righ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9F17D765-FA02-44FB-827F-90C8AC335EB9}"/>
              </a:ext>
            </a:extLst>
          </p:cNvPr>
          <p:cNvSpPr/>
          <p:nvPr/>
        </p:nvSpPr>
        <p:spPr>
          <a:xfrm>
            <a:off x="6572250" y="1524000"/>
            <a:ext cx="4953000" cy="381000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9" name="TextBox 9">
            <a:extLst>
              <a:ext uri="{FF2B5EF4-FFF2-40B4-BE49-F238E27FC236}">
                <a16:creationId xmlns:a16="http://schemas.microsoft.com/office/drawing/2014/main" id="{B031C7AD-9F6D-42DC-B9C8-9ABDCC982AC7}"/>
              </a:ext>
            </a:extLst>
          </p:cNvPr>
          <p:cNvSpPr txBox="1"/>
          <p:nvPr/>
        </p:nvSpPr>
        <p:spPr>
          <a:xfrm>
            <a:off x="6953250" y="1952625"/>
            <a:ext cx="4191000" cy="619125"/>
          </a:xfrm>
        </p:spPr>
        <p:txBody>
          <a:bodyPr wrap="square" rtlCol="0" lIns="0" tIns="0" rIns="0" bIns="0" anchor="t"/>
          <a:lstStyle/>
          <a:p>
            <a:r>
              <a:rPr sz="2700" b="1">
                <a:solidFill>
                  <a:srgbClr val="F7FBFC"/>
                </a:solidFill>
                <a:latin typeface="Aptos Display"/>
                <a:ea typeface="Aptos Display"/>
              </a:rPr>
              <a:t>Kaggle acceleration</a:t>
            </a:r>
          </a:p>
        </p:txBody>
      </p:sp>
      <p:sp>
        <p:nvSpPr>
          <p:cNvPr id="10" name="TextBox 10">
            <a:extLst>
              <a:ext uri="{FF2B5EF4-FFF2-40B4-BE49-F238E27FC236}">
                <a16:creationId xmlns:a16="http://schemas.microsoft.com/office/drawing/2014/main" id="{7FFAA2BD-A2A6-43CC-BB91-7BBCB893FC9F}"/>
              </a:ext>
            </a:extLst>
          </p:cNvPr>
          <p:cNvSpPr txBox="1"/>
          <p:nvPr/>
        </p:nvSpPr>
        <p:spPr>
          <a:xfrm>
            <a:off x="6953250" y="2857500"/>
            <a:ext cx="4191000" cy="1828800"/>
          </a:xfrm>
        </p:spPr>
        <p:txBody>
          <a:bodyPr wrap="square" rtlCol="0" lIns="0" tIns="0" rIns="0" bIns="0" anchor="t"/>
          <a:lstStyle/>
          <a:p>
            <a:pPr algn="ctr"/>
            <a:r>
              <a:rPr sz="2400" b="1">
                <a:solidFill>
                  <a:srgbClr val="F59E0B"/>
                </a:solidFill>
                <a:latin typeface="Aptos"/>
                <a:ea typeface="Aptos"/>
              </a:rPr>
              <a:t>Tesla T4</a:t>
            </a:r>
            <a:br/>
            <a:r>
              <a:rPr sz="2400" b="1">
                <a:solidFill>
                  <a:srgbClr val="F59E0B"/>
                </a:solidFill>
                <a:latin typeface="Aptos"/>
                <a:ea typeface="Aptos"/>
              </a:rPr>
              <a:t>↓</a:t>
            </a:r>
            <a:br/>
            <a:r>
              <a:rPr sz="2400" b="1">
                <a:solidFill>
                  <a:srgbClr val="F59E0B"/>
                </a:solidFill>
                <a:latin typeface="Aptos"/>
                <a:ea typeface="Aptos"/>
              </a:rPr>
              <a:t>CUDA</a:t>
            </a:r>
            <a:br/>
            <a:r>
              <a:rPr sz="2400" b="1">
                <a:solidFill>
                  <a:srgbClr val="F59E0B"/>
                </a:solidFill>
                <a:latin typeface="Aptos"/>
                <a:ea typeface="Aptos"/>
              </a:rPr>
              <a:t>↓</a:t>
            </a:r>
            <a:br/>
            <a:r>
              <a:rPr sz="2400" b="1">
                <a:solidFill>
                  <a:srgbClr val="F59E0B"/>
                </a:solidFill>
                <a:latin typeface="Aptos"/>
                <a:ea typeface="Aptos"/>
              </a:rPr>
              <a:t>PyTorch</a:t>
            </a:r>
          </a:p>
        </p:txBody>
      </p:sp>
      <p:sp>
        <p:nvSpPr>
          <p:cNvPr id="11" name="TextBox 11">
            <a:extLst>
              <a:ext uri="{FF2B5EF4-FFF2-40B4-BE49-F238E27FC236}">
                <a16:creationId xmlns:a16="http://schemas.microsoft.com/office/drawing/2014/main" id="{3D71D1D1-5A76-49EF-B57D-0FF10131AF2D}"/>
              </a:ext>
            </a:extLst>
          </p:cNvPr>
          <p:cNvSpPr txBox="1"/>
          <p:nvPr/>
        </p:nvSpPr>
        <p:spPr>
          <a:xfrm>
            <a:off x="6953250" y="4667250"/>
            <a:ext cx="4191000" cy="381000"/>
          </a:xfrm>
        </p:spPr>
        <p:txBody>
          <a:bodyPr wrap="square" rtlCol="0" lIns="0" tIns="0" rIns="0" bIns="0" anchor="t"/>
          <a:lstStyle/>
          <a:p>
            <a:pPr algn="ctr"/>
            <a:r>
              <a:rPr sz="1800" b="1">
                <a:solidFill>
                  <a:srgbClr val="1DA7A7"/>
                </a:solidFill>
                <a:latin typeface="Aptos"/>
                <a:ea typeface="Aptos"/>
              </a:rPr>
              <a:t>faster inference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13253B1C-A62E-4014-B9F3-71BF942F78CD}"/>
              </a:ext>
            </a:extLst>
          </p:cNvPr>
          <p:cNvSpPr txBox="1"/>
          <p:nvPr/>
        </p:nvSpPr>
        <p:spPr>
          <a:xfrm>
            <a:off x="1714500" y="5762625"/>
            <a:ext cx="8763000" cy="428625"/>
          </a:xfrm>
        </p:spPr>
        <p:txBody>
          <a:bodyPr wrap="square" rtlCol="0" lIns="0" tIns="0" rIns="0" bIns="0" anchor="t"/>
          <a:lstStyle/>
          <a:p>
            <a:pPr algn="ctr"/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A GPU turns iterative denoising from a bottleneck into a workable pipeline.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08BF40BB-430F-40FB-9D11-B2E9B47EA35A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200" b="1">
                <a:solidFill>
                  <a:srgbClr val="102A3A"/>
                </a:solidFill>
                <a:latin typeface="Aptos Display"/>
                <a:ea typeface="Aptos Display"/>
              </a:rPr>
              <a:t>Final Workflow</a:t>
            </a:r>
          </a:p>
        </p:txBody>
      </p:sp>
      <p:sp>
        <p:nvSpPr>
          <p:cNvPr id="4" name="Shape 4">
            <a:extLst>
              <a:ext uri="{FF2B5EF4-FFF2-40B4-BE49-F238E27FC236}">
                <a16:creationId xmlns:a16="http://schemas.microsoft.com/office/drawing/2014/main" id="{22F510D4-C3EB-4C86-8742-47E103278A65}"/>
              </a:ext>
            </a:extLst>
          </p:cNvPr>
          <p:cNvSpPr/>
          <p:nvPr/>
        </p:nvSpPr>
        <p:spPr>
          <a:xfrm>
            <a:off x="666750" y="1809750"/>
            <a:ext cx="1714500" cy="100012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D9DF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Sentinel-2</a:t>
            </a:r>
            <a:br/>
            <a:r>
              <a:rPr sz="1700" b="1">
                <a:solidFill>
                  <a:srgbClr val="102A3A"/>
                </a:solidFill>
                <a:latin typeface="Aptos"/>
                <a:ea typeface="Aptos"/>
              </a:rPr>
              <a:t>10 m · RGB+NIR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D47AB2E-0A07-4875-917C-E537159064E5}"/>
              </a:ext>
            </a:extLst>
          </p:cNvPr>
          <p:cNvSpPr/>
          <p:nvPr/>
        </p:nvSpPr>
        <p:spPr>
          <a:xfrm>
            <a:off x="2476500" y="2095500"/>
            <a:ext cx="428625" cy="42862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9F7DB9B-BEC2-4EE2-A0EE-8F97CBA3827A}"/>
              </a:ext>
            </a:extLst>
          </p:cNvPr>
          <p:cNvSpPr/>
          <p:nvPr/>
        </p:nvSpPr>
        <p:spPr>
          <a:xfrm>
            <a:off x="3000375" y="1809750"/>
            <a:ext cx="1714500" cy="1000125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700" b="1">
                <a:solidFill>
                  <a:srgbClr val="0C6F73"/>
                </a:solidFill>
                <a:latin typeface="Aptos"/>
                <a:ea typeface="Aptos"/>
              </a:rPr>
              <a:t>Preprocess</a:t>
            </a:r>
            <a:br/>
            <a:r>
              <a:rPr sz="1700" b="1">
                <a:solidFill>
                  <a:srgbClr val="0C6F73"/>
                </a:solidFill>
                <a:latin typeface="Aptos"/>
                <a:ea typeface="Aptos"/>
              </a:rPr>
              <a:t>4× target size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020BCA39-A4BF-46F4-85E2-5044900A5196}"/>
              </a:ext>
            </a:extLst>
          </p:cNvPr>
          <p:cNvSpPr/>
          <p:nvPr/>
        </p:nvSpPr>
        <p:spPr>
          <a:xfrm>
            <a:off x="4810125" y="2095500"/>
            <a:ext cx="428625" cy="42862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E7058EE6-2B03-40AD-9E9F-B4676E23A739}"/>
              </a:ext>
            </a:extLst>
          </p:cNvPr>
          <p:cNvSpPr/>
          <p:nvPr/>
        </p:nvSpPr>
        <p:spPr>
          <a:xfrm>
            <a:off x="5334000" y="1809750"/>
            <a:ext cx="1714500" cy="1000125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0C6F73"/>
                </a:solidFill>
                <a:latin typeface="Aptos"/>
                <a:ea typeface="Aptos"/>
              </a:rPr>
              <a:t>Latent</a:t>
            </a:r>
            <a:br/>
            <a:r>
              <a:rPr sz="1800" b="1">
                <a:solidFill>
                  <a:srgbClr val="0C6F73"/>
                </a:solidFill>
                <a:latin typeface="Aptos"/>
                <a:ea typeface="Aptos"/>
              </a:rPr>
              <a:t>encoder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04A9135A-BCC3-44D3-84A3-3165B5188E6E}"/>
              </a:ext>
            </a:extLst>
          </p:cNvPr>
          <p:cNvSpPr/>
          <p:nvPr/>
        </p:nvSpPr>
        <p:spPr>
          <a:xfrm>
            <a:off x="7143750" y="2095500"/>
            <a:ext cx="428625" cy="42862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C87F8763-EB6A-4158-B821-CC655B3DF0EF}"/>
              </a:ext>
            </a:extLst>
          </p:cNvPr>
          <p:cNvSpPr/>
          <p:nvPr/>
        </p:nvSpPr>
        <p:spPr>
          <a:xfrm>
            <a:off x="7667625" y="1571625"/>
            <a:ext cx="2000250" cy="1476375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000" b="1">
                <a:solidFill>
                  <a:srgbClr val="F59E0B"/>
                </a:solidFill>
                <a:latin typeface="Aptos"/>
                <a:ea typeface="Aptos"/>
              </a:rPr>
              <a:t>Diffusion</a:t>
            </a:r>
            <a:br/>
            <a:r>
              <a:rPr sz="2000" b="1">
                <a:solidFill>
                  <a:srgbClr val="F59E0B"/>
                </a:solidFill>
                <a:latin typeface="Aptos"/>
                <a:ea typeface="Aptos"/>
              </a:rPr>
              <a:t>+</a:t>
            </a:r>
            <a:br/>
            <a:r>
              <a:rPr sz="2000" b="1">
                <a:solidFill>
                  <a:srgbClr val="F59E0B"/>
                </a:solidFill>
                <a:latin typeface="Aptos"/>
                <a:ea typeface="Aptos"/>
              </a:rPr>
              <a:t>DDIM sampling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5A453A60-38E9-47EF-AFF8-3798E3F2E239}"/>
              </a:ext>
            </a:extLst>
          </p:cNvPr>
          <p:cNvSpPr/>
          <p:nvPr/>
        </p:nvSpPr>
        <p:spPr>
          <a:xfrm>
            <a:off x="9763125" y="2095500"/>
            <a:ext cx="428625" cy="428625"/>
          </a:xfrm>
          <a:prstGeom prst="chevron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2" name="Shape 12">
            <a:extLst>
              <a:ext uri="{FF2B5EF4-FFF2-40B4-BE49-F238E27FC236}">
                <a16:creationId xmlns:a16="http://schemas.microsoft.com/office/drawing/2014/main" id="{49CF5E18-733B-4A57-BAD3-87E264CE87D4}"/>
              </a:ext>
            </a:extLst>
          </p:cNvPr>
          <p:cNvSpPr/>
          <p:nvPr/>
        </p:nvSpPr>
        <p:spPr>
          <a:xfrm>
            <a:off x="10287000" y="1809750"/>
            <a:ext cx="1428750" cy="1000125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1800" b="1">
                <a:solidFill>
                  <a:srgbClr val="0C6F73"/>
                </a:solidFill>
                <a:latin typeface="Aptos"/>
                <a:ea typeface="Aptos"/>
              </a:rPr>
              <a:t>Decoder</a:t>
            </a:r>
          </a:p>
        </p:txBody>
      </p:sp>
      <p:cxnSp>
        <p:nvCxnSpPr>
          <p:cNvPr id="13" name="Straight Connector 13">
            <a:extLst>
              <a:ext uri="{FF2B5EF4-FFF2-40B4-BE49-F238E27FC236}">
                <a16:creationId xmlns:a16="http://schemas.microsoft.com/office/drawing/2014/main" id="{7BCBDC06-7497-46F1-9907-37584714B4ED}"/>
              </a:ext>
            </a:extLst>
          </p:cNvPr>
          <p:cNvCxnSpPr/>
          <p:nvPr/>
        </p:nvCxnSpPr>
        <p:spPr>
          <a:xfrm>
            <a:off x="11001375" y="3048000"/>
            <a:ext cx="19050" cy="904875"/>
          </a:xfrm>
          <a:prstGeom prst="straightConnector1">
            <a:avLst/>
          </a:prstGeom>
          <a:ln w="38100" cap="flat">
            <a:solidFill>
              <a:srgbClr val="1DA7A7"/>
            </a:solidFill>
            <a:tailEnd type="triangle" w="med" len="med"/>
          </a:ln>
        </p:spPr>
      </p:cxnSp>
      <p:sp>
        <p:nvSpPr>
          <p:cNvPr id="14" name="Shape 14">
            <a:extLst>
              <a:ext uri="{FF2B5EF4-FFF2-40B4-BE49-F238E27FC236}">
                <a16:creationId xmlns:a16="http://schemas.microsoft.com/office/drawing/2014/main" id="{18B16372-BB74-493F-9B96-10D6496FF33B}"/>
              </a:ext>
            </a:extLst>
          </p:cNvPr>
          <p:cNvSpPr/>
          <p:nvPr/>
        </p:nvSpPr>
        <p:spPr>
          <a:xfrm>
            <a:off x="8810625" y="4143375"/>
            <a:ext cx="2905125" cy="1047750"/>
          </a:xfrm>
          <a:prstGeom prst="roundRect">
            <a:avLst/>
          </a:prstGeom>
          <a:solidFill>
            <a:srgbClr val="FFF1D6"/>
          </a:solidFill>
          <a:ln w="12700">
            <a:solidFill>
              <a:srgbClr val="F59E0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8A5500"/>
                </a:solidFill>
                <a:latin typeface="Aptos"/>
                <a:ea typeface="Aptos"/>
              </a:rPr>
              <a:t>2.5 m SR estimate</a:t>
            </a:r>
          </a:p>
        </p:txBody>
      </p:sp>
      <p:sp>
        <p:nvSpPr>
          <p:cNvPr id="15" name="Shape 15">
            <a:extLst>
              <a:ext uri="{FF2B5EF4-FFF2-40B4-BE49-F238E27FC236}">
                <a16:creationId xmlns:a16="http://schemas.microsoft.com/office/drawing/2014/main" id="{5645BED2-60C0-4526-89BD-6A9622CEBB13}"/>
              </a:ext>
            </a:extLst>
          </p:cNvPr>
          <p:cNvSpPr/>
          <p:nvPr/>
        </p:nvSpPr>
        <p:spPr>
          <a:xfrm>
            <a:off x="7762875" y="4429125"/>
            <a:ext cx="857250" cy="476250"/>
          </a:xfrm>
          <a:prstGeom prst="lef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6" name="Shape 16">
            <a:extLst>
              <a:ext uri="{FF2B5EF4-FFF2-40B4-BE49-F238E27FC236}">
                <a16:creationId xmlns:a16="http://schemas.microsoft.com/office/drawing/2014/main" id="{DCA77D59-E64B-43EB-832C-9E15C5ACB46D}"/>
              </a:ext>
            </a:extLst>
          </p:cNvPr>
          <p:cNvSpPr/>
          <p:nvPr/>
        </p:nvSpPr>
        <p:spPr>
          <a:xfrm>
            <a:off x="5095875" y="4143375"/>
            <a:ext cx="2476500" cy="1047750"/>
          </a:xfrm>
          <a:prstGeom prst="roundRect">
            <a:avLst/>
          </a:prstGeom>
          <a:solidFill>
            <a:srgbClr val="071B2B"/>
          </a:solidFill>
          <a:ln w="12700">
            <a:solidFill>
              <a:srgbClr val="071B2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F7FBFC"/>
                </a:solidFill>
                <a:latin typeface="Aptos"/>
                <a:ea typeface="Aptos"/>
              </a:rPr>
              <a:t>SR IMAGE</a:t>
            </a:r>
          </a:p>
        </p:txBody>
      </p:sp>
      <p:sp>
        <p:nvSpPr>
          <p:cNvPr id="17" name="Shape 17">
            <a:extLst>
              <a:ext uri="{FF2B5EF4-FFF2-40B4-BE49-F238E27FC236}">
                <a16:creationId xmlns:a16="http://schemas.microsoft.com/office/drawing/2014/main" id="{103B78A9-7ACE-4470-A6F8-8D3AB5531D43}"/>
              </a:ext>
            </a:extLst>
          </p:cNvPr>
          <p:cNvSpPr/>
          <p:nvPr/>
        </p:nvSpPr>
        <p:spPr>
          <a:xfrm>
            <a:off x="4048125" y="4429125"/>
            <a:ext cx="857250" cy="476250"/>
          </a:xfrm>
          <a:prstGeom prst="leftArrow">
            <a:avLst/>
          </a:prstGeom>
          <a:solidFill>
            <a:srgbClr val="1DA7A7"/>
          </a:solidFill>
          <a:ln w="12700">
            <a:solidFill>
              <a:srgbClr val="1DA7A7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59266C5E-4350-46E7-8222-967BC595E42C}"/>
              </a:ext>
            </a:extLst>
          </p:cNvPr>
          <p:cNvSpPr/>
          <p:nvPr/>
        </p:nvSpPr>
        <p:spPr>
          <a:xfrm>
            <a:off x="1381125" y="4143375"/>
            <a:ext cx="2476500" cy="1047750"/>
          </a:xfrm>
          <a:prstGeom prst="roundRect">
            <a:avLst/>
          </a:prstGeom>
          <a:solidFill>
            <a:srgbClr val="DDF3F2"/>
          </a:solidFill>
          <a:ln w="12700">
            <a:solidFill>
              <a:srgbClr val="1DA7A7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200" b="1">
                <a:solidFill>
                  <a:srgbClr val="0C6F73"/>
                </a:solidFill>
                <a:latin typeface="Aptos"/>
                <a:ea typeface="Aptos"/>
              </a:rPr>
              <a:t>UNCERTAINTY</a:t>
            </a: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10088C1-8D2B-4700-82E1-824088B4A1BA}"/>
              </a:ext>
            </a:extLst>
          </p:cNvPr>
          <p:cNvSpPr txBox="1"/>
          <p:nvPr/>
        </p:nvSpPr>
        <p:spPr>
          <a:xfrm>
            <a:off x="1952625" y="5715000"/>
            <a:ext cx="8286750" cy="476250"/>
          </a:xfrm>
        </p:spPr>
        <p:txBody>
          <a:bodyPr wrap="square" rtlCol="0" lIns="0" tIns="0" rIns="0" bIns="0" anchor="t"/>
          <a:lstStyle/>
          <a:p>
            <a:pPr algn="ctr"/>
            <a:r>
              <a:rPr sz="2100" b="1">
                <a:solidFill>
                  <a:srgbClr val="102A3A"/>
                </a:solidFill>
                <a:latin typeface="Aptos"/>
                <a:ea typeface="Aptos"/>
              </a:rPr>
              <a:t>The final product is an estimate paired with evidence about confidence.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>
            <a:extLst>
              <a:ext uri="{FF2B5EF4-FFF2-40B4-BE49-F238E27FC236}">
                <a16:creationId xmlns:a16="http://schemas.microsoft.com/office/drawing/2014/main" id="{DFF634A8-067B-45AE-8B37-B22531D0B295}"/>
              </a:ext>
            </a:extLst>
          </p:cNvPr>
          <p:cNvSpPr txBox="1"/>
          <p:nvPr/>
        </p:nvSpPr>
        <p:spPr>
          <a:xfrm>
            <a:off x="609600" y="400050"/>
            <a:ext cx="7239000" cy="552450"/>
          </a:xfrm>
        </p:spPr>
        <p:txBody>
          <a:bodyPr wrap="square" rtlCol="0" lIns="0" tIns="0" rIns="0" bIns="0" anchor="t"/>
          <a:lstStyle/>
          <a:p>
            <a:r>
              <a:rPr sz="3400" b="1">
                <a:solidFill>
                  <a:srgbClr val="F7FBFC"/>
                </a:solidFill>
                <a:latin typeface="Aptos Display"/>
                <a:ea typeface="Aptos Display"/>
              </a:rPr>
              <a:t>Key Takeaways</a:t>
            </a:r>
          </a:p>
        </p:txBody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9343B343-BDD0-426E-92E3-4EBC087AFD43}"/>
              </a:ext>
            </a:extLst>
          </p:cNvPr>
          <p:cNvSpPr txBox="1"/>
          <p:nvPr/>
        </p:nvSpPr>
        <p:spPr>
          <a:xfrm>
            <a:off x="628650" y="990600"/>
            <a:ext cx="6858000" cy="400050"/>
          </a:xfrm>
        </p:spPr>
        <p:txBody>
          <a:bodyPr wrap="square" rtlCol="0" lIns="0" tIns="0" rIns="0" bIns="0" anchor="t"/>
          <a:lstStyle/>
          <a:p>
            <a:r>
              <a:rPr sz="1800">
                <a:solidFill>
                  <a:srgbClr val="B8D5DD"/>
                </a:solidFill>
                <a:latin typeface="Aptos"/>
                <a:ea typeface="Aptos"/>
              </a:rPr>
              <a:t>Ten points to remember</a:t>
            </a:r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8EE6796D-7A43-444B-A26E-2A523E892EC2}"/>
              </a:ext>
            </a:extLst>
          </p:cNvPr>
          <p:cNvSpPr/>
          <p:nvPr/>
        </p:nvSpPr>
        <p:spPr>
          <a:xfrm>
            <a:off x="619125" y="1571625"/>
            <a:ext cx="5238750" cy="4095750"/>
          </a:xfrm>
          <a:prstGeom prst="roundRect">
            <a:avLst/>
          </a:prstGeom>
          <a:solidFill>
            <a:srgbClr val="FFFFFF">
              <a:alpha val="5882"/>
            </a:srgbClr>
          </a:solidFill>
          <a:ln w="12700">
            <a:solidFill>
              <a:srgbClr val="365A6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6ECC40D-42CD-42EA-9EFD-534FB65276D5}"/>
              </a:ext>
            </a:extLst>
          </p:cNvPr>
          <p:cNvSpPr txBox="1"/>
          <p:nvPr/>
        </p:nvSpPr>
        <p:spPr>
          <a:xfrm>
            <a:off x="952500" y="1857375"/>
            <a:ext cx="4572000" cy="3476625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01  SR reconstructs higher-resolution estimates.</a:t>
            </a:r>
            <a:br/>
            <a:br/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02  Sentinel-2 carries multispectral information.</a:t>
            </a:r>
            <a:br/>
            <a:br/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03  LDSR-S2 uses RGB + NIR.</a:t>
            </a:r>
            <a:br/>
            <a:br/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04  It maps 10 m → 2.5 m.</a:t>
            </a:r>
            <a:br/>
            <a:br/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05  Spatial scale is 4× per dimension.</a:t>
            </a:r>
          </a:p>
        </p:txBody>
      </p:sp>
      <p:sp>
        <p:nvSpPr>
          <p:cNvPr id="7" name="Shape 7">
            <a:extLst>
              <a:ext uri="{FF2B5EF4-FFF2-40B4-BE49-F238E27FC236}">
                <a16:creationId xmlns:a16="http://schemas.microsoft.com/office/drawing/2014/main" id="{10854258-7ED3-4D14-A5EA-F0D766CCEFC7}"/>
              </a:ext>
            </a:extLst>
          </p:cNvPr>
          <p:cNvSpPr/>
          <p:nvPr/>
        </p:nvSpPr>
        <p:spPr>
          <a:xfrm>
            <a:off x="6334125" y="1571625"/>
            <a:ext cx="5238750" cy="4095750"/>
          </a:xfrm>
          <a:prstGeom prst="roundRect">
            <a:avLst/>
          </a:prstGeom>
          <a:solidFill>
            <a:srgbClr val="FFFFFF">
              <a:alpha val="5882"/>
            </a:srgbClr>
          </a:solidFill>
          <a:ln w="12700">
            <a:solidFill>
              <a:srgbClr val="365A69"/>
            </a:solidFill>
          </a:ln>
        </p:spPr>
        <p:txBody>
          <a:bodyPr wrap="square" rtlCol="0"/>
          <a:lstStyle/>
          <a:p>
            <a:r>
              <a:rPr/>
              <a:t/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389D1FB-39CA-41ED-B470-CB3BF6F0FEF8}"/>
              </a:ext>
            </a:extLst>
          </p:cNvPr>
          <p:cNvSpPr txBox="1"/>
          <p:nvPr/>
        </p:nvSpPr>
        <p:spPr>
          <a:xfrm>
            <a:off x="6667500" y="1857375"/>
            <a:ext cx="4572000" cy="3476625"/>
          </a:xfrm>
        </p:spPr>
        <p:txBody>
          <a:bodyPr wrap="square" rtlCol="0" lIns="0" tIns="0" rIns="0" bIns="0" anchor="t"/>
          <a:lstStyle/>
          <a:p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06  Diffusion runs in compressed latent space.</a:t>
            </a:r>
            <a:br/>
            <a:br/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07  Encoded LR imagery provides conditioning.</a:t>
            </a:r>
            <a:br/>
            <a:br/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08  Inference iteratively denoises from noise.</a:t>
            </a:r>
            <a:br/>
            <a:br/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09  DDIM controls the sampling process.</a:t>
            </a:r>
            <a:br/>
            <a:br/>
            <a:r>
              <a:rPr sz="1800" b="1">
                <a:solidFill>
                  <a:srgbClr val="F7FBFC"/>
                </a:solidFill>
                <a:latin typeface="Aptos"/>
                <a:ea typeface="Aptos"/>
              </a:rPr>
              <a:t>10  Generated detail must not be mistaken for observation.</a:t>
            </a:r>
          </a:p>
        </p:txBody>
      </p:sp>
      <p:sp>
        <p:nvSpPr>
          <p:cNvPr id="9" name="Shape 9">
            <a:extLst>
              <a:ext uri="{FF2B5EF4-FFF2-40B4-BE49-F238E27FC236}">
                <a16:creationId xmlns:a16="http://schemas.microsoft.com/office/drawing/2014/main" id="{6B1D40FF-E824-4F51-8893-812837BD2918}"/>
              </a:ext>
            </a:extLst>
          </p:cNvPr>
          <p:cNvSpPr/>
          <p:nvPr/>
        </p:nvSpPr>
        <p:spPr>
          <a:xfrm>
            <a:off x="2190750" y="5953125"/>
            <a:ext cx="7810500" cy="590550"/>
          </a:xfrm>
          <a:prstGeom prst="round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wrap="square" rtlCol="0" lIns="0" tIns="0" rIns="0" bIns="0" anchor="ctr"/>
          <a:lstStyle/>
          <a:p>
            <a:pPr algn="ctr"/>
            <a:r>
              <a:rPr sz="2500" b="1">
                <a:solidFill>
                  <a:srgbClr val="071B2B"/>
                </a:solidFill>
                <a:latin typeface="Aptos Display"/>
                <a:ea typeface="Aptos Display"/>
              </a:rPr>
              <a:t>4× detail, not 4× truth.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43E1C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