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94560"/>
            <a:ext cx="1371600" cy="7315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Deep Learning Based Super-Resolution Mapping</a:t>
            </a:r>
          </a:p>
          <a:p>
            <a:r>
              <a:rPr sz="3200" b="1">
                <a:solidFill>
                  <a:srgbClr val="1E88E5"/>
                </a:solidFill>
                <a:latin typeface="Calibri"/>
              </a:rPr>
              <a:t>from Medium Resolution Satellite Imagery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E3F2FD"/>
                </a:solidFill>
                <a:latin typeface="Calibri"/>
              </a:rPr>
              <a:t>Using Latent Diffusion for Sentinel-2 Super-Resolution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E3F2FD"/>
                </a:solidFill>
                <a:latin typeface="Calibri"/>
              </a:rPr>
              <a:t>Model: LDSR-S2   |   Input: Sentinel-2 RGB + NIR</a:t>
            </a:r>
          </a:p>
          <a:p>
            <a:r>
              <a:rPr sz="1400">
                <a:solidFill>
                  <a:srgbClr val="E3F2FD"/>
                </a:solidFill>
                <a:latin typeface="Calibri"/>
              </a:rPr>
              <a:t>Input: 10 m  →  Output: 2.5 m   |   Super-resolution factor: 4×</a:t>
            </a:r>
          </a:p>
          <a:p>
            <a:r>
              <a:rPr sz="1400">
                <a:solidFill>
                  <a:srgbClr val="E3F2FD"/>
                </a:solidFill>
                <a:latin typeface="Calibri"/>
              </a:rPr>
              <a:t>Framework: PyTorch / OpenSR   |   Deployment: Kaggle GPU + Tesla T4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Presented by: Shreeyansh Janu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What is Super-Resolution?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Super-Resolution (SR)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Super-resolution is the process of reconstructing a higher-resolution image from a lower-resolution image.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We can represent the problem as:</a:t>
            </a:r>
          </a:p>
          <a:p>
            <a:pPr algn="l">
              <a:spcAft>
                <a:spcPts val="400"/>
              </a:spcAft>
            </a:pPr>
            <a:r>
              <a:rPr sz="1400" i="1" b="1">
                <a:solidFill>
                  <a:srgbClr val="FF8F00"/>
                </a:solidFill>
                <a:latin typeface="Calibri"/>
              </a:rPr>
              <a:t> x_{LR} → \hat{x}_{HR} 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where: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\(x_{LR}\) = Low Resolution image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\(x_{HR}\) = true High Resolution image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\(\hat{x}_{HR}\) = predicted/reconstructed High Resolution image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Important point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The model is not simply resizing pixels.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It learns a mapping:</a:t>
            </a:r>
          </a:p>
          <a:p>
            <a:pPr algn="l">
              <a:spcAft>
                <a:spcPts val="400"/>
              </a:spcAft>
            </a:pPr>
            <a:r>
              <a:rPr sz="1400" i="1" b="1">
                <a:solidFill>
                  <a:srgbClr val="FF8F00"/>
                </a:solidFill>
                <a:latin typeface="Calibri"/>
              </a:rPr>
              <a:t> f_\theta(x_{LR}) → \hat{x}_{HR} 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where \(f_\theta\) is the deep-learning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Why Satellite Super-Resolution?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Problem with satellite imagery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Satellite imagery provides large geographic coverage, but spatial resolution is limited.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For Sentinel-2: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onsolas"/>
              </a:rPr>
              <a:t>RGB bands → 10 m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onsolas"/>
              </a:rPr>
              <a:t>NIR band → 10 m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onsolas"/>
              </a:rPr>
              <a:t>Some other bands → 20 m / 60 m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For many applications, finer spatial detail is desirable.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Applications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Agriculture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Urban mapping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Forest monitoring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Land-cover classification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Environmental monitoring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Change detection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Road/building analysis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onsolas"/>
              </a:rPr>
              <a:t>The LDSR-S2 paper specifically targets 10 m → 2.5 m RGB-NIR super-resolution.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Sentinel-2 Bands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RGB + NIR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Our model works with four bands: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Band	Meaning	Wavelength region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B04	Red	Visible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B03	Green	Visible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B02	Blue	Visible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B08	Near Infrared	NIR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Input tensor:</a:t>
            </a:r>
          </a:p>
          <a:p>
            <a:pPr algn="l">
              <a:spcAft>
                <a:spcPts val="400"/>
              </a:spcAft>
            </a:pPr>
            <a:r>
              <a:rPr sz="1600" i="1" b="1">
                <a:solidFill>
                  <a:srgbClr val="FF8F00"/>
                </a:solidFill>
                <a:latin typeface="Calibri"/>
              </a:rPr>
              <a:t> X_{LR}\in R^{4× H× W} 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The four channels provide both: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Spatial information + spectral information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This is important because satellite imagery isn't just an RGB photograph.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The Resolution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88E5"/>
                </a:solidFill>
                <a:latin typeface="Calibri"/>
              </a:rPr>
              <a:t>Suppose our Sentinel-2 image is:</a:t>
            </a:r>
          </a:p>
          <a:p>
            <a:pPr algn="l">
              <a:spcAft>
                <a:spcPts val="400"/>
              </a:spcAft>
            </a:pPr>
            <a:r>
              <a:rPr sz="1200" i="1" b="1">
                <a:solidFill>
                  <a:srgbClr val="FF8F00"/>
                </a:solidFill>
                <a:latin typeface="Calibri"/>
              </a:rPr>
              <a:t> 512×512 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at 10 m resolution.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88E5"/>
                </a:solidFill>
                <a:latin typeface="Calibri"/>
              </a:rPr>
              <a:t>LDSR-S2 produces:</a:t>
            </a:r>
          </a:p>
          <a:p>
            <a:pPr algn="l">
              <a:spcAft>
                <a:spcPts val="400"/>
              </a:spcAft>
            </a:pPr>
            <a:r>
              <a:rPr sz="1200" i="1" b="1">
                <a:solidFill>
                  <a:srgbClr val="FF8F00"/>
                </a:solidFill>
                <a:latin typeface="Calibri"/>
              </a:rPr>
              <a:t> 2048×2048 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88E5"/>
                </a:solidFill>
                <a:latin typeface="Calibri"/>
              </a:rPr>
              <a:t>because:</a:t>
            </a:r>
          </a:p>
          <a:p>
            <a:pPr algn="l">
              <a:spcAft>
                <a:spcPts val="400"/>
              </a:spcAft>
            </a:pPr>
            <a:r>
              <a:rPr sz="1200" i="1" b="1">
                <a:solidFill>
                  <a:srgbClr val="FF8F00"/>
                </a:solidFill>
                <a:latin typeface="Calibri"/>
              </a:rPr>
              <a:t> 512×4=2048 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88E5"/>
                </a:solidFill>
                <a:latin typeface="Calibri"/>
              </a:rPr>
              <a:t>Therefore:</a:t>
            </a:r>
          </a:p>
          <a:p>
            <a:pPr algn="l">
              <a:spcAft>
                <a:spcPts val="400"/>
              </a:spcAft>
            </a:pPr>
            <a:r>
              <a:rPr sz="1200" i="1" b="1">
                <a:solidFill>
                  <a:srgbClr val="FF8F00"/>
                </a:solidFill>
                <a:latin typeface="Calibri"/>
              </a:rPr>
              <a:t> 512×512 → 2048×2048 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Ground sampling distance</a:t>
            </a:r>
          </a:p>
          <a:p>
            <a:pPr algn="l">
              <a:spcAft>
                <a:spcPts val="400"/>
              </a:spcAft>
            </a:pPr>
            <a:r>
              <a:rPr sz="1200" i="1" b="1">
                <a:solidFill>
                  <a:srgbClr val="FF8F00"/>
                </a:solidFill>
                <a:latin typeface="Calibri"/>
              </a:rPr>
              <a:t> 10m → 2.5m 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88E5"/>
                </a:solidFill>
                <a:latin typeface="Calibri"/>
              </a:rPr>
              <a:t>because:</a:t>
            </a:r>
          </a:p>
          <a:p>
            <a:pPr algn="l">
              <a:spcAft>
                <a:spcPts val="400"/>
              </a:spcAft>
            </a:pPr>
            <a:r>
              <a:rPr sz="1200" i="1" b="1">
                <a:solidFill>
                  <a:srgbClr val="FF8F00"/>
                </a:solidFill>
                <a:latin typeface="Calibri"/>
              </a:rPr>
              <a:t> \frac{10}{4}=2.5m 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Important distinction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4× means 4× width and 4× height, not 4× total pixels.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88E5"/>
                </a:solidFill>
                <a:latin typeface="Calibri"/>
              </a:rPr>
              <a:t>Total pixels increase by:</a:t>
            </a:r>
          </a:p>
          <a:p>
            <a:pPr algn="l">
              <a:spcAft>
                <a:spcPts val="400"/>
              </a:spcAft>
            </a:pPr>
            <a:r>
              <a:rPr sz="1200" i="1" b="1">
                <a:solidFill>
                  <a:srgbClr val="FF8F00"/>
                </a:solidFill>
                <a:latin typeface="Calibri"/>
              </a:rPr>
              <a:t> 4^2=16 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88E5"/>
                </a:solidFill>
                <a:latin typeface="Calibri"/>
              </a:rPr>
              <a:t>So a 512×512 image has:</a:t>
            </a:r>
          </a:p>
          <a:p>
            <a:pPr algn="l">
              <a:spcAft>
                <a:spcPts val="400"/>
              </a:spcAft>
            </a:pPr>
            <a:r>
              <a:rPr sz="1200" i="1" b="1">
                <a:solidFill>
                  <a:srgbClr val="FF8F00"/>
                </a:solidFill>
                <a:latin typeface="Calibri"/>
              </a:rPr>
              <a:t> 262,144 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pixels.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88E5"/>
                </a:solidFill>
                <a:latin typeface="Calibri"/>
              </a:rPr>
              <a:t>A 2048×2048 image has:</a:t>
            </a:r>
          </a:p>
          <a:p>
            <a:pPr algn="l">
              <a:spcAft>
                <a:spcPts val="400"/>
              </a:spcAft>
            </a:pPr>
            <a:r>
              <a:rPr sz="1200" i="1" b="1">
                <a:solidFill>
                  <a:srgbClr val="FF8F00"/>
                </a:solidFill>
                <a:latin typeface="Calibri"/>
              </a:rPr>
              <a:t> 4,194,304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Traditional Image Upscaling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Before deep learning, we can use interpolation.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Common methods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Nearest Neighbor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Bilinear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Bicubic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For example:</a:t>
            </a:r>
          </a:p>
          <a:p>
            <a:pPr algn="l">
              <a:spcAft>
                <a:spcPts val="400"/>
              </a:spcAft>
            </a:pPr>
            <a:r>
              <a:rPr sz="1400" i="1" b="1">
                <a:solidFill>
                  <a:srgbClr val="FF8F00"/>
                </a:solidFill>
                <a:latin typeface="Calibri"/>
              </a:rPr>
              <a:t> 512×512 \xrightarrow{\text{Bicubic}} 2048×2048 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Problem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Interpolation does not actually recover missing high-frequency information.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It estimates values from neighboring pixels.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Therefore: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Upscaling ≠ Super-resolution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Deep learning attempts to learn how plausible high-resolution structures relate to low-resolution observations.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Why Deep Learning?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A neural network learns:</a:t>
            </a:r>
          </a:p>
          <a:p>
            <a:pPr algn="l">
              <a:spcAft>
                <a:spcPts val="400"/>
              </a:spcAft>
            </a:pPr>
            <a:r>
              <a:rPr sz="1600" i="1" b="1">
                <a:solidFill>
                  <a:srgbClr val="FF8F00"/>
                </a:solidFill>
                <a:latin typeface="Calibri"/>
              </a:rPr>
              <a:t> f_\theta(x_{LR})≈ x_{HR} 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during training.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The model learns patterns such as: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edges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textures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structures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spectral relationships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spatial patterns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Instead of manually defining an interpolation rule, the network learns the reconstruction process from training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Different Deep Learning SR Approaches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1. CNN-based SR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88E5"/>
                </a:solidFill>
                <a:latin typeface="Calibri"/>
              </a:rPr>
              <a:t>Examples: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SRCNN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EDSR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RCAN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88E5"/>
                </a:solidFill>
                <a:latin typeface="Calibri"/>
              </a:rPr>
              <a:t>Basic idea:</a:t>
            </a:r>
          </a:p>
          <a:p>
            <a:pPr algn="l">
              <a:spcAft>
                <a:spcPts val="400"/>
              </a:spcAft>
            </a:pPr>
            <a:r>
              <a:rPr sz="1200" i="1" b="1">
                <a:solidFill>
                  <a:srgbClr val="FF8F00"/>
                </a:solidFill>
                <a:latin typeface="Calibri"/>
              </a:rPr>
              <a:t> LR → CNN → HR 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2. GAN-based SR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88E5"/>
                </a:solidFill>
                <a:latin typeface="Calibri"/>
              </a:rPr>
              <a:t>Example: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SRGAN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88E5"/>
                </a:solidFill>
                <a:latin typeface="Calibri"/>
              </a:rPr>
              <a:t>Uses: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Generator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Discriminator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88E5"/>
                </a:solidFill>
                <a:latin typeface="Calibri"/>
              </a:rPr>
              <a:t>Goal: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Generate visually realistic high-resolution images.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88E5"/>
                </a:solidFill>
                <a:latin typeface="Calibri"/>
              </a:rPr>
              <a:t>Problem for remote sensing: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A visually realistic hallucination may not represent the real Earth surface.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3. Diffusion-based SR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Uses a probabilistic generation process.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88E5"/>
                </a:solidFill>
                <a:latin typeface="Calibri"/>
              </a:rPr>
              <a:t>Instead of directly predicting HR:</a:t>
            </a:r>
          </a:p>
          <a:p>
            <a:pPr algn="l">
              <a:spcAft>
                <a:spcPts val="400"/>
              </a:spcAft>
            </a:pPr>
            <a:r>
              <a:rPr sz="1200" i="1" b="1">
                <a:solidFill>
                  <a:srgbClr val="FF8F00"/>
                </a:solidFill>
                <a:latin typeface="Calibri"/>
              </a:rPr>
              <a:t> LR→ HR 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88E5"/>
                </a:solidFill>
                <a:latin typeface="Calibri"/>
              </a:rPr>
              <a:t>it learns a reverse denoising process: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What is a Diffusion Model?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A diffusion model has two major processes: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Forward diffusion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Gradually add noise to an image.</a:t>
            </a:r>
          </a:p>
          <a:p>
            <a:pPr algn="l">
              <a:spcAft>
                <a:spcPts val="400"/>
              </a:spcAft>
            </a:pPr>
            <a:r>
              <a:rPr sz="1600" i="1" b="1">
                <a:solidFill>
                  <a:srgbClr val="FF8F00"/>
                </a:solidFill>
                <a:latin typeface="Calibri"/>
              </a:rPr>
              <a:t> x_0 → x_1 → x_2 → ... → x_T 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where: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\(x_0\) = original image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\(x_T\) ≈ Gaussian noise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Reverse diffusion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The model learns to remove the noise:</a:t>
            </a:r>
          </a:p>
          <a:p>
            <a:pPr algn="l">
              <a:spcAft>
                <a:spcPts val="400"/>
              </a:spcAft>
            </a:pPr>
            <a:r>
              <a:rPr sz="1600" i="1" b="1">
                <a:solidFill>
                  <a:srgbClr val="FF8F00"/>
                </a:solidFill>
                <a:latin typeface="Calibri"/>
              </a:rPr>
              <a:t> x_T→ x_{T-1}→ ...→ x_0 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This generates/reconstructs an image.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Forward Diffusion Mathematics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The paper describes the forward process as:</a:t>
            </a:r>
          </a:p>
          <a:p>
            <a:pPr algn="l">
              <a:spcAft>
                <a:spcPts val="400"/>
              </a:spcAft>
            </a:pPr>
            <a:r>
              <a:rPr sz="1600" i="1" b="1">
                <a:solidFill>
                  <a:srgbClr val="FF8F00"/>
                </a:solidFill>
                <a:latin typeface="Calibri"/>
              </a:rPr>
              <a:t> q(x_t|x_{t-1}) = \mathcal{N} \left( x_t; \sqrt{1-\beta_t}x_{t-1}, \beta_t I \right) 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where: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\(t\) = diffusion timestep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\(\beta_t\) = noise variance schedule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\(I\) = identity matrix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\(\mathcal{N}\) = Gaussian distribution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As \(t\) increases:</a:t>
            </a:r>
          </a:p>
          <a:p>
            <a:pPr algn="l">
              <a:spcAft>
                <a:spcPts val="400"/>
              </a:spcAft>
            </a:pPr>
            <a:r>
              <a:rPr sz="1600" i="1" b="1">
                <a:solidFill>
                  <a:srgbClr val="FF8F00"/>
                </a:solidFill>
                <a:latin typeface="Calibri"/>
              </a:rPr>
              <a:t> x_0 → x_1 → ... → x_T 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and more noise is introduced.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The paper uses a noise schedule \(\beta_t\) controlling the amount of noise at each timestep.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10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Reverse Diffusion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The model learns:</a:t>
            </a:r>
          </a:p>
          <a:p>
            <a:pPr algn="l">
              <a:spcAft>
                <a:spcPts val="400"/>
              </a:spcAft>
            </a:pPr>
            <a:r>
              <a:rPr sz="1600" i="1" b="1">
                <a:solidFill>
                  <a:srgbClr val="FF8F00"/>
                </a:solidFill>
                <a:latin typeface="Calibri"/>
              </a:rPr>
              <a:t> p_\theta(x_{t-1}|x_t,z) 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where \(z\) is the conditioning representation.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The paper represents the reverse transition as:</a:t>
            </a:r>
          </a:p>
          <a:p>
            <a:pPr algn="l">
              <a:spcAft>
                <a:spcPts val="400"/>
              </a:spcAft>
            </a:pPr>
            <a:r>
              <a:rPr sz="1600" i="1" b="1">
                <a:solidFill>
                  <a:srgbClr val="FF8F00"/>
                </a:solidFill>
                <a:latin typeface="Calibri"/>
              </a:rPr>
              <a:t> p_\theta(x_{t-1}|x_t,z) = \mathcal{N} \left( x_{t-1}; \mu_\theta(x_t,t,z), \Sigma_\theta(x_t,t,z) \right) 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The neural network learns:</a:t>
            </a:r>
          </a:p>
          <a:p>
            <a:pPr algn="l">
              <a:spcAft>
                <a:spcPts val="400"/>
              </a:spcAft>
            </a:pPr>
            <a:r>
              <a:rPr sz="1600" i="1" b="1">
                <a:solidFill>
                  <a:srgbClr val="FF8F00"/>
                </a:solidFill>
                <a:latin typeface="Calibri"/>
              </a:rPr>
              <a:t> \mu_\theta 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and</a:t>
            </a:r>
          </a:p>
          <a:p>
            <a:pPr algn="l">
              <a:spcAft>
                <a:spcPts val="400"/>
              </a:spcAft>
            </a:pPr>
            <a:r>
              <a:rPr sz="1600" i="1" b="1">
                <a:solidFill>
                  <a:srgbClr val="FF8F00"/>
                </a:solidFill>
                <a:latin typeface="Calibri"/>
              </a:rPr>
              <a:t> \Sigma_\theta 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for the reverse denoising process.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11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What is Latent Diffusion?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Problem with Pixel-Space Diffusion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Satellite images are large.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Running diffusion directly on:</a:t>
            </a:r>
          </a:p>
          <a:p>
            <a:pPr algn="l">
              <a:spcAft>
                <a:spcPts val="400"/>
              </a:spcAft>
            </a:pPr>
            <a:r>
              <a:rPr sz="1400" i="1" b="1">
                <a:solidFill>
                  <a:srgbClr val="FF8F00"/>
                </a:solidFill>
                <a:latin typeface="Calibri"/>
              </a:rPr>
              <a:t> 512×512×4 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is computationally expensive.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Solution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Compress the image into a latent representation.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Instead of performing diffusion in pixel space:</a:t>
            </a:r>
          </a:p>
          <a:p>
            <a:pPr algn="l">
              <a:spcAft>
                <a:spcPts val="400"/>
              </a:spcAft>
            </a:pPr>
            <a:r>
              <a:rPr sz="1400" i="1" b="1">
                <a:solidFill>
                  <a:srgbClr val="FF8F00"/>
                </a:solidFill>
                <a:latin typeface="Calibri"/>
              </a:rPr>
              <a:t> Image → Diffusion 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we perform:</a:t>
            </a:r>
          </a:p>
          <a:p>
            <a:pPr algn="l">
              <a:spcAft>
                <a:spcPts val="400"/>
              </a:spcAft>
            </a:pPr>
            <a:r>
              <a:rPr sz="1400" i="1" b="1">
                <a:solidFill>
                  <a:srgbClr val="FF8F00"/>
                </a:solidFill>
                <a:latin typeface="Calibri"/>
              </a:rPr>
              <a:t> Image → Encoder → Latent → Diffusion → Decoder → Image 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This is called: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Latent Diffusion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12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LDSR-S2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Latent Diffusion Super-Resolution for Sentinel-2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The model used in our project is: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LDSR-S2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It was proposed by Donike et al. in the 2025 IEEE JSTARS paper.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The model performs:</a:t>
            </a:r>
          </a:p>
          <a:p>
            <a:pPr algn="l">
              <a:spcAft>
                <a:spcPts val="400"/>
              </a:spcAft>
            </a:pPr>
            <a:r>
              <a:rPr sz="1600" i="1" b="1">
                <a:solidFill>
                  <a:srgbClr val="FF8F00"/>
                </a:solidFill>
                <a:latin typeface="Calibri"/>
              </a:rPr>
              <a:t> 10m → 2.5m 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with:</a:t>
            </a:r>
          </a:p>
          <a:p>
            <a:pPr algn="l">
              <a:spcAft>
                <a:spcPts val="400"/>
              </a:spcAft>
            </a:pPr>
            <a:r>
              <a:rPr sz="1600" i="1" b="1">
                <a:solidFill>
                  <a:srgbClr val="FF8F00"/>
                </a:solidFill>
                <a:latin typeface="Calibri"/>
              </a:rPr>
              <a:t> 4× 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spatial scaling.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It specifically handles RGB-NIR Sentinel-2 imagery.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13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LDSR-S2 Overall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88E5"/>
                </a:solidFill>
                <a:latin typeface="Calibri"/>
              </a:rPr>
              <a:t>Put this flow on the slide: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Sentinel-2 LR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4 × H × W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▼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┌──────────────────┐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│  Interpolation   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│    4× upscale    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└──────────────────┘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▼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┌──────────────────┐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│     Encoder      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│     A_enc        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└──────────────────┘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▼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Latent z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┌──────────────────┐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│ Diffusion / UNet 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14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Autoencoder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The autoencoder has two main components: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Encoder</a:t>
            </a:r>
          </a:p>
          <a:p>
            <a:pPr algn="l">
              <a:spcAft>
                <a:spcPts val="400"/>
              </a:spcAft>
            </a:pPr>
            <a:r>
              <a:rPr sz="1400" i="1" b="1">
                <a:solidFill>
                  <a:srgbClr val="FF8F00"/>
                </a:solidFill>
                <a:latin typeface="Calibri"/>
              </a:rPr>
              <a:t> A_{enc}(x) 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maps the image into latent space.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Decoder</a:t>
            </a:r>
          </a:p>
          <a:p>
            <a:pPr algn="l">
              <a:spcAft>
                <a:spcPts val="400"/>
              </a:spcAft>
            </a:pPr>
            <a:r>
              <a:rPr sz="1400" i="1" b="1">
                <a:solidFill>
                  <a:srgbClr val="FF8F00"/>
                </a:solidFill>
                <a:latin typeface="Calibri"/>
              </a:rPr>
              <a:t> A_{dec}(z) 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reconstructs the image from latent space.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For the model:</a:t>
            </a:r>
          </a:p>
          <a:p>
            <a:pPr algn="l">
              <a:spcAft>
                <a:spcPts val="400"/>
              </a:spcAft>
            </a:pPr>
            <a:r>
              <a:rPr sz="1400" i="1" b="1">
                <a:solidFill>
                  <a:srgbClr val="FF8F00"/>
                </a:solidFill>
                <a:latin typeface="Calibri"/>
              </a:rPr>
              <a:t> 4×512×512 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is compressed to:</a:t>
            </a:r>
          </a:p>
          <a:p>
            <a:pPr algn="l">
              <a:spcAft>
                <a:spcPts val="400"/>
              </a:spcAft>
            </a:pPr>
            <a:r>
              <a:rPr sz="1400" i="1" b="1">
                <a:solidFill>
                  <a:srgbClr val="FF8F00"/>
                </a:solidFill>
                <a:latin typeface="Calibri"/>
              </a:rPr>
              <a:t> 4×128×128 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according to the paper.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Therefore:</a:t>
            </a:r>
          </a:p>
          <a:p>
            <a:pPr algn="l">
              <a:spcAft>
                <a:spcPts val="400"/>
              </a:spcAft>
            </a:pPr>
            <a:r>
              <a:rPr sz="1400" i="1" b="1">
                <a:solidFill>
                  <a:srgbClr val="FF8F00"/>
                </a:solidFill>
                <a:latin typeface="Calibri"/>
              </a:rPr>
              <a:t> 512/4=128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15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Why Latent Space?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Instead of performing diffusion on:</a:t>
            </a:r>
          </a:p>
          <a:p>
            <a:pPr algn="l">
              <a:spcAft>
                <a:spcPts val="400"/>
              </a:spcAft>
            </a:pPr>
            <a:r>
              <a:rPr sz="1600" i="1" b="1">
                <a:solidFill>
                  <a:srgbClr val="FF8F00"/>
                </a:solidFill>
                <a:latin typeface="Calibri"/>
              </a:rPr>
              <a:t> 512×512×4 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the model performs diffusion on:</a:t>
            </a:r>
          </a:p>
          <a:p>
            <a:pPr algn="l">
              <a:spcAft>
                <a:spcPts val="400"/>
              </a:spcAft>
            </a:pPr>
            <a:r>
              <a:rPr sz="1600" i="1" b="1">
                <a:solidFill>
                  <a:srgbClr val="FF8F00"/>
                </a:solidFill>
                <a:latin typeface="Calibri"/>
              </a:rPr>
              <a:t> 128×128×4 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This dramatically reduces computational cost.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The latent representation preserves important information while reducing the spatial dimensionality.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Key idea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Diffuse in a compressed representation, decode afterward.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16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Conditioning: The Important Difference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This is one of the most important slides to understand.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Standard diffusion can generate images from noise.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But for satellite SR we need: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The output should remain consistent with the original Sentinel-2 observation.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Therefore LDSR-S2 conditions the diffusion process on the encoded LR image.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The paper uses:</a:t>
            </a:r>
          </a:p>
          <a:p>
            <a:pPr algn="l">
              <a:spcAft>
                <a:spcPts val="400"/>
              </a:spcAft>
            </a:pPr>
            <a:r>
              <a:rPr sz="1600" i="1" b="1">
                <a:solidFill>
                  <a:srgbClr val="FF8F00"/>
                </a:solidFill>
                <a:latin typeface="Calibri"/>
              </a:rPr>
              <a:t> z=A_{enc}(x'_{LR}) 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where \(x'_{LR}\) is the LR image interpolated to the target resolution.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17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Why Conditioning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88E5"/>
                </a:solidFill>
                <a:latin typeface="Calibri"/>
              </a:rPr>
              <a:t>Without conditioning: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Noise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↓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Possible HR image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There can be many possible outputs.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88E5"/>
                </a:solidFill>
                <a:latin typeface="Calibri"/>
              </a:rPr>
              <a:t>With LR conditioning: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LR Sentinel-2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↓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Encoder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↓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Conditioning z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↓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Diffusion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↓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SR image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The LR observation constrains the reconstruction.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E88E5"/>
                </a:solidFill>
                <a:latin typeface="Calibri"/>
              </a:rPr>
              <a:t>This helps maintain: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spectral consistency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spatial consistency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relationship with the original observation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This is particularly important in Earth observation because hallucinated structures can be scientifically misleading.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18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Training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The paper uses a three-phase training process: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Phase 1 — Train Autoencoder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Learn a meaningful latent representation.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Phase 2 — Freeze Autoencoder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Train the diffusion denoiser using latent representations.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Phase 3 — Diffusion Inference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Use the trained model to reconstruct the high-resolution image.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Phase 1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AE Training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onsolas"/>
              </a:rPr>
              <a:t>↓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Phase 2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Denoiser Training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onsolas"/>
              </a:rPr>
              <a:t>↓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Phase 3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SR Inference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The paper explicitly describes this three-stage strategy.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19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Autoencoder Loss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The paper uses a combined loss:</a:t>
            </a:r>
          </a:p>
          <a:p>
            <a:pPr algn="l">
              <a:spcAft>
                <a:spcPts val="400"/>
              </a:spcAft>
            </a:pPr>
            <a:r>
              <a:rPr sz="1600" i="1" b="1">
                <a:solidFill>
                  <a:srgbClr val="FF8F00"/>
                </a:solidFill>
                <a:latin typeface="Calibri"/>
              </a:rPr>
              <a:t> L_{total} = \lambda_{WD}L_{WD} + \lambda_{MAE}L_{MAE} + \lambda_{GAN}L_{GAN} + \lambda_{LPIPS}L_{LPIPS} 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Components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\(L_{WD}\)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Wasserstein distance regularization.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\(L_{MAE}\)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Mean Absolute Error reconstruction loss.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\(L_{GAN}\)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Adversarial loss.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\(L_{LPIPS}\)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Perceptual similarity loss.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The weights \(\lambda\) control the contribution of each component.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20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Denoiser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During training: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Take HR image.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Encode HR image.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Add diffusion noise.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Take LR image.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Upscale LR image.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Encode LR image.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Use encoded LR as conditioning.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Train the denoising network.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The model learns to predict the reverse diffusion process.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The paper uses an L2 objective for the denoiser.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21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Inference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During inference: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Step 1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Take LR Sentinel-2 image.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Step 2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Interpolate it to target resolution.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Step 3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Encode it:</a:t>
            </a:r>
          </a:p>
          <a:p>
            <a:pPr algn="l">
              <a:spcAft>
                <a:spcPts val="400"/>
              </a:spcAft>
            </a:pPr>
            <a:r>
              <a:rPr sz="1400" i="1" b="1">
                <a:solidFill>
                  <a:srgbClr val="FF8F00"/>
                </a:solidFill>
                <a:latin typeface="Calibri"/>
              </a:rPr>
              <a:t> z=A_{enc}(x'_{LR}) 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Step 4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Start with Gaussian noise:</a:t>
            </a:r>
          </a:p>
          <a:p>
            <a:pPr algn="l">
              <a:spcAft>
                <a:spcPts val="400"/>
              </a:spcAft>
            </a:pPr>
            <a:r>
              <a:rPr sz="1400" i="1" b="1">
                <a:solidFill>
                  <a:srgbClr val="FF8F00"/>
                </a:solidFill>
                <a:latin typeface="Calibri"/>
              </a:rPr>
              <a:t> x_T\sim\mathcal{N}(0,I) 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Step 5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Iteratively denoise:</a:t>
            </a:r>
          </a:p>
          <a:p>
            <a:pPr algn="l">
              <a:spcAft>
                <a:spcPts val="400"/>
              </a:spcAft>
            </a:pPr>
            <a:r>
              <a:rPr sz="1400" i="1" b="1">
                <a:solidFill>
                  <a:srgbClr val="FF8F00"/>
                </a:solidFill>
                <a:latin typeface="Calibri"/>
              </a:rPr>
              <a:t> x_T→ x_{T-1} →...→ x_0 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Step 6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Decode:</a:t>
            </a:r>
          </a:p>
          <a:p>
            <a:pPr algn="l">
              <a:spcAft>
                <a:spcPts val="400"/>
              </a:spcAft>
            </a:pPr>
            <a:r>
              <a:rPr sz="1400" i="1" b="1">
                <a:solidFill>
                  <a:srgbClr val="FF8F00"/>
                </a:solidFill>
                <a:latin typeface="Calibri"/>
              </a:rPr>
              <a:t> \hat{x}_{HR}=A_{dec}(x_0)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22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DDIM Sampling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Our implementation uses diffusion sampling based on DDIM.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DDIM: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Denoising Diffusion Implicit Models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The model performs a sequence of denoising steps.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Our configurable parameter: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SAMPLING_STEPS = 20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or: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SAMPLING_STEPS = 50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or: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SAMPLING_STEPS = 100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The OpenSR demonstration also describes the LDSR-S2 pipeline with 100 DDIM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23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Sampling Steps vs Image Size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This is important for explaining your implementation.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Sampling steps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Controls the number of diffusion denoising iterations.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onsolas"/>
              </a:rPr>
              <a:t>20 → faster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onsolas"/>
              </a:rPr>
              <a:t>50 → more computation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onsolas"/>
              </a:rPr>
              <a:t>100 → more computation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Increasing steps does not change:</a:t>
            </a:r>
          </a:p>
          <a:p>
            <a:pPr algn="l">
              <a:spcAft>
                <a:spcPts val="400"/>
              </a:spcAft>
            </a:pPr>
            <a:r>
              <a:rPr sz="1400" i="1" b="1">
                <a:solidFill>
                  <a:srgbClr val="FF8F00"/>
                </a:solidFill>
                <a:latin typeface="Calibri"/>
              </a:rPr>
              <a:t> 512×512 → 2048×2048 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The scale remains 4×.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MAX_PATCHES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Completely different.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It controls how many image patches the pipeline is allowed to process.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It does not improve the model quality.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24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Patch-Based 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Large satellite images cannot always be processed as one giant tensor.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Therefore, our pipeline divides the image into patches.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Our project uses:</a:t>
            </a:r>
          </a:p>
          <a:p>
            <a:pPr algn="l">
              <a:spcAft>
                <a:spcPts val="400"/>
              </a:spcAft>
            </a:pPr>
            <a:r>
              <a:rPr sz="1400" i="1" b="1">
                <a:solidFill>
                  <a:srgbClr val="FF8F00"/>
                </a:solidFill>
                <a:latin typeface="Calibri"/>
              </a:rPr>
              <a:t> 128×128 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LR patches.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Each patch becomes:</a:t>
            </a:r>
          </a:p>
          <a:p>
            <a:pPr algn="l">
              <a:spcAft>
                <a:spcPts val="400"/>
              </a:spcAft>
            </a:pPr>
            <a:r>
              <a:rPr sz="1400" i="1" b="1">
                <a:solidFill>
                  <a:srgbClr val="FF8F00"/>
                </a:solidFill>
                <a:latin typeface="Calibri"/>
              </a:rPr>
              <a:t> 128×128 → 512×512 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after 4× SR.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Example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For our test: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Input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512 × 512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onsolas"/>
              </a:rPr>
              <a:t>↓ divide into patches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25 patches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onsolas"/>
              </a:rPr>
              <a:t>↓ LDSR-S2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Output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2048 × 2048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25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Overlap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Our pipeline uses overlapping patches.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Why?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Without overlap: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Patch 1 | Patch 2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---------|---------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↑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seam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Independent patch processing can produce boundary artifacts.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Overlap allows neighboring patches to share contextual information and helps reduce seams.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Our project uses: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PATCH_SIZE = 128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OVERLAP = 8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for its processing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26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Spectral Information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A major difference between normal image SR and satellite SR: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Normal RGB image</a:t>
            </a:r>
          </a:p>
          <a:p>
            <a:pPr algn="l">
              <a:spcAft>
                <a:spcPts val="400"/>
              </a:spcAft>
            </a:pPr>
            <a:r>
              <a:rPr sz="1600" i="1" b="1">
                <a:solidFill>
                  <a:srgbClr val="FF8F00"/>
                </a:solidFill>
                <a:latin typeface="Calibri"/>
              </a:rPr>
              <a:t> 3\ channels 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Sentinel-2 RGB-NIR</a:t>
            </a:r>
          </a:p>
          <a:p>
            <a:pPr algn="l">
              <a:spcAft>
                <a:spcPts val="400"/>
              </a:spcAft>
            </a:pPr>
            <a:r>
              <a:rPr sz="1600" i="1" b="1">
                <a:solidFill>
                  <a:srgbClr val="FF8F00"/>
                </a:solidFill>
                <a:latin typeface="Calibri"/>
              </a:rPr>
              <a:t> 4\ channels   [B04,B03,B02,B08] 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The model therefore has to preserve not only visual appearance but also spectral relationships.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This is why a visually sharper image isn't automatically a scientifically better image.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27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Trustworthiness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The paper emphasizes that SR can create plausible but incorrect details.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This is called: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Hallucination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For Earth observation, hallucination is dangerous.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Example: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Actual satellite observation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onsolas"/>
              </a:rPr>
              <a:t>↓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SR model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onsolas"/>
              </a:rPr>
              <a:t>↓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Possible invented structure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A generated road, building, field boundary, or texture may look realistic but not actually exist.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Therefore: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More detail does not necessarily mean more truth.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This is one of the central motivations for LDSR-S2's trustworthy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28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Uncertainty Maps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LDSR-S2 uses the probabilistic nature of diffusion to generate pixel-level uncertainty information.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Conceptually: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SR Image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+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Uncertainty Map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The uncertainty map tells us where the model is less certain about its reconstruction.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Why useful?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Users can distinguish: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confident reconstruction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uncertain reconstruction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This is particularly useful for: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Environmental monitoring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Land-cover mapping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Change detection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The paper identifies pixel-level uncertainty as a key trustworthiness component.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29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Your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Technology stack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Sentinel-2 GeoTIFF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↓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Python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↓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Rasterio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↓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OpenSR / LDSR-S2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↓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PyTorch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↓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Tesla T4 GPU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↓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2048 × 2048 SR GeoTIFF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Project components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Python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PyTorch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OpenSR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OpenSR Utils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Rasterio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FastAPI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Streamlit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30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Our 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E88E5"/>
                </a:solidFill>
                <a:latin typeface="Calibri"/>
              </a:rPr>
              <a:t>Put this as the main project architecture: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Sentinel-2 GeoTIFF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▼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Input Validation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▼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AOI Selection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▼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Patch Extraction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▼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128 × 128 × 4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▼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LDSR-S2 Encoder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▼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Latent Diffusion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31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Our Experimental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Input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Sentinel-2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512 × 512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4 bands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10 m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Output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LDSR-S2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2048 × 2048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4 bands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4× spatial dimensions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target: 2.5 m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Hardware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GPU: NVIDIA Tesla T4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Sampling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Tested: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20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50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32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Our Actual Visualization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Use your screenshot here.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Left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Original Sentinel-2</a:t>
            </a:r>
          </a:p>
          <a:p>
            <a:pPr algn="l">
              <a:spcAft>
                <a:spcPts val="400"/>
              </a:spcAft>
            </a:pPr>
            <a:r>
              <a:rPr sz="1600" i="1" b="1">
                <a:solidFill>
                  <a:srgbClr val="FF8F00"/>
                </a:solidFill>
                <a:latin typeface="Calibri"/>
              </a:rPr>
              <a:t> 512×512 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Right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LDSR-S2 output</a:t>
            </a:r>
          </a:p>
          <a:p>
            <a:pPr algn="l">
              <a:spcAft>
                <a:spcPts val="400"/>
              </a:spcAft>
            </a:pPr>
            <a:r>
              <a:rPr sz="1600" i="1" b="1">
                <a:solidFill>
                  <a:srgbClr val="FF8F00"/>
                </a:solidFill>
                <a:latin typeface="Calibri"/>
              </a:rPr>
              <a:t> 2048×2048 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Explain: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The output has four times the spatial dimensions in each direction, resulting in 16 times as many pixels.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33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What We Observed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Important observations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The model successfully performs 4× spatial reconstruction.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Output dimensions increase from 512×512 to 2048×2048.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The model reconstructs finer-looking spatial structures.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Increasing sampling steps increases computation.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Sampling steps do not change the scale factor.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MAX_PATCHES controls workload capacity, not image quality.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Satellite SR must be evaluated for spectral fidelity, not only visual sharpness.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34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Evaluation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To quantitatively evaluate SR, we can use: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PSNR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Peak Signal-to-Noise Ratio.</a:t>
            </a:r>
          </a:p>
          <a:p>
            <a:pPr algn="l">
              <a:spcAft>
                <a:spcPts val="400"/>
              </a:spcAft>
            </a:pPr>
            <a:r>
              <a:rPr sz="1600" i="1" b="1">
                <a:solidFill>
                  <a:srgbClr val="FF8F00"/>
                </a:solidFill>
                <a:latin typeface="Calibri"/>
              </a:rPr>
              <a:t> PSNR = 10\log_{10} \left( \frac{MAX_I^2}{MSE} \right) 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Higher PSNR generally means lower pixel-wise reconstruction error.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MSE</a:t>
            </a:r>
          </a:p>
          <a:p>
            <a:pPr algn="l">
              <a:spcAft>
                <a:spcPts val="400"/>
              </a:spcAft>
            </a:pPr>
            <a:r>
              <a:rPr sz="1600" i="1" b="1">
                <a:solidFill>
                  <a:srgbClr val="FF8F00"/>
                </a:solidFill>
                <a:latin typeface="Calibri"/>
              </a:rPr>
              <a:t> MSE= \frac{1}{N} \sum_{i=1}^{N} (x_i-\hat{x_i})^2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35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SSIM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Structural Similarity Index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SSIM evaluates structural similarity between two images.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It considers: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Luminance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Contrast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Structure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Conceptually:</a:t>
            </a:r>
          </a:p>
          <a:p>
            <a:pPr algn="l">
              <a:spcAft>
                <a:spcPts val="400"/>
              </a:spcAft>
            </a:pPr>
            <a:r>
              <a:rPr sz="1600" i="1" b="1">
                <a:solidFill>
                  <a:srgbClr val="FF8F00"/>
                </a:solidFill>
                <a:latin typeface="Calibri"/>
              </a:rPr>
              <a:t> SSIM(x,y) = l(x,y)c(x,y)s(x,y) 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A value closer to 1 indicates greater structural similarity.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36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RMSE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Root Mean Square Error:</a:t>
            </a:r>
          </a:p>
          <a:p>
            <a:pPr algn="l">
              <a:spcAft>
                <a:spcPts val="400"/>
              </a:spcAft>
            </a:pPr>
            <a:r>
              <a:rPr sz="1600" i="1" b="1">
                <a:solidFill>
                  <a:srgbClr val="FF8F00"/>
                </a:solidFill>
                <a:latin typeface="Calibri"/>
              </a:rPr>
              <a:t> RMSE= \sqrt{ \frac{1}{N} \sum_{i=1}^{N} (x_i-\hat{x_i})^2 } 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Lower RMSE means lower reconstruction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37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Important Evaluation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In our small cross-sensor test, we obtained approximately: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Method	PSNR	SSIM	RMSE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Bicubic	18.346 dB	0.3928	0.01238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LDSR-S2	18.120 dB	0.3753	0.01268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Important interpretation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We should not claim LDSR-S2 is better than bicubic based on this small test.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The experiment was cross-sensor and limited, so it is not a definitive ranking of the model.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This is actually a useful point to discuss in class: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Visual improvement and quantitative improvement are not always the same 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38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1. Hallucination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Generated details may not correspond to real structures.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2. Spectral distortion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Sharper-looking output can still have incorrect spectral values.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3. Computational cost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Diffusion requires multiple denoising steps.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4. Large images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Large satellite scenes require patch-based processing.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5. Evaluation challenge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True 2.5 m Sentinel-2 HR reference data is generally not directly available.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6. Cross-sensor evaluation limitations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Aerial imagery and Sentinel-2 imagery have different sensor characteristics.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39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Why We Use Kaggle GPU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Local CPU: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Very slow diffusion inference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Kaggle: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Tesla T4 GPU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onsolas"/>
              </a:rPr>
              <a:t>↓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CUDA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onsolas"/>
              </a:rPr>
              <a:t>↓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PyTorch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onsolas"/>
              </a:rPr>
              <a:t>↓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Faster inference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The model is computationally demanding because diffusion requires repeated denoising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40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Final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INPUT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▼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Sentinel-2 10m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RGB + NIR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▼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Preprocessing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▼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4× Target Resolution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▼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Latent Encoder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▼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Diffusion Process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DDIM Sampling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│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onsolas"/>
              </a:rPr>
              <a:t>▼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2E"/>
                </a:solidFill>
                <a:latin typeface="Calibri"/>
              </a:rPr>
              <a:t>Decoder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41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B2A4A"/>
                </a:solidFill>
                <a:latin typeface="Calibri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Remember these 10 points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Super-resolution reconstructs a higher-resolution image from lower-resolution observations.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Sentinel-2 provides important multispectral information.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LDSR-S2 works on RGB + NIR.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LDSR-S2 performs:</a:t>
            </a:r>
          </a:p>
          <a:p>
            <a:pPr algn="l">
              <a:spcAft>
                <a:spcPts val="400"/>
              </a:spcAft>
            </a:pPr>
            <a:r>
              <a:rPr sz="1400" i="1" b="1">
                <a:solidFill>
                  <a:srgbClr val="FF8F00"/>
                </a:solidFill>
                <a:latin typeface="Calibri"/>
              </a:rPr>
              <a:t> 10m→2.5m 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E88E5"/>
                </a:solidFill>
                <a:latin typeface="Calibri"/>
              </a:rPr>
              <a:t>The spatial scale factor is:</a:t>
            </a:r>
          </a:p>
          <a:p>
            <a:pPr algn="l">
              <a:spcAft>
                <a:spcPts val="400"/>
              </a:spcAft>
            </a:pPr>
            <a:r>
              <a:rPr sz="1400" i="1" b="1">
                <a:solidFill>
                  <a:srgbClr val="FF8F00"/>
                </a:solidFill>
                <a:latin typeface="Calibri"/>
              </a:rPr>
              <a:t> 4× 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It uses latent diffusion, rather than performing diffusion directly on the full image.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The LR image is encoded and used as conditioning.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Diffusion starts from noise and performs iterative denoising.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The model uses DDIM sampling during inference.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Trustworthiness matters: generated detail must not be confused with actual observed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66"/>
                </a:solidFill>
                <a:latin typeface="Calibri"/>
              </a:rPr>
              <a:t>42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66"/>
                </a:solidFill>
                <a:latin typeface="Calibri"/>
              </a:rPr>
              <a:t>LDSR-S2 · Sentinel-2 Super-Resolution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