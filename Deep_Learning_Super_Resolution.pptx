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Deep Learning Based Super-Resolution Mapping from Medium Resolution Satellite Imagery</a:t>
            </a:r>
          </a:p>
          <a:p>
            <a:pPr>
              <a:spcAft>
                <a:spcPts val="600"/>
              </a:spcAft>
            </a:pPr>
            <a:r>
              <a:t>Using Latent Diffusion for Sentinel-2 Super-Resolution</a:t>
            </a:r>
          </a:p>
          <a:p>
            <a:pPr>
              <a:spcAft>
                <a:spcPts val="600"/>
              </a:spcAft>
            </a:pPr>
            <a:r>
              <a:t>Model: LDSR-S2</a:t>
            </a:r>
          </a:p>
          <a:p>
            <a:pPr>
              <a:spcAft>
                <a:spcPts val="600"/>
              </a:spcAft>
            </a:pPr>
            <a:r>
              <a:t>Input: Sentinel-2 RGB + NIR</a:t>
            </a:r>
          </a:p>
          <a:p>
            <a:pPr>
              <a:spcAft>
                <a:spcPts val="600"/>
              </a:spcAft>
            </a:pPr>
            <a:r>
              <a:t>Input resolution: 10 m</a:t>
            </a:r>
          </a:p>
          <a:p>
            <a:pPr>
              <a:spcAft>
                <a:spcPts val="600"/>
              </a:spcAft>
            </a:pPr>
            <a:r>
              <a:t>Output resolution: 2.5 m</a:t>
            </a:r>
          </a:p>
          <a:p>
            <a:pPr>
              <a:spcAft>
                <a:spcPts val="600"/>
              </a:spcAft>
            </a:pPr>
            <a:r>
              <a:t>Super-resolution factor: 4×</a:t>
            </a:r>
          </a:p>
          <a:p>
            <a:pPr>
              <a:spcAft>
                <a:spcPts val="600"/>
              </a:spcAft>
            </a:pPr>
            <a:r>
              <a:t>Framework: PyTorch / OpenSR</a:t>
            </a:r>
          </a:p>
          <a:p>
            <a:pPr>
              <a:spcAft>
                <a:spcPts val="600"/>
              </a:spcAft>
            </a:pPr>
            <a:r>
              <a:t>Deployment: Kaggle GPU + Tesla T4</a:t>
            </a:r>
          </a:p>
          <a:p>
            <a:pPr>
              <a:spcAft>
                <a:spcPts val="600"/>
              </a:spcAft>
            </a:pPr>
            <a:r>
              <a:t>Presented by: Shreeyansh Janu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Super-Resolution?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Super-Resolution (SR)</a:t>
            </a:r>
          </a:p>
          <a:p>
            <a:pPr>
              <a:spcAft>
                <a:spcPts val="600"/>
              </a:spcAft>
            </a:pPr>
            <a:r>
              <a:t>Super-resolution is the process of reconstructing a higher-resolution image from a lower-resolution image.</a:t>
            </a:r>
          </a:p>
          <a:p>
            <a:pPr>
              <a:spcAft>
                <a:spcPts val="600"/>
              </a:spcAft>
            </a:pPr>
            <a:r>
              <a:t>We can represent the problem as:</a:t>
            </a:r>
          </a:p>
          <a:p>
            <a:pPr>
              <a:spcAft>
                <a:spcPts val="600"/>
              </a:spcAft>
            </a:pPr>
            <a:r>
              <a:t>$$ x_{LR} \rightarrow \hat{x}_{HR} $$</a:t>
            </a:r>
          </a:p>
          <a:p>
            <a:pPr>
              <a:spcAft>
                <a:spcPts val="600"/>
              </a:spcAft>
            </a:pPr>
            <a:r>
              <a:t>where:</a:t>
            </a:r>
          </a:p>
          <a:p>
            <a:pPr>
              <a:spcAft>
                <a:spcPts val="600"/>
              </a:spcAft>
            </a:pPr>
            <a:r>
              <a:t>\(x_{LR}\) = Low Resolution image</a:t>
            </a:r>
          </a:p>
          <a:p>
            <a:pPr>
              <a:spcAft>
                <a:spcPts val="600"/>
              </a:spcAft>
            </a:pPr>
            <a:r>
              <a:t>\(x_{HR}\) = true High Resolution image</a:t>
            </a:r>
          </a:p>
          <a:p>
            <a:pPr>
              <a:spcAft>
                <a:spcPts val="600"/>
              </a:spcAft>
            </a:pPr>
            <a:r>
              <a:t>\(\hat{x}_{HR}\) = predicted/reconstructed High Resolution image</a:t>
            </a:r>
          </a:p>
          <a:p>
            <a:pPr>
              <a:spcAft>
                <a:spcPts val="600"/>
              </a:spcAft>
            </a:pPr>
            <a:r>
              <a:t>Important point</a:t>
            </a:r>
          </a:p>
          <a:p>
            <a:pPr>
              <a:spcAft>
                <a:spcPts val="600"/>
              </a:spcAft>
            </a:pPr>
            <a:r>
              <a:t>The model is not simply resizing pixels.</a:t>
            </a:r>
          </a:p>
          <a:p>
            <a:pPr>
              <a:spcAft>
                <a:spcPts val="600"/>
              </a:spcAft>
            </a:pPr>
            <a:r>
              <a:t>It learns a mapping:</a:t>
            </a:r>
          </a:p>
          <a:p>
            <a:pPr>
              <a:spcAft>
                <a:spcPts val="600"/>
              </a:spcAft>
            </a:pPr>
            <a:r>
              <a:t>$$ f_\theta(x_{LR}) \rightarrow \hat{x}_{HR} $$</a:t>
            </a:r>
          </a:p>
          <a:p>
            <a:pPr>
              <a:spcAft>
                <a:spcPts val="600"/>
              </a:spcAft>
            </a:pPr>
            <a:r>
              <a:t>where \(f_\theta\) is the deep-learning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Satellite Super-Resolution?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Problem with satellite imagery</a:t>
            </a:r>
          </a:p>
          <a:p>
            <a:pPr>
              <a:spcAft>
                <a:spcPts val="600"/>
              </a:spcAft>
            </a:pPr>
            <a:r>
              <a:t>Satellite imagery provides large geographic coverage, but spatial resolution is limited.</a:t>
            </a:r>
          </a:p>
          <a:p>
            <a:pPr>
              <a:spcAft>
                <a:spcPts val="600"/>
              </a:spcAft>
            </a:pPr>
            <a:r>
              <a:t>For Sentinel-2:</a:t>
            </a:r>
          </a:p>
          <a:p>
            <a:pPr>
              <a:spcAft>
                <a:spcPts val="600"/>
              </a:spcAft>
            </a:pPr>
            <a:r>
              <a:t>RGB bands → 10 m</a:t>
            </a:r>
          </a:p>
          <a:p>
            <a:pPr>
              <a:spcAft>
                <a:spcPts val="600"/>
              </a:spcAft>
            </a:pPr>
            <a:r>
              <a:t>NIR band → 10 m</a:t>
            </a:r>
          </a:p>
          <a:p>
            <a:pPr>
              <a:spcAft>
                <a:spcPts val="600"/>
              </a:spcAft>
            </a:pPr>
            <a:r>
              <a:t>Some other bands → 20 m / 60 m</a:t>
            </a:r>
          </a:p>
          <a:p>
            <a:pPr>
              <a:spcAft>
                <a:spcPts val="600"/>
              </a:spcAft>
            </a:pPr>
            <a:r>
              <a:t>For many applications, finer spatial detail is desirable.</a:t>
            </a:r>
          </a:p>
          <a:p>
            <a:pPr>
              <a:spcAft>
                <a:spcPts val="600"/>
              </a:spcAft>
            </a:pPr>
            <a:r>
              <a:t>Applications</a:t>
            </a:r>
          </a:p>
          <a:p>
            <a:pPr>
              <a:spcAft>
                <a:spcPts val="600"/>
              </a:spcAft>
            </a:pPr>
            <a:r>
              <a:t>Agriculture</a:t>
            </a:r>
          </a:p>
          <a:p>
            <a:pPr>
              <a:spcAft>
                <a:spcPts val="600"/>
              </a:spcAft>
            </a:pPr>
            <a:r>
              <a:t>Urban mapping</a:t>
            </a:r>
          </a:p>
          <a:p>
            <a:pPr>
              <a:spcAft>
                <a:spcPts val="600"/>
              </a:spcAft>
            </a:pPr>
            <a:r>
              <a:t>Forest monitoring</a:t>
            </a:r>
          </a:p>
          <a:p>
            <a:pPr>
              <a:spcAft>
                <a:spcPts val="600"/>
              </a:spcAft>
            </a:pPr>
            <a:r>
              <a:t>Land-cover classification</a:t>
            </a:r>
          </a:p>
          <a:p>
            <a:pPr>
              <a:spcAft>
                <a:spcPts val="600"/>
              </a:spcAft>
            </a:pPr>
            <a:r>
              <a:t>Environmental monitoring</a:t>
            </a:r>
          </a:p>
          <a:p>
            <a:pPr>
              <a:spcAft>
                <a:spcPts val="600"/>
              </a:spcAft>
            </a:pPr>
            <a:r>
              <a:t>Change detection</a:t>
            </a:r>
          </a:p>
          <a:p>
            <a:pPr>
              <a:spcAft>
                <a:spcPts val="600"/>
              </a:spcAft>
            </a:pPr>
            <a:r>
              <a:t>Road/building analysis</a:t>
            </a:r>
          </a:p>
          <a:p>
            <a:pPr>
              <a:spcAft>
                <a:spcPts val="600"/>
              </a:spcAft>
            </a:pPr>
            <a:r>
              <a:t>The LDSR-S2 paper specifically targets 10 m → 2.5 m RGB-NIR super-resolution.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Sentinel-2 Bands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RGB + NIR</a:t>
            </a:r>
          </a:p>
          <a:p>
            <a:pPr>
              <a:spcAft>
                <a:spcPts val="600"/>
              </a:spcAft>
            </a:pPr>
            <a:r>
              <a:t>Our model works with four bands:</a:t>
            </a:r>
          </a:p>
          <a:p>
            <a:pPr>
              <a:spcAft>
                <a:spcPts val="600"/>
              </a:spcAft>
            </a:pPr>
            <a:r>
              <a:t>Band	Meaning	Wavelength region</a:t>
            </a:r>
          </a:p>
          <a:p>
            <a:pPr>
              <a:spcAft>
                <a:spcPts val="600"/>
              </a:spcAft>
            </a:pPr>
            <a:r>
              <a:t>B04	Red	Visible</a:t>
            </a:r>
          </a:p>
          <a:p>
            <a:pPr>
              <a:spcAft>
                <a:spcPts val="600"/>
              </a:spcAft>
            </a:pPr>
            <a:r>
              <a:t>B03	Green	Visible</a:t>
            </a:r>
          </a:p>
          <a:p>
            <a:pPr>
              <a:spcAft>
                <a:spcPts val="600"/>
              </a:spcAft>
            </a:pPr>
            <a:r>
              <a:t>B02	Blue	Visible</a:t>
            </a:r>
          </a:p>
          <a:p>
            <a:pPr>
              <a:spcAft>
                <a:spcPts val="600"/>
              </a:spcAft>
            </a:pPr>
            <a:r>
              <a:t>B08	Near Infrared	NIR</a:t>
            </a:r>
          </a:p>
          <a:p>
            <a:pPr>
              <a:spcAft>
                <a:spcPts val="600"/>
              </a:spcAft>
            </a:pPr>
            <a:r>
              <a:t>Input tensor:</a:t>
            </a:r>
          </a:p>
          <a:p>
            <a:pPr>
              <a:spcAft>
                <a:spcPts val="600"/>
              </a:spcAft>
            </a:pPr>
            <a:r>
              <a:t>$$ X_{LR}\in R^{4\times H\times W} $$</a:t>
            </a:r>
          </a:p>
          <a:p>
            <a:pPr>
              <a:spcAft>
                <a:spcPts val="600"/>
              </a:spcAft>
            </a:pPr>
            <a:r>
              <a:t>The four channels provide both:</a:t>
            </a:r>
          </a:p>
          <a:p>
            <a:pPr>
              <a:spcAft>
                <a:spcPts val="600"/>
              </a:spcAft>
            </a:pPr>
            <a:r>
              <a:t>Spatial information + spectral information</a:t>
            </a:r>
          </a:p>
          <a:p>
            <a:pPr>
              <a:spcAft>
                <a:spcPts val="600"/>
              </a:spcAft>
            </a:pPr>
            <a:r>
              <a:t>This is important because satellite imagery isn't just an RGB photograph.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Resolution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Suppose our Sentinel-2 image is:</a:t>
            </a:r>
          </a:p>
          <a:p>
            <a:pPr>
              <a:spcAft>
                <a:spcPts val="600"/>
              </a:spcAft>
            </a:pPr>
            <a:r>
              <a:t>$$ 512\times512 $$</a:t>
            </a:r>
          </a:p>
          <a:p>
            <a:pPr>
              <a:spcAft>
                <a:spcPts val="600"/>
              </a:spcAft>
            </a:pPr>
            <a:r>
              <a:t>at 10 m resolution.</a:t>
            </a:r>
          </a:p>
          <a:p>
            <a:pPr>
              <a:spcAft>
                <a:spcPts val="600"/>
              </a:spcAft>
            </a:pPr>
            <a:r>
              <a:t>LDSR-S2 produces:</a:t>
            </a:r>
          </a:p>
          <a:p>
            <a:pPr>
              <a:spcAft>
                <a:spcPts val="600"/>
              </a:spcAft>
            </a:pPr>
            <a:r>
              <a:t>$$ 2048\times2048 $$</a:t>
            </a:r>
          </a:p>
          <a:p>
            <a:pPr>
              <a:spcAft>
                <a:spcPts val="600"/>
              </a:spcAft>
            </a:pPr>
            <a:r>
              <a:t>because:</a:t>
            </a:r>
          </a:p>
          <a:p>
            <a:pPr>
              <a:spcAft>
                <a:spcPts val="600"/>
              </a:spcAft>
            </a:pPr>
            <a:r>
              <a:t>$$ 512\times4=2048 $$</a:t>
            </a:r>
          </a:p>
          <a:p>
            <a:pPr>
              <a:spcAft>
                <a:spcPts val="600"/>
              </a:spcAft>
            </a:pPr>
            <a:r>
              <a:t>Therefore:</a:t>
            </a:r>
          </a:p>
          <a:p>
            <a:pPr>
              <a:spcAft>
                <a:spcPts val="600"/>
              </a:spcAft>
            </a:pPr>
            <a:r>
              <a:t>$$ 512\times512 \rightarrow 2048\times2048 $$</a:t>
            </a:r>
          </a:p>
          <a:p>
            <a:pPr>
              <a:spcAft>
                <a:spcPts val="600"/>
              </a:spcAft>
            </a:pPr>
            <a:r>
              <a:t>Ground sampling distance</a:t>
            </a:r>
          </a:p>
          <a:p>
            <a:pPr>
              <a:spcAft>
                <a:spcPts val="600"/>
              </a:spcAft>
            </a:pPr>
            <a:r>
              <a:t>$$ 10m \rightarrow 2.5m $$</a:t>
            </a:r>
          </a:p>
          <a:p>
            <a:pPr>
              <a:spcAft>
                <a:spcPts val="600"/>
              </a:spcAft>
            </a:pPr>
            <a:r>
              <a:t>because:</a:t>
            </a:r>
          </a:p>
          <a:p>
            <a:pPr>
              <a:spcAft>
                <a:spcPts val="600"/>
              </a:spcAft>
            </a:pPr>
            <a:r>
              <a:t>$$ \frac{10}{4}=2.5m $$</a:t>
            </a:r>
          </a:p>
          <a:p>
            <a:pPr>
              <a:spcAft>
                <a:spcPts val="600"/>
              </a:spcAft>
            </a:pPr>
            <a:r>
              <a:t>Important distinction</a:t>
            </a:r>
          </a:p>
          <a:p>
            <a:pPr>
              <a:spcAft>
                <a:spcPts val="600"/>
              </a:spcAft>
            </a:pPr>
            <a:r>
              <a:t>4× means 4× width and 4× height, not 4× total pixels.</a:t>
            </a:r>
          </a:p>
          <a:p>
            <a:pPr>
              <a:spcAft>
                <a:spcPts val="600"/>
              </a:spcAft>
            </a:pPr>
            <a:r>
              <a:t>Total pixels increase by:</a:t>
            </a:r>
          </a:p>
          <a:p>
            <a:pPr>
              <a:spcAft>
                <a:spcPts val="600"/>
              </a:spcAft>
            </a:pPr>
            <a:r>
              <a:t>$$ 4^2=16 $$</a:t>
            </a:r>
          </a:p>
          <a:p>
            <a:pPr>
              <a:spcAft>
                <a:spcPts val="600"/>
              </a:spcAft>
            </a:pPr>
            <a:r>
              <a:t>So a 512×512 image has:</a:t>
            </a:r>
          </a:p>
          <a:p>
            <a:pPr>
              <a:spcAft>
                <a:spcPts val="600"/>
              </a:spcAft>
            </a:pPr>
            <a:r>
              <a:t>$$ 262,144 $$</a:t>
            </a:r>
          </a:p>
          <a:p>
            <a:pPr>
              <a:spcAft>
                <a:spcPts val="600"/>
              </a:spcAft>
            </a:pPr>
            <a:r>
              <a:t>pixels.</a:t>
            </a:r>
          </a:p>
          <a:p>
            <a:pPr>
              <a:spcAft>
                <a:spcPts val="600"/>
              </a:spcAft>
            </a:pPr>
            <a:r>
              <a:t>A 2048×2048 image has:</a:t>
            </a:r>
          </a:p>
          <a:p>
            <a:pPr>
              <a:spcAft>
                <a:spcPts val="600"/>
              </a:spcAft>
            </a:pPr>
            <a:r>
              <a:t>$$ 4,194,304 $$</a:t>
            </a:r>
          </a:p>
          <a:p>
            <a:pPr>
              <a:spcAft>
                <a:spcPts val="600"/>
              </a:spcAft>
            </a:pPr>
            <a:r>
              <a:t>pixels.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Image Upscaling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Before deep learning, we can use interpolation.</a:t>
            </a:r>
          </a:p>
          <a:p>
            <a:pPr>
              <a:spcAft>
                <a:spcPts val="600"/>
              </a:spcAft>
            </a:pPr>
            <a:r>
              <a:t>Common methods</a:t>
            </a:r>
          </a:p>
          <a:p>
            <a:pPr>
              <a:spcAft>
                <a:spcPts val="600"/>
              </a:spcAft>
            </a:pPr>
            <a:r>
              <a:t>Nearest Neighbor</a:t>
            </a:r>
          </a:p>
          <a:p>
            <a:pPr>
              <a:spcAft>
                <a:spcPts val="600"/>
              </a:spcAft>
            </a:pPr>
            <a:r>
              <a:t>Bilinear</a:t>
            </a:r>
          </a:p>
          <a:p>
            <a:pPr>
              <a:spcAft>
                <a:spcPts val="600"/>
              </a:spcAft>
            </a:pPr>
            <a:r>
              <a:t>Bicubic</a:t>
            </a:r>
          </a:p>
          <a:p>
            <a:pPr>
              <a:spcAft>
                <a:spcPts val="600"/>
              </a:spcAft>
            </a:pPr>
            <a:r>
              <a:t>For example:</a:t>
            </a:r>
          </a:p>
          <a:p>
            <a:pPr>
              <a:spcAft>
                <a:spcPts val="600"/>
              </a:spcAft>
            </a:pPr>
            <a:r>
              <a:t>$$ 512\times512 \xrightarrow{\text{Bicubic}} 2048\times2048 $$</a:t>
            </a:r>
          </a:p>
          <a:p>
            <a:pPr>
              <a:spcAft>
                <a:spcPts val="600"/>
              </a:spcAft>
            </a:pPr>
            <a:r>
              <a:t>Problem</a:t>
            </a:r>
          </a:p>
          <a:p>
            <a:pPr>
              <a:spcAft>
                <a:spcPts val="600"/>
              </a:spcAft>
            </a:pPr>
            <a:r>
              <a:t>Interpolation does not actually recover missing high-frequency information.</a:t>
            </a:r>
          </a:p>
          <a:p>
            <a:pPr>
              <a:spcAft>
                <a:spcPts val="600"/>
              </a:spcAft>
            </a:pPr>
            <a:r>
              <a:t>It estimates values from neighboring pixels.</a:t>
            </a:r>
          </a:p>
          <a:p>
            <a:pPr>
              <a:spcAft>
                <a:spcPts val="600"/>
              </a:spcAft>
            </a:pPr>
            <a:r>
              <a:t>Therefore:</a:t>
            </a:r>
          </a:p>
          <a:p>
            <a:pPr>
              <a:spcAft>
                <a:spcPts val="600"/>
              </a:spcAft>
            </a:pPr>
            <a:r>
              <a:t>Upscaling ≠ Super-resolution</a:t>
            </a:r>
          </a:p>
          <a:p>
            <a:pPr>
              <a:spcAft>
                <a:spcPts val="600"/>
              </a:spcAft>
            </a:pPr>
            <a:r>
              <a:t>Deep learning attempts to learn how plausible high-resolution structures relate to low-resolution observations.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Deep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A neural network learns:</a:t>
            </a:r>
          </a:p>
          <a:p>
            <a:pPr>
              <a:spcAft>
                <a:spcPts val="600"/>
              </a:spcAft>
            </a:pPr>
            <a:r>
              <a:t>$$ f_\theta(x_{LR})\approx x_{HR} $$</a:t>
            </a:r>
          </a:p>
          <a:p>
            <a:pPr>
              <a:spcAft>
                <a:spcPts val="600"/>
              </a:spcAft>
            </a:pPr>
            <a:r>
              <a:t>during training.</a:t>
            </a:r>
          </a:p>
          <a:p>
            <a:pPr>
              <a:spcAft>
                <a:spcPts val="600"/>
              </a:spcAft>
            </a:pPr>
            <a:r>
              <a:t>The model learns patterns such as:</a:t>
            </a:r>
          </a:p>
          <a:p>
            <a:pPr>
              <a:spcAft>
                <a:spcPts val="600"/>
              </a:spcAft>
            </a:pPr>
            <a:r>
              <a:t>edges</a:t>
            </a:r>
          </a:p>
          <a:p>
            <a:pPr>
              <a:spcAft>
                <a:spcPts val="600"/>
              </a:spcAft>
            </a:pPr>
            <a:r>
              <a:t>textures</a:t>
            </a:r>
          </a:p>
          <a:p>
            <a:pPr>
              <a:spcAft>
                <a:spcPts val="600"/>
              </a:spcAft>
            </a:pPr>
            <a:r>
              <a:t>structures</a:t>
            </a:r>
          </a:p>
          <a:p>
            <a:pPr>
              <a:spcAft>
                <a:spcPts val="600"/>
              </a:spcAft>
            </a:pPr>
            <a:r>
              <a:t>spectral relationships</a:t>
            </a:r>
          </a:p>
          <a:p>
            <a:pPr>
              <a:spcAft>
                <a:spcPts val="600"/>
              </a:spcAft>
            </a:pPr>
            <a:r>
              <a:t>spatial patterns</a:t>
            </a:r>
          </a:p>
          <a:p>
            <a:pPr>
              <a:spcAft>
                <a:spcPts val="600"/>
              </a:spcAft>
            </a:pPr>
            <a:r>
              <a:t>Instead of manually defining an interpolation rule, the network learns the reconstruction process from training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 Deep Learning SR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1. CNN-based SR</a:t>
            </a:r>
          </a:p>
          <a:p>
            <a:pPr>
              <a:spcAft>
                <a:spcPts val="600"/>
              </a:spcAft>
            </a:pPr>
            <a:r>
              <a:t>Examples:</a:t>
            </a:r>
          </a:p>
          <a:p>
            <a:pPr>
              <a:spcAft>
                <a:spcPts val="600"/>
              </a:spcAft>
            </a:pPr>
            <a:r>
              <a:t>SRCNN</a:t>
            </a:r>
          </a:p>
          <a:p>
            <a:pPr>
              <a:spcAft>
                <a:spcPts val="600"/>
              </a:spcAft>
            </a:pPr>
            <a:r>
              <a:t>EDSR</a:t>
            </a:r>
          </a:p>
          <a:p>
            <a:pPr>
              <a:spcAft>
                <a:spcPts val="600"/>
              </a:spcAft>
            </a:pPr>
            <a:r>
              <a:t>RCAN</a:t>
            </a:r>
          </a:p>
          <a:p>
            <a:pPr>
              <a:spcAft>
                <a:spcPts val="600"/>
              </a:spcAft>
            </a:pPr>
            <a:r>
              <a:t>Basic idea:</a:t>
            </a:r>
          </a:p>
          <a:p>
            <a:pPr>
              <a:spcAft>
                <a:spcPts val="600"/>
              </a:spcAft>
            </a:pPr>
            <a:r>
              <a:t>$$ LR \rightarrow CNN \rightarrow HR $$</a:t>
            </a:r>
          </a:p>
          <a:p>
            <a:pPr>
              <a:spcAft>
                <a:spcPts val="600"/>
              </a:spcAft>
            </a:pPr>
            <a:r>
              <a:t>2. GAN-based SR</a:t>
            </a:r>
          </a:p>
          <a:p>
            <a:pPr>
              <a:spcAft>
                <a:spcPts val="600"/>
              </a:spcAft>
            </a:pPr>
            <a:r>
              <a:t>Example:</a:t>
            </a:r>
          </a:p>
          <a:p>
            <a:pPr>
              <a:spcAft>
                <a:spcPts val="600"/>
              </a:spcAft>
            </a:pPr>
            <a:r>
              <a:t>SRGAN</a:t>
            </a:r>
          </a:p>
          <a:p>
            <a:pPr>
              <a:spcAft>
                <a:spcPts val="600"/>
              </a:spcAft>
            </a:pPr>
            <a:r>
              <a:t>Uses:</a:t>
            </a:r>
          </a:p>
          <a:p>
            <a:pPr>
              <a:spcAft>
                <a:spcPts val="600"/>
              </a:spcAft>
            </a:pPr>
            <a:r>
              <a:t>Generator</a:t>
            </a:r>
          </a:p>
          <a:p>
            <a:pPr>
              <a:spcAft>
                <a:spcPts val="600"/>
              </a:spcAft>
            </a:pPr>
            <a:r>
              <a:t>Discriminator</a:t>
            </a:r>
          </a:p>
          <a:p>
            <a:pPr>
              <a:spcAft>
                <a:spcPts val="600"/>
              </a:spcAft>
            </a:pPr>
            <a:r>
              <a:t>Goal:</a:t>
            </a:r>
          </a:p>
          <a:p>
            <a:pPr>
              <a:spcAft>
                <a:spcPts val="600"/>
              </a:spcAft>
            </a:pPr>
            <a:r>
              <a:t>Generate visually realistic high-resolution images.</a:t>
            </a:r>
          </a:p>
          <a:p>
            <a:pPr>
              <a:spcAft>
                <a:spcPts val="600"/>
              </a:spcAft>
            </a:pPr>
            <a:r>
              <a:t>Problem for remote sensing:</a:t>
            </a:r>
          </a:p>
          <a:p>
            <a:pPr>
              <a:spcAft>
                <a:spcPts val="600"/>
              </a:spcAft>
            </a:pPr>
            <a:r>
              <a:t>A visually realistic hallucination may not represent the real Earth surface.</a:t>
            </a:r>
          </a:p>
          <a:p>
            <a:pPr>
              <a:spcAft>
                <a:spcPts val="600"/>
              </a:spcAft>
            </a:pPr>
            <a:r>
              <a:t>3. Diffusion-based SR</a:t>
            </a:r>
          </a:p>
          <a:p>
            <a:pPr>
              <a:spcAft>
                <a:spcPts val="600"/>
              </a:spcAft>
            </a:pPr>
            <a:r>
              <a:t>Uses a probabilistic generation process.</a:t>
            </a:r>
          </a:p>
          <a:p>
            <a:pPr>
              <a:spcAft>
                <a:spcPts val="600"/>
              </a:spcAft>
            </a:pPr>
            <a:r>
              <a:t>Instead of directly predicting HR:</a:t>
            </a:r>
          </a:p>
          <a:p>
            <a:pPr>
              <a:spcAft>
                <a:spcPts val="600"/>
              </a:spcAft>
            </a:pPr>
            <a:r>
              <a:t>$$ LR\rightarrow HR $$</a:t>
            </a:r>
          </a:p>
          <a:p>
            <a:pPr>
              <a:spcAft>
                <a:spcPts val="600"/>
              </a:spcAft>
            </a:pPr>
            <a:r>
              <a:t>it learns a reverse denoising process:</a:t>
            </a:r>
          </a:p>
          <a:p>
            <a:pPr>
              <a:spcAft>
                <a:spcPts val="600"/>
              </a:spcAft>
            </a:pPr>
            <a:r>
              <a:t>$$ Noise\rightarrow HR $$</a:t>
            </a:r>
          </a:p>
          <a:p>
            <a:pPr>
              <a:spcAft>
                <a:spcPts val="600"/>
              </a:spcAft>
            </a:pPr>
            <a:r>
              <a:t>while being conditioned on LR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Diffusion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A diffusion model has two major processes:</a:t>
            </a:r>
          </a:p>
          <a:p>
            <a:pPr>
              <a:spcAft>
                <a:spcPts val="600"/>
              </a:spcAft>
            </a:pPr>
            <a:r>
              <a:t>Forward diffusion</a:t>
            </a:r>
          </a:p>
          <a:p>
            <a:pPr>
              <a:spcAft>
                <a:spcPts val="600"/>
              </a:spcAft>
            </a:pPr>
            <a:r>
              <a:t>Gradually add noise to an image.</a:t>
            </a:r>
          </a:p>
          <a:p>
            <a:pPr>
              <a:spcAft>
                <a:spcPts val="600"/>
              </a:spcAft>
            </a:pPr>
            <a:r>
              <a:t>$$ x_0 \rightarrow x_1 \rightarrow x_2 \rightarrow ... \rightarrow x_T $$</a:t>
            </a:r>
          </a:p>
          <a:p>
            <a:pPr>
              <a:spcAft>
                <a:spcPts val="600"/>
              </a:spcAft>
            </a:pPr>
            <a:r>
              <a:t>where:</a:t>
            </a:r>
          </a:p>
          <a:p>
            <a:pPr>
              <a:spcAft>
                <a:spcPts val="600"/>
              </a:spcAft>
            </a:pPr>
            <a:r>
              <a:t>\(x_0\) = original image</a:t>
            </a:r>
          </a:p>
          <a:p>
            <a:pPr>
              <a:spcAft>
                <a:spcPts val="600"/>
              </a:spcAft>
            </a:pPr>
            <a:r>
              <a:t>\(x_T\) ≈ Gaussian noise</a:t>
            </a:r>
          </a:p>
          <a:p>
            <a:pPr>
              <a:spcAft>
                <a:spcPts val="600"/>
              </a:spcAft>
            </a:pPr>
            <a:r>
              <a:t>Reverse diffusion</a:t>
            </a:r>
          </a:p>
          <a:p>
            <a:pPr>
              <a:spcAft>
                <a:spcPts val="600"/>
              </a:spcAft>
            </a:pPr>
            <a:r>
              <a:t>The model learns to remove the noise:</a:t>
            </a:r>
          </a:p>
          <a:p>
            <a:pPr>
              <a:spcAft>
                <a:spcPts val="600"/>
              </a:spcAft>
            </a:pPr>
            <a:r>
              <a:t>$$ x_T\rightarrow x_{T-1}\rightarrow ...\rightarrow x_0 $$</a:t>
            </a:r>
          </a:p>
          <a:p>
            <a:pPr>
              <a:spcAft>
                <a:spcPts val="600"/>
              </a:spcAft>
            </a:pPr>
            <a:r>
              <a:t>This generates/reconstructs an image.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Diffusion Mathematics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The paper describes the forward process as:</a:t>
            </a:r>
          </a:p>
          <a:p>
            <a:pPr>
              <a:spcAft>
                <a:spcPts val="600"/>
              </a:spcAft>
            </a:pPr>
            <a:r>
              <a:t>$$ q(x_t|x_{t-1}) = \mathcal{N} \left( x_t; \sqrt{1-\beta_t}x_{t-1}, \beta_t I \right) $$</a:t>
            </a:r>
          </a:p>
          <a:p>
            <a:pPr>
              <a:spcAft>
                <a:spcPts val="600"/>
              </a:spcAft>
            </a:pPr>
            <a:r>
              <a:t>where:</a:t>
            </a:r>
          </a:p>
          <a:p>
            <a:pPr>
              <a:spcAft>
                <a:spcPts val="600"/>
              </a:spcAft>
            </a:pPr>
            <a:r>
              <a:t>\(t\) = diffusion timestep</a:t>
            </a:r>
          </a:p>
          <a:p>
            <a:pPr>
              <a:spcAft>
                <a:spcPts val="600"/>
              </a:spcAft>
            </a:pPr>
            <a:r>
              <a:t>\(\beta_t\) = noise variance schedule</a:t>
            </a:r>
          </a:p>
          <a:p>
            <a:pPr>
              <a:spcAft>
                <a:spcPts val="600"/>
              </a:spcAft>
            </a:pPr>
            <a:r>
              <a:t>\(I\) = identity matrix</a:t>
            </a:r>
          </a:p>
          <a:p>
            <a:pPr>
              <a:spcAft>
                <a:spcPts val="600"/>
              </a:spcAft>
            </a:pPr>
            <a:r>
              <a:t>\(\mathcal{N}\) = Gaussian distribution</a:t>
            </a:r>
          </a:p>
          <a:p>
            <a:pPr>
              <a:spcAft>
                <a:spcPts val="600"/>
              </a:spcAft>
            </a:pPr>
            <a:r>
              <a:t>As \(t\) increases:</a:t>
            </a:r>
          </a:p>
          <a:p>
            <a:pPr>
              <a:spcAft>
                <a:spcPts val="600"/>
              </a:spcAft>
            </a:pPr>
            <a:r>
              <a:t>$$ x_0 \rightarrow x_1 \rightarrow ... \rightarrow x_T $$</a:t>
            </a:r>
          </a:p>
          <a:p>
            <a:pPr>
              <a:spcAft>
                <a:spcPts val="600"/>
              </a:spcAft>
            </a:pPr>
            <a:r>
              <a:t>and more noise is introduced.</a:t>
            </a:r>
          </a:p>
          <a:p>
            <a:pPr>
              <a:spcAft>
                <a:spcPts val="600"/>
              </a:spcAft>
            </a:pPr>
            <a:r>
              <a:t>The paper uses a noise schedule \(\beta_t\) controlling the amount of noise at each timestep.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Reverse Diffusion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The model learns:</a:t>
            </a:r>
          </a:p>
          <a:p>
            <a:pPr>
              <a:spcAft>
                <a:spcPts val="600"/>
              </a:spcAft>
            </a:pPr>
            <a:r>
              <a:t>$$ p_\theta(x_{t-1}|x_t,z) $$</a:t>
            </a:r>
          </a:p>
          <a:p>
            <a:pPr>
              <a:spcAft>
                <a:spcPts val="600"/>
              </a:spcAft>
            </a:pPr>
            <a:r>
              <a:t>where \(z\) is the conditioning representation.</a:t>
            </a:r>
          </a:p>
          <a:p>
            <a:pPr>
              <a:spcAft>
                <a:spcPts val="600"/>
              </a:spcAft>
            </a:pPr>
            <a:r>
              <a:t>The paper represents the reverse transition as:</a:t>
            </a:r>
          </a:p>
          <a:p>
            <a:pPr>
              <a:spcAft>
                <a:spcPts val="600"/>
              </a:spcAft>
            </a:pPr>
            <a:r>
              <a:t>$$ p_\theta(x_{t-1}|x_t,z) = \mathcal{N} \left( x_{t-1}; \mu_\theta(x_t,t,z), \Sigma_\theta(x_t,t,z) \right) $$</a:t>
            </a:r>
          </a:p>
          <a:p>
            <a:pPr>
              <a:spcAft>
                <a:spcPts val="600"/>
              </a:spcAft>
            </a:pPr>
            <a:r>
              <a:t>The neural network learns:</a:t>
            </a:r>
          </a:p>
          <a:p>
            <a:pPr>
              <a:spcAft>
                <a:spcPts val="600"/>
              </a:spcAft>
            </a:pPr>
            <a:r>
              <a:t>$$ \mu_\theta $$</a:t>
            </a:r>
          </a:p>
          <a:p>
            <a:pPr>
              <a:spcAft>
                <a:spcPts val="600"/>
              </a:spcAft>
            </a:pPr>
            <a:r>
              <a:t>and</a:t>
            </a:r>
          </a:p>
          <a:p>
            <a:pPr>
              <a:spcAft>
                <a:spcPts val="600"/>
              </a:spcAft>
            </a:pPr>
            <a:r>
              <a:t>$$ \Sigma_\theta $$</a:t>
            </a:r>
          </a:p>
          <a:p>
            <a:pPr>
              <a:spcAft>
                <a:spcPts val="600"/>
              </a:spcAft>
            </a:pPr>
            <a:r>
              <a:t>for the reverse denoising process.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Latent Diffusion?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Problem with Pixel-Space Diffusion</a:t>
            </a:r>
          </a:p>
          <a:p>
            <a:pPr>
              <a:spcAft>
                <a:spcPts val="600"/>
              </a:spcAft>
            </a:pPr>
            <a:r>
              <a:t>Satellite images are large.</a:t>
            </a:r>
          </a:p>
          <a:p>
            <a:pPr>
              <a:spcAft>
                <a:spcPts val="600"/>
              </a:spcAft>
            </a:pPr>
            <a:r>
              <a:t>Running diffusion directly on:</a:t>
            </a:r>
          </a:p>
          <a:p>
            <a:pPr>
              <a:spcAft>
                <a:spcPts val="600"/>
              </a:spcAft>
            </a:pPr>
            <a:r>
              <a:t>$$ 512\times512\times4 $$</a:t>
            </a:r>
          </a:p>
          <a:p>
            <a:pPr>
              <a:spcAft>
                <a:spcPts val="600"/>
              </a:spcAft>
            </a:pPr>
            <a:r>
              <a:t>is computationally expensive.</a:t>
            </a:r>
          </a:p>
          <a:p>
            <a:pPr>
              <a:spcAft>
                <a:spcPts val="600"/>
              </a:spcAft>
            </a:pPr>
            <a:r>
              <a:t>Solution</a:t>
            </a:r>
          </a:p>
          <a:p>
            <a:pPr>
              <a:spcAft>
                <a:spcPts val="600"/>
              </a:spcAft>
            </a:pPr>
            <a:r>
              <a:t>Compress the image into a latent representation.</a:t>
            </a:r>
          </a:p>
          <a:p>
            <a:pPr>
              <a:spcAft>
                <a:spcPts val="600"/>
              </a:spcAft>
            </a:pPr>
            <a:r>
              <a:t>Instead of performing diffusion in pixel space:</a:t>
            </a:r>
          </a:p>
          <a:p>
            <a:pPr>
              <a:spcAft>
                <a:spcPts val="600"/>
              </a:spcAft>
            </a:pPr>
            <a:r>
              <a:t>$$ Image \rightarrow Diffusion $$</a:t>
            </a:r>
          </a:p>
          <a:p>
            <a:pPr>
              <a:spcAft>
                <a:spcPts val="600"/>
              </a:spcAft>
            </a:pPr>
            <a:r>
              <a:t>we perform:</a:t>
            </a:r>
          </a:p>
          <a:p>
            <a:pPr>
              <a:spcAft>
                <a:spcPts val="600"/>
              </a:spcAft>
            </a:pPr>
            <a:r>
              <a:t>$$ Image \rightarrow Encoder \rightarrow Latent \rightarrow Diffusion \rightarrow Decoder \rightarrow Image $$</a:t>
            </a:r>
          </a:p>
          <a:p>
            <a:pPr>
              <a:spcAft>
                <a:spcPts val="600"/>
              </a:spcAft>
            </a:pPr>
            <a:r>
              <a:t>This is called:</a:t>
            </a:r>
          </a:p>
          <a:p>
            <a:pPr>
              <a:spcAft>
                <a:spcPts val="600"/>
              </a:spcAft>
            </a:pPr>
            <a:r>
              <a:t>Latent Diffusion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LDSR-S2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Latent Diffusion Super-Resolution for Sentinel-2</a:t>
            </a:r>
          </a:p>
          <a:p>
            <a:pPr>
              <a:spcAft>
                <a:spcPts val="600"/>
              </a:spcAft>
            </a:pPr>
            <a:r>
              <a:t>The model used in our project is:</a:t>
            </a:r>
          </a:p>
          <a:p>
            <a:pPr>
              <a:spcAft>
                <a:spcPts val="600"/>
              </a:spcAft>
            </a:pPr>
            <a:r>
              <a:t>LDSR-S2</a:t>
            </a:r>
          </a:p>
          <a:p>
            <a:pPr>
              <a:spcAft>
                <a:spcPts val="600"/>
              </a:spcAft>
            </a:pPr>
            <a:r>
              <a:t>It was proposed by Donike et al. in the 2025 IEEE JSTARS paper.</a:t>
            </a:r>
          </a:p>
          <a:p>
            <a:pPr>
              <a:spcAft>
                <a:spcPts val="600"/>
              </a:spcAft>
            </a:pPr>
            <a:r>
              <a:t>The model performs:</a:t>
            </a:r>
          </a:p>
          <a:p>
            <a:pPr>
              <a:spcAft>
                <a:spcPts val="600"/>
              </a:spcAft>
            </a:pPr>
            <a:r>
              <a:t>$$ 10m \rightarrow 2.5m $$</a:t>
            </a:r>
          </a:p>
          <a:p>
            <a:pPr>
              <a:spcAft>
                <a:spcPts val="600"/>
              </a:spcAft>
            </a:pPr>
            <a:r>
              <a:t>with:</a:t>
            </a:r>
          </a:p>
          <a:p>
            <a:pPr>
              <a:spcAft>
                <a:spcPts val="600"/>
              </a:spcAft>
            </a:pPr>
            <a:r>
              <a:t>$$ 4\times $$</a:t>
            </a:r>
          </a:p>
          <a:p>
            <a:pPr>
              <a:spcAft>
                <a:spcPts val="600"/>
              </a:spcAft>
            </a:pPr>
            <a:r>
              <a:t>spatial scaling.</a:t>
            </a:r>
          </a:p>
          <a:p>
            <a:pPr>
              <a:spcAft>
                <a:spcPts val="600"/>
              </a:spcAft>
            </a:pPr>
            <a:r>
              <a:t>It specifically handles RGB-NIR Sentinel-2 imagery.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LDSR-S2 Overall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Put this flow on the slide:</a:t>
            </a:r>
          </a:p>
          <a:p>
            <a:pPr>
              <a:spcAft>
                <a:spcPts val="600"/>
              </a:spcAft>
            </a:pPr>
            <a:r>
              <a:t>Sentinel-2 LR</a:t>
            </a:r>
          </a:p>
          <a:p>
            <a:pPr>
              <a:spcAft>
                <a:spcPts val="600"/>
              </a:spcAft>
            </a:pPr>
            <a:r>
              <a:t>4 × H × W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┌──────────────────┐</a:t>
            </a:r>
          </a:p>
          <a:p>
            <a:pPr>
              <a:spcAft>
                <a:spcPts val="600"/>
              </a:spcAft>
            </a:pPr>
            <a:r>
              <a:t>│  Interpolation   │</a:t>
            </a:r>
          </a:p>
          <a:p>
            <a:pPr>
              <a:spcAft>
                <a:spcPts val="600"/>
              </a:spcAft>
            </a:pPr>
            <a:r>
              <a:t>│    4× upscale    │</a:t>
            </a:r>
          </a:p>
          <a:p>
            <a:pPr>
              <a:spcAft>
                <a:spcPts val="600"/>
              </a:spcAft>
            </a:pPr>
            <a:r>
              <a:t>└──────────────────┘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┌──────────────────┐</a:t>
            </a:r>
          </a:p>
          <a:p>
            <a:pPr>
              <a:spcAft>
                <a:spcPts val="600"/>
              </a:spcAft>
            </a:pPr>
            <a:r>
              <a:t>│     Encoder      │</a:t>
            </a:r>
          </a:p>
          <a:p>
            <a:pPr>
              <a:spcAft>
                <a:spcPts val="600"/>
              </a:spcAft>
            </a:pPr>
            <a:r>
              <a:t>│     A_enc        │</a:t>
            </a:r>
          </a:p>
          <a:p>
            <a:pPr>
              <a:spcAft>
                <a:spcPts val="600"/>
              </a:spcAft>
            </a:pPr>
            <a:r>
              <a:t>└──────────────────┘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Latent z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┌──────────────────┐</a:t>
            </a:r>
          </a:p>
          <a:p>
            <a:pPr>
              <a:spcAft>
                <a:spcPts val="600"/>
              </a:spcAft>
            </a:pPr>
            <a:r>
              <a:t>│ Diffusion / UNet │</a:t>
            </a:r>
          </a:p>
          <a:p>
            <a:pPr>
              <a:spcAft>
                <a:spcPts val="600"/>
              </a:spcAft>
            </a:pPr>
            <a:r>
              <a:t>│     Denoiser     │</a:t>
            </a:r>
          </a:p>
          <a:p>
            <a:pPr>
              <a:spcAft>
                <a:spcPts val="600"/>
              </a:spcAft>
            </a:pPr>
            <a:r>
              <a:t>└──────────────────┘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┌──────────────────┐</a:t>
            </a:r>
          </a:p>
          <a:p>
            <a:pPr>
              <a:spcAft>
                <a:spcPts val="600"/>
              </a:spcAft>
            </a:pPr>
            <a:r>
              <a:t>│     Decoder      │</a:t>
            </a:r>
          </a:p>
          <a:p>
            <a:pPr>
              <a:spcAft>
                <a:spcPts val="600"/>
              </a:spcAft>
            </a:pPr>
            <a:r>
              <a:t>│     A_dec        │</a:t>
            </a:r>
          </a:p>
          <a:p>
            <a:pPr>
              <a:spcAft>
                <a:spcPts val="600"/>
              </a:spcAft>
            </a:pPr>
            <a:r>
              <a:t>└──────────────────┘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SR RGB-NIR Image</a:t>
            </a:r>
          </a:p>
          <a:p>
            <a:pPr>
              <a:spcAft>
                <a:spcPts val="600"/>
              </a:spcAft>
            </a:pPr>
            <a:r>
              <a:t>4 × 4H × 4W</a:t>
            </a:r>
          </a:p>
          <a:p>
            <a:pPr>
              <a:spcAft>
                <a:spcPts val="600"/>
              </a:spcAft>
            </a:pPr>
            <a:r>
              <a:t>The published LDSR-S2 pipeline explicitly interpolates the LR image to target resolution, encodes it, performs latent diffusion conditioning, and decodes the result.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The autoencoder has two main components:</a:t>
            </a:r>
          </a:p>
          <a:p>
            <a:pPr>
              <a:spcAft>
                <a:spcPts val="600"/>
              </a:spcAft>
            </a:pPr>
            <a:r>
              <a:t>Encoder</a:t>
            </a:r>
          </a:p>
          <a:p>
            <a:pPr>
              <a:spcAft>
                <a:spcPts val="600"/>
              </a:spcAft>
            </a:pPr>
            <a:r>
              <a:t>$$ A_{enc}(x) $$</a:t>
            </a:r>
          </a:p>
          <a:p>
            <a:pPr>
              <a:spcAft>
                <a:spcPts val="600"/>
              </a:spcAft>
            </a:pPr>
            <a:r>
              <a:t>maps the image into latent space.</a:t>
            </a:r>
          </a:p>
          <a:p>
            <a:pPr>
              <a:spcAft>
                <a:spcPts val="600"/>
              </a:spcAft>
            </a:pPr>
            <a:r>
              <a:t>Decoder</a:t>
            </a:r>
          </a:p>
          <a:p>
            <a:pPr>
              <a:spcAft>
                <a:spcPts val="600"/>
              </a:spcAft>
            </a:pPr>
            <a:r>
              <a:t>$$ A_{dec}(z) $$</a:t>
            </a:r>
          </a:p>
          <a:p>
            <a:pPr>
              <a:spcAft>
                <a:spcPts val="600"/>
              </a:spcAft>
            </a:pPr>
            <a:r>
              <a:t>reconstructs the image from latent space.</a:t>
            </a:r>
          </a:p>
          <a:p>
            <a:pPr>
              <a:spcAft>
                <a:spcPts val="600"/>
              </a:spcAft>
            </a:pPr>
            <a:r>
              <a:t>For the model:</a:t>
            </a:r>
          </a:p>
          <a:p>
            <a:pPr>
              <a:spcAft>
                <a:spcPts val="600"/>
              </a:spcAft>
            </a:pPr>
            <a:r>
              <a:t>$$ 4\times512\times512 $$</a:t>
            </a:r>
          </a:p>
          <a:p>
            <a:pPr>
              <a:spcAft>
                <a:spcPts val="600"/>
              </a:spcAft>
            </a:pPr>
            <a:r>
              <a:t>is compressed to:</a:t>
            </a:r>
          </a:p>
          <a:p>
            <a:pPr>
              <a:spcAft>
                <a:spcPts val="600"/>
              </a:spcAft>
            </a:pPr>
            <a:r>
              <a:t>$$ 4\times128\times128 $$</a:t>
            </a:r>
          </a:p>
          <a:p>
            <a:pPr>
              <a:spcAft>
                <a:spcPts val="600"/>
              </a:spcAft>
            </a:pPr>
            <a:r>
              <a:t>according to the paper.</a:t>
            </a:r>
          </a:p>
          <a:p>
            <a:pPr>
              <a:spcAft>
                <a:spcPts val="600"/>
              </a:spcAft>
            </a:pPr>
            <a:r>
              <a:t>Therefore:</a:t>
            </a:r>
          </a:p>
          <a:p>
            <a:pPr>
              <a:spcAft>
                <a:spcPts val="600"/>
              </a:spcAft>
            </a:pPr>
            <a:r>
              <a:t>$$ 512/4=128 $$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Latent Space?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Instead of performing diffusion on:</a:t>
            </a:r>
          </a:p>
          <a:p>
            <a:pPr>
              <a:spcAft>
                <a:spcPts val="600"/>
              </a:spcAft>
            </a:pPr>
            <a:r>
              <a:t>$$ 512\times512\times4 $$</a:t>
            </a:r>
          </a:p>
          <a:p>
            <a:pPr>
              <a:spcAft>
                <a:spcPts val="600"/>
              </a:spcAft>
            </a:pPr>
            <a:r>
              <a:t>the model performs diffusion on:</a:t>
            </a:r>
          </a:p>
          <a:p>
            <a:pPr>
              <a:spcAft>
                <a:spcPts val="600"/>
              </a:spcAft>
            </a:pPr>
            <a:r>
              <a:t>$$ 128\times128\times4 $$</a:t>
            </a:r>
          </a:p>
          <a:p>
            <a:pPr>
              <a:spcAft>
                <a:spcPts val="600"/>
              </a:spcAft>
            </a:pPr>
            <a:r>
              <a:t>This dramatically reduces computational cost.</a:t>
            </a:r>
          </a:p>
          <a:p>
            <a:pPr>
              <a:spcAft>
                <a:spcPts val="600"/>
              </a:spcAft>
            </a:pPr>
            <a:r>
              <a:t>The latent representation preserves important information while reducing the spatial dimensionality.</a:t>
            </a:r>
          </a:p>
          <a:p>
            <a:pPr>
              <a:spcAft>
                <a:spcPts val="600"/>
              </a:spcAft>
            </a:pPr>
            <a:r>
              <a:t>Key idea</a:t>
            </a:r>
          </a:p>
          <a:p>
            <a:pPr>
              <a:spcAft>
                <a:spcPts val="600"/>
              </a:spcAft>
            </a:pPr>
            <a:r>
              <a:t>Diffuse in a compressed representation, decode afterward.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Conditioning: The Important 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This is one of the most important slides to understand.</a:t>
            </a:r>
          </a:p>
          <a:p>
            <a:pPr>
              <a:spcAft>
                <a:spcPts val="600"/>
              </a:spcAft>
            </a:pPr>
            <a:r>
              <a:t>Standard diffusion can generate images from noise.</a:t>
            </a:r>
          </a:p>
          <a:p>
            <a:pPr>
              <a:spcAft>
                <a:spcPts val="600"/>
              </a:spcAft>
            </a:pPr>
            <a:r>
              <a:t>But for satellite SR we need:</a:t>
            </a:r>
          </a:p>
          <a:p>
            <a:pPr>
              <a:spcAft>
                <a:spcPts val="600"/>
              </a:spcAft>
            </a:pPr>
            <a:r>
              <a:t>The output should remain consistent with the original Sentinel-2 observation.</a:t>
            </a:r>
          </a:p>
          <a:p>
            <a:pPr>
              <a:spcAft>
                <a:spcPts val="600"/>
              </a:spcAft>
            </a:pPr>
            <a:r>
              <a:t>Therefore LDSR-S2 conditions the diffusion process on the encoded LR image.</a:t>
            </a:r>
          </a:p>
          <a:p>
            <a:pPr>
              <a:spcAft>
                <a:spcPts val="600"/>
              </a:spcAft>
            </a:pPr>
            <a:r>
              <a:t>The paper uses:</a:t>
            </a:r>
          </a:p>
          <a:p>
            <a:pPr>
              <a:spcAft>
                <a:spcPts val="600"/>
              </a:spcAft>
            </a:pPr>
            <a:r>
              <a:t>$$ z=A_{enc}(x'_{LR}) $$</a:t>
            </a:r>
          </a:p>
          <a:p>
            <a:pPr>
              <a:spcAft>
                <a:spcPts val="600"/>
              </a:spcAft>
            </a:pPr>
            <a:r>
              <a:t>where \(x'_{LR}\) is the LR image interpolated to the target resolution.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Conditioning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Without conditioning:</a:t>
            </a:r>
          </a:p>
          <a:p>
            <a:pPr>
              <a:spcAft>
                <a:spcPts val="600"/>
              </a:spcAft>
            </a:pPr>
            <a:r>
              <a:t>Noise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Possible HR image</a:t>
            </a:r>
          </a:p>
          <a:p>
            <a:pPr>
              <a:spcAft>
                <a:spcPts val="600"/>
              </a:spcAft>
            </a:pPr>
            <a:r>
              <a:t>There can be many possible outputs.</a:t>
            </a:r>
          </a:p>
          <a:p>
            <a:pPr>
              <a:spcAft>
                <a:spcPts val="600"/>
              </a:spcAft>
            </a:pPr>
            <a:r>
              <a:t>With LR conditioning:</a:t>
            </a:r>
          </a:p>
          <a:p>
            <a:pPr>
              <a:spcAft>
                <a:spcPts val="600"/>
              </a:spcAft>
            </a:pPr>
            <a:r>
              <a:t>LR Sentinel-2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Encoder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Conditioning z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Diffusion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SR image</a:t>
            </a:r>
          </a:p>
          <a:p>
            <a:pPr>
              <a:spcAft>
                <a:spcPts val="600"/>
              </a:spcAft>
            </a:pPr>
            <a:r>
              <a:t>The LR observation constrains the reconstruction.</a:t>
            </a:r>
          </a:p>
          <a:p>
            <a:pPr>
              <a:spcAft>
                <a:spcPts val="600"/>
              </a:spcAft>
            </a:pPr>
            <a:r>
              <a:t>This helps maintain:</a:t>
            </a:r>
          </a:p>
          <a:p>
            <a:pPr>
              <a:spcAft>
                <a:spcPts val="600"/>
              </a:spcAft>
            </a:pPr>
            <a:r>
              <a:t>spectral consistency</a:t>
            </a:r>
          </a:p>
          <a:p>
            <a:pPr>
              <a:spcAft>
                <a:spcPts val="600"/>
              </a:spcAft>
            </a:pPr>
            <a:r>
              <a:t>spatial consistency</a:t>
            </a:r>
          </a:p>
          <a:p>
            <a:pPr>
              <a:spcAft>
                <a:spcPts val="600"/>
              </a:spcAft>
            </a:pPr>
            <a:r>
              <a:t>relationship with the original observation</a:t>
            </a:r>
          </a:p>
          <a:p>
            <a:pPr>
              <a:spcAft>
                <a:spcPts val="600"/>
              </a:spcAft>
            </a:pPr>
            <a:r>
              <a:t>This is particularly important in Earth observation because hallucinated structures can be scientifically misleading.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The paper uses a three-phase training process:</a:t>
            </a:r>
          </a:p>
          <a:p>
            <a:pPr>
              <a:spcAft>
                <a:spcPts val="600"/>
              </a:spcAft>
            </a:pPr>
            <a:r>
              <a:t>Phase 1 — Train Autoencoder</a:t>
            </a:r>
          </a:p>
          <a:p>
            <a:pPr>
              <a:spcAft>
                <a:spcPts val="600"/>
              </a:spcAft>
            </a:pPr>
            <a:r>
              <a:t>Learn a meaningful latent representation.</a:t>
            </a:r>
          </a:p>
          <a:p>
            <a:pPr>
              <a:spcAft>
                <a:spcPts val="600"/>
              </a:spcAft>
            </a:pPr>
            <a:r>
              <a:t>Phase 2 — Freeze Autoencoder</a:t>
            </a:r>
          </a:p>
          <a:p>
            <a:pPr>
              <a:spcAft>
                <a:spcPts val="600"/>
              </a:spcAft>
            </a:pPr>
            <a:r>
              <a:t>Train the diffusion denoiser using latent representations.</a:t>
            </a:r>
          </a:p>
          <a:p>
            <a:pPr>
              <a:spcAft>
                <a:spcPts val="600"/>
              </a:spcAft>
            </a:pPr>
            <a:r>
              <a:t>Phase 3 — Diffusion Inference</a:t>
            </a:r>
          </a:p>
          <a:p>
            <a:pPr>
              <a:spcAft>
                <a:spcPts val="600"/>
              </a:spcAft>
            </a:pPr>
            <a:r>
              <a:t>Use the trained model to reconstruct the high-resolution image.</a:t>
            </a:r>
          </a:p>
          <a:p>
            <a:pPr>
              <a:spcAft>
                <a:spcPts val="600"/>
              </a:spcAft>
            </a:pPr>
            <a:r>
              <a:t>Phase 1</a:t>
            </a:r>
          </a:p>
          <a:p>
            <a:pPr>
              <a:spcAft>
                <a:spcPts val="600"/>
              </a:spcAft>
            </a:pPr>
            <a:r>
              <a:t>AE Training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Phase 2</a:t>
            </a:r>
          </a:p>
          <a:p>
            <a:pPr>
              <a:spcAft>
                <a:spcPts val="600"/>
              </a:spcAft>
            </a:pPr>
            <a:r>
              <a:t>Denoiser Training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Phase 3</a:t>
            </a:r>
          </a:p>
          <a:p>
            <a:pPr>
              <a:spcAft>
                <a:spcPts val="600"/>
              </a:spcAft>
            </a:pPr>
            <a:r>
              <a:t>SR Inference</a:t>
            </a:r>
          </a:p>
          <a:p>
            <a:pPr>
              <a:spcAft>
                <a:spcPts val="600"/>
              </a:spcAft>
            </a:pPr>
            <a:r>
              <a:t>The paper explicitly describes this three-stage strategy.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Autoencoder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The paper uses a combined loss:</a:t>
            </a:r>
          </a:p>
          <a:p>
            <a:pPr>
              <a:spcAft>
                <a:spcPts val="600"/>
              </a:spcAft>
            </a:pPr>
            <a:r>
              <a:t>$$ L_{total} = \lambda_{WD}L_{WD} + \lambda_{MAE}L_{MAE} + \lambda_{GAN}L_{GAN} + \lambda_{LPIPS}L_{LPIPS} $$</a:t>
            </a:r>
          </a:p>
          <a:p>
            <a:pPr>
              <a:spcAft>
                <a:spcPts val="600"/>
              </a:spcAft>
            </a:pPr>
            <a:r>
              <a:t>Components</a:t>
            </a:r>
          </a:p>
          <a:p>
            <a:pPr>
              <a:spcAft>
                <a:spcPts val="600"/>
              </a:spcAft>
            </a:pPr>
            <a:r>
              <a:t>\(L_{WD}\)</a:t>
            </a:r>
          </a:p>
          <a:p>
            <a:pPr>
              <a:spcAft>
                <a:spcPts val="600"/>
              </a:spcAft>
            </a:pPr>
            <a:r>
              <a:t>Wasserstein distance regularization.</a:t>
            </a:r>
          </a:p>
          <a:p>
            <a:pPr>
              <a:spcAft>
                <a:spcPts val="600"/>
              </a:spcAft>
            </a:pPr>
            <a:r>
              <a:t>\(L_{MAE}\)</a:t>
            </a:r>
          </a:p>
          <a:p>
            <a:pPr>
              <a:spcAft>
                <a:spcPts val="600"/>
              </a:spcAft>
            </a:pPr>
            <a:r>
              <a:t>Mean Absolute Error reconstruction loss.</a:t>
            </a:r>
          </a:p>
          <a:p>
            <a:pPr>
              <a:spcAft>
                <a:spcPts val="600"/>
              </a:spcAft>
            </a:pPr>
            <a:r>
              <a:t>\(L_{GAN}\)</a:t>
            </a:r>
          </a:p>
          <a:p>
            <a:pPr>
              <a:spcAft>
                <a:spcPts val="600"/>
              </a:spcAft>
            </a:pPr>
            <a:r>
              <a:t>Adversarial loss.</a:t>
            </a:r>
          </a:p>
          <a:p>
            <a:pPr>
              <a:spcAft>
                <a:spcPts val="600"/>
              </a:spcAft>
            </a:pPr>
            <a:r>
              <a:t>\(L_{LPIPS}\)</a:t>
            </a:r>
          </a:p>
          <a:p>
            <a:pPr>
              <a:spcAft>
                <a:spcPts val="600"/>
              </a:spcAft>
            </a:pPr>
            <a:r>
              <a:t>Perceptual similarity loss.</a:t>
            </a:r>
          </a:p>
          <a:p>
            <a:pPr>
              <a:spcAft>
                <a:spcPts val="600"/>
              </a:spcAft>
            </a:pPr>
            <a:r>
              <a:t>The weights \(\lambda\) control the contribution of each component.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Denoiser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During training:</a:t>
            </a:r>
          </a:p>
          <a:p>
            <a:pPr>
              <a:spcAft>
                <a:spcPts val="600"/>
              </a:spcAft>
            </a:pPr>
            <a:r>
              <a:t>Take HR image.</a:t>
            </a:r>
          </a:p>
          <a:p>
            <a:pPr>
              <a:spcAft>
                <a:spcPts val="600"/>
              </a:spcAft>
            </a:pPr>
            <a:r>
              <a:t>Encode HR image.</a:t>
            </a:r>
          </a:p>
          <a:p>
            <a:pPr>
              <a:spcAft>
                <a:spcPts val="600"/>
              </a:spcAft>
            </a:pPr>
            <a:r>
              <a:t>Add diffusion noise.</a:t>
            </a:r>
          </a:p>
          <a:p>
            <a:pPr>
              <a:spcAft>
                <a:spcPts val="600"/>
              </a:spcAft>
            </a:pPr>
            <a:r>
              <a:t>Take LR image.</a:t>
            </a:r>
          </a:p>
          <a:p>
            <a:pPr>
              <a:spcAft>
                <a:spcPts val="600"/>
              </a:spcAft>
            </a:pPr>
            <a:r>
              <a:t>Upscale LR image.</a:t>
            </a:r>
          </a:p>
          <a:p>
            <a:pPr>
              <a:spcAft>
                <a:spcPts val="600"/>
              </a:spcAft>
            </a:pPr>
            <a:r>
              <a:t>Encode LR image.</a:t>
            </a:r>
          </a:p>
          <a:p>
            <a:pPr>
              <a:spcAft>
                <a:spcPts val="600"/>
              </a:spcAft>
            </a:pPr>
            <a:r>
              <a:t>Use encoded LR as conditioning.</a:t>
            </a:r>
          </a:p>
          <a:p>
            <a:pPr>
              <a:spcAft>
                <a:spcPts val="600"/>
              </a:spcAft>
            </a:pPr>
            <a:r>
              <a:t>Train the denoising network.</a:t>
            </a:r>
          </a:p>
          <a:p>
            <a:pPr>
              <a:spcAft>
                <a:spcPts val="600"/>
              </a:spcAft>
            </a:pPr>
            <a:r>
              <a:t>The model learns to predict the reverse diffusion process.</a:t>
            </a:r>
          </a:p>
          <a:p>
            <a:pPr>
              <a:spcAft>
                <a:spcPts val="600"/>
              </a:spcAft>
            </a:pPr>
            <a:r>
              <a:t>The paper uses an L2 objective for the denoiser.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During inference:</a:t>
            </a:r>
          </a:p>
          <a:p>
            <a:pPr>
              <a:spcAft>
                <a:spcPts val="600"/>
              </a:spcAft>
            </a:pPr>
            <a:r>
              <a:t>Step 1</a:t>
            </a:r>
          </a:p>
          <a:p>
            <a:pPr>
              <a:spcAft>
                <a:spcPts val="600"/>
              </a:spcAft>
            </a:pPr>
            <a:r>
              <a:t>Take LR Sentinel-2 image.</a:t>
            </a:r>
          </a:p>
          <a:p>
            <a:pPr>
              <a:spcAft>
                <a:spcPts val="600"/>
              </a:spcAft>
            </a:pPr>
            <a:r>
              <a:t>Step 2</a:t>
            </a:r>
          </a:p>
          <a:p>
            <a:pPr>
              <a:spcAft>
                <a:spcPts val="600"/>
              </a:spcAft>
            </a:pPr>
            <a:r>
              <a:t>Interpolate it to target resolution.</a:t>
            </a:r>
          </a:p>
          <a:p>
            <a:pPr>
              <a:spcAft>
                <a:spcPts val="600"/>
              </a:spcAft>
            </a:pPr>
            <a:r>
              <a:t>Step 3</a:t>
            </a:r>
          </a:p>
          <a:p>
            <a:pPr>
              <a:spcAft>
                <a:spcPts val="600"/>
              </a:spcAft>
            </a:pPr>
            <a:r>
              <a:t>Encode it:</a:t>
            </a:r>
          </a:p>
          <a:p>
            <a:pPr>
              <a:spcAft>
                <a:spcPts val="600"/>
              </a:spcAft>
            </a:pPr>
            <a:r>
              <a:t>$$ z=A_{enc}(x'_{LR}) $$</a:t>
            </a:r>
          </a:p>
          <a:p>
            <a:pPr>
              <a:spcAft>
                <a:spcPts val="600"/>
              </a:spcAft>
            </a:pPr>
            <a:r>
              <a:t>Step 4</a:t>
            </a:r>
          </a:p>
          <a:p>
            <a:pPr>
              <a:spcAft>
                <a:spcPts val="600"/>
              </a:spcAft>
            </a:pPr>
            <a:r>
              <a:t>Start with Gaussian noise:</a:t>
            </a:r>
          </a:p>
          <a:p>
            <a:pPr>
              <a:spcAft>
                <a:spcPts val="600"/>
              </a:spcAft>
            </a:pPr>
            <a:r>
              <a:t>$$ x_T\sim\mathcal{N}(0,I) $$</a:t>
            </a:r>
          </a:p>
          <a:p>
            <a:pPr>
              <a:spcAft>
                <a:spcPts val="600"/>
              </a:spcAft>
            </a:pPr>
            <a:r>
              <a:t>Step 5</a:t>
            </a:r>
          </a:p>
          <a:p>
            <a:pPr>
              <a:spcAft>
                <a:spcPts val="600"/>
              </a:spcAft>
            </a:pPr>
            <a:r>
              <a:t>Iteratively denoise:</a:t>
            </a:r>
          </a:p>
          <a:p>
            <a:pPr>
              <a:spcAft>
                <a:spcPts val="600"/>
              </a:spcAft>
            </a:pPr>
            <a:r>
              <a:t>$$ x_T\rightarrow x_{T-1} \rightarrow...\rightarrow x_0 $$</a:t>
            </a:r>
          </a:p>
          <a:p>
            <a:pPr>
              <a:spcAft>
                <a:spcPts val="600"/>
              </a:spcAft>
            </a:pPr>
            <a:r>
              <a:t>Step 6</a:t>
            </a:r>
          </a:p>
          <a:p>
            <a:pPr>
              <a:spcAft>
                <a:spcPts val="600"/>
              </a:spcAft>
            </a:pPr>
            <a:r>
              <a:t>Decode:</a:t>
            </a:r>
          </a:p>
          <a:p>
            <a:pPr>
              <a:spcAft>
                <a:spcPts val="600"/>
              </a:spcAft>
            </a:pPr>
            <a:r>
              <a:t>$$ \hat{x}_{HR}=A_{dec}(x_0) $$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DDIM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Our implementation uses diffusion sampling based on DDIM.</a:t>
            </a:r>
          </a:p>
          <a:p>
            <a:pPr>
              <a:spcAft>
                <a:spcPts val="600"/>
              </a:spcAft>
            </a:pPr>
            <a:r>
              <a:t>DDIM:</a:t>
            </a:r>
          </a:p>
          <a:p>
            <a:pPr>
              <a:spcAft>
                <a:spcPts val="600"/>
              </a:spcAft>
            </a:pPr>
            <a:r>
              <a:t>Denoising Diffusion Implicit Models</a:t>
            </a:r>
          </a:p>
          <a:p>
            <a:pPr>
              <a:spcAft>
                <a:spcPts val="600"/>
              </a:spcAft>
            </a:pPr>
            <a:r>
              <a:t>The model performs a sequence of denoising steps.</a:t>
            </a:r>
          </a:p>
          <a:p>
            <a:pPr>
              <a:spcAft>
                <a:spcPts val="600"/>
              </a:spcAft>
            </a:pPr>
            <a:r>
              <a:t>Our configurable parameter:</a:t>
            </a:r>
          </a:p>
          <a:p>
            <a:pPr>
              <a:spcAft>
                <a:spcPts val="600"/>
              </a:spcAft>
            </a:pPr>
            <a:r>
              <a:t>SAMPLING_STEPS = 20</a:t>
            </a:r>
          </a:p>
          <a:p>
            <a:pPr>
              <a:spcAft>
                <a:spcPts val="600"/>
              </a:spcAft>
            </a:pPr>
            <a:r>
              <a:t>or:</a:t>
            </a:r>
          </a:p>
          <a:p>
            <a:pPr>
              <a:spcAft>
                <a:spcPts val="600"/>
              </a:spcAft>
            </a:pPr>
            <a:r>
              <a:t>SAMPLING_STEPS = 50</a:t>
            </a:r>
          </a:p>
          <a:p>
            <a:pPr>
              <a:spcAft>
                <a:spcPts val="600"/>
              </a:spcAft>
            </a:pPr>
            <a:r>
              <a:t>or:</a:t>
            </a:r>
          </a:p>
          <a:p>
            <a:pPr>
              <a:spcAft>
                <a:spcPts val="600"/>
              </a:spcAft>
            </a:pPr>
            <a:r>
              <a:t>SAMPLING_STEPS = 100</a:t>
            </a:r>
          </a:p>
          <a:p>
            <a:pPr>
              <a:spcAft>
                <a:spcPts val="600"/>
              </a:spcAft>
            </a:pPr>
            <a:r>
              <a:t>The OpenSR demonstration also describes the LDSR-S2 pipeline with 100 DDIM steps.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 Steps vs Image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This is important for explaining your implementation.</a:t>
            </a:r>
          </a:p>
          <a:p>
            <a:pPr>
              <a:spcAft>
                <a:spcPts val="600"/>
              </a:spcAft>
            </a:pPr>
            <a:r>
              <a:t>Sampling steps</a:t>
            </a:r>
          </a:p>
          <a:p>
            <a:pPr>
              <a:spcAft>
                <a:spcPts val="600"/>
              </a:spcAft>
            </a:pPr>
            <a:r>
              <a:t>Controls the number of diffusion denoising iterations.</a:t>
            </a:r>
          </a:p>
          <a:p>
            <a:pPr>
              <a:spcAft>
                <a:spcPts val="600"/>
              </a:spcAft>
            </a:pPr>
            <a:r>
              <a:t>20 → faster</a:t>
            </a:r>
          </a:p>
          <a:p>
            <a:pPr>
              <a:spcAft>
                <a:spcPts val="600"/>
              </a:spcAft>
            </a:pPr>
            <a:r>
              <a:t>50 → more computation</a:t>
            </a:r>
          </a:p>
          <a:p>
            <a:pPr>
              <a:spcAft>
                <a:spcPts val="600"/>
              </a:spcAft>
            </a:pPr>
            <a:r>
              <a:t>100 → more computation</a:t>
            </a:r>
          </a:p>
          <a:p>
            <a:pPr>
              <a:spcAft>
                <a:spcPts val="600"/>
              </a:spcAft>
            </a:pPr>
            <a:r>
              <a:t>Increasing steps does not change:</a:t>
            </a:r>
          </a:p>
          <a:p>
            <a:pPr>
              <a:spcAft>
                <a:spcPts val="600"/>
              </a:spcAft>
            </a:pPr>
            <a:r>
              <a:t>$$ 512\times512 \rightarrow 2048\times2048 $$</a:t>
            </a:r>
          </a:p>
          <a:p>
            <a:pPr>
              <a:spcAft>
                <a:spcPts val="600"/>
              </a:spcAft>
            </a:pPr>
            <a:r>
              <a:t>The scale remains 4×.</a:t>
            </a:r>
          </a:p>
          <a:p>
            <a:pPr>
              <a:spcAft>
                <a:spcPts val="600"/>
              </a:spcAft>
            </a:pPr>
            <a:r>
              <a:t>MAX_PATCHES</a:t>
            </a:r>
          </a:p>
          <a:p>
            <a:pPr>
              <a:spcAft>
                <a:spcPts val="600"/>
              </a:spcAft>
            </a:pPr>
            <a:r>
              <a:t>Completely different.</a:t>
            </a:r>
          </a:p>
          <a:p>
            <a:pPr>
              <a:spcAft>
                <a:spcPts val="600"/>
              </a:spcAft>
            </a:pPr>
            <a:r>
              <a:t>It controls how many image patches the pipeline is allowed to process.</a:t>
            </a:r>
          </a:p>
          <a:p>
            <a:pPr>
              <a:spcAft>
                <a:spcPts val="600"/>
              </a:spcAft>
            </a:pPr>
            <a:r>
              <a:t>It does not improve the model quality.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Patch-Based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Large satellite images cannot always be processed as one giant tensor.</a:t>
            </a:r>
          </a:p>
          <a:p>
            <a:pPr>
              <a:spcAft>
                <a:spcPts val="600"/>
              </a:spcAft>
            </a:pPr>
            <a:r>
              <a:t>Therefore, our pipeline divides the image into patches.</a:t>
            </a:r>
          </a:p>
          <a:p>
            <a:pPr>
              <a:spcAft>
                <a:spcPts val="600"/>
              </a:spcAft>
            </a:pPr>
            <a:r>
              <a:t>Our project uses:</a:t>
            </a:r>
          </a:p>
          <a:p>
            <a:pPr>
              <a:spcAft>
                <a:spcPts val="600"/>
              </a:spcAft>
            </a:pPr>
            <a:r>
              <a:t>$$ 128\times128 $$</a:t>
            </a:r>
          </a:p>
          <a:p>
            <a:pPr>
              <a:spcAft>
                <a:spcPts val="600"/>
              </a:spcAft>
            </a:pPr>
            <a:r>
              <a:t>LR patches.</a:t>
            </a:r>
          </a:p>
          <a:p>
            <a:pPr>
              <a:spcAft>
                <a:spcPts val="600"/>
              </a:spcAft>
            </a:pPr>
            <a:r>
              <a:t>Each patch becomes:</a:t>
            </a:r>
          </a:p>
          <a:p>
            <a:pPr>
              <a:spcAft>
                <a:spcPts val="600"/>
              </a:spcAft>
            </a:pPr>
            <a:r>
              <a:t>$$ 128\times128 \rightarrow 512\times512 $$</a:t>
            </a:r>
          </a:p>
          <a:p>
            <a:pPr>
              <a:spcAft>
                <a:spcPts val="600"/>
              </a:spcAft>
            </a:pPr>
            <a:r>
              <a:t>after 4× SR.</a:t>
            </a:r>
          </a:p>
          <a:p>
            <a:pPr>
              <a:spcAft>
                <a:spcPts val="600"/>
              </a:spcAft>
            </a:pPr>
            <a:r>
              <a:t>Example</a:t>
            </a:r>
          </a:p>
          <a:p>
            <a:pPr>
              <a:spcAft>
                <a:spcPts val="600"/>
              </a:spcAft>
            </a:pPr>
            <a:r>
              <a:t>For our test:</a:t>
            </a:r>
          </a:p>
          <a:p>
            <a:pPr>
              <a:spcAft>
                <a:spcPts val="600"/>
              </a:spcAft>
            </a:pPr>
            <a:r>
              <a:t>Input</a:t>
            </a:r>
          </a:p>
          <a:p>
            <a:pPr>
              <a:spcAft>
                <a:spcPts val="600"/>
              </a:spcAft>
            </a:pPr>
            <a:r>
              <a:t>512 × 512</a:t>
            </a:r>
          </a:p>
          <a:p>
            <a:pPr>
              <a:spcAft>
                <a:spcPts val="600"/>
              </a:spcAft>
            </a:pPr>
            <a:r>
              <a:t>↓ divide into patches</a:t>
            </a:r>
          </a:p>
          <a:p>
            <a:pPr>
              <a:spcAft>
                <a:spcPts val="600"/>
              </a:spcAft>
            </a:pPr>
            <a:r>
              <a:t>25 patches</a:t>
            </a:r>
          </a:p>
          <a:p>
            <a:pPr>
              <a:spcAft>
                <a:spcPts val="600"/>
              </a:spcAft>
            </a:pPr>
            <a:r>
              <a:t>↓ LDSR-S2</a:t>
            </a:r>
          </a:p>
          <a:p>
            <a:pPr>
              <a:spcAft>
                <a:spcPts val="600"/>
              </a:spcAft>
            </a:pPr>
            <a:r>
              <a:t>Output</a:t>
            </a:r>
          </a:p>
          <a:p>
            <a:pPr>
              <a:spcAft>
                <a:spcPts val="600"/>
              </a:spcAft>
            </a:pPr>
            <a:r>
              <a:t>2048 × 2048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Our pipeline uses overlapping patches.</a:t>
            </a:r>
          </a:p>
          <a:p>
            <a:pPr>
              <a:spcAft>
                <a:spcPts val="600"/>
              </a:spcAft>
            </a:pPr>
            <a:r>
              <a:t>Why?</a:t>
            </a:r>
          </a:p>
          <a:p>
            <a:pPr>
              <a:spcAft>
                <a:spcPts val="600"/>
              </a:spcAft>
            </a:pPr>
            <a:r>
              <a:t>Without overlap:</a:t>
            </a:r>
          </a:p>
          <a:p>
            <a:pPr>
              <a:spcAft>
                <a:spcPts val="600"/>
              </a:spcAft>
            </a:pPr>
            <a:r>
              <a:t>Patch 1 | Patch 2</a:t>
            </a:r>
          </a:p>
          <a:p>
            <a:pPr>
              <a:spcAft>
                <a:spcPts val="600"/>
              </a:spcAft>
            </a:pPr>
            <a:r>
              <a:t>---------|---------</a:t>
            </a:r>
          </a:p>
          <a:p>
            <a:pPr>
              <a:spcAft>
                <a:spcPts val="600"/>
              </a:spcAft>
            </a:pPr>
            <a:r>
              <a:t>↑</a:t>
            </a:r>
          </a:p>
          <a:p>
            <a:pPr>
              <a:spcAft>
                <a:spcPts val="600"/>
              </a:spcAft>
            </a:pPr>
            <a:r>
              <a:t>seam</a:t>
            </a:r>
          </a:p>
          <a:p>
            <a:pPr>
              <a:spcAft>
                <a:spcPts val="600"/>
              </a:spcAft>
            </a:pPr>
            <a:r>
              <a:t>Independent patch processing can produce boundary artifacts.</a:t>
            </a:r>
          </a:p>
          <a:p>
            <a:pPr>
              <a:spcAft>
                <a:spcPts val="600"/>
              </a:spcAft>
            </a:pPr>
            <a:r>
              <a:t>Overlap allows neighboring patches to share contextual information and helps reduce seams.</a:t>
            </a:r>
          </a:p>
          <a:p>
            <a:pPr>
              <a:spcAft>
                <a:spcPts val="600"/>
              </a:spcAft>
            </a:pPr>
            <a:r>
              <a:t>Our project uses:</a:t>
            </a:r>
          </a:p>
          <a:p>
            <a:pPr>
              <a:spcAft>
                <a:spcPts val="600"/>
              </a:spcAft>
            </a:pPr>
            <a:r>
              <a:t>PATCH_SIZE = 128</a:t>
            </a:r>
          </a:p>
          <a:p>
            <a:pPr>
              <a:spcAft>
                <a:spcPts val="600"/>
              </a:spcAft>
            </a:pPr>
            <a:r>
              <a:t>OVERLAP = 8</a:t>
            </a:r>
          </a:p>
          <a:p>
            <a:pPr>
              <a:spcAft>
                <a:spcPts val="600"/>
              </a:spcAft>
            </a:pPr>
            <a:r>
              <a:t>for its processing pipeline.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Spectral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A major difference between normal image SR and satellite SR:</a:t>
            </a:r>
          </a:p>
          <a:p>
            <a:pPr>
              <a:spcAft>
                <a:spcPts val="600"/>
              </a:spcAft>
            </a:pPr>
            <a:r>
              <a:t>Normal RGB image</a:t>
            </a:r>
          </a:p>
          <a:p>
            <a:pPr>
              <a:spcAft>
                <a:spcPts val="600"/>
              </a:spcAft>
            </a:pPr>
            <a:r>
              <a:t>$$ 3\ channels $$</a:t>
            </a:r>
          </a:p>
          <a:p>
            <a:pPr>
              <a:spcAft>
                <a:spcPts val="600"/>
              </a:spcAft>
            </a:pPr>
            <a:r>
              <a:t>Sentinel-2 RGB-NIR</a:t>
            </a:r>
          </a:p>
          <a:p>
            <a:pPr>
              <a:spcAft>
                <a:spcPts val="600"/>
              </a:spcAft>
            </a:pPr>
            <a:r>
              <a:t>$$ 4\ channels $$ $$ [B04,B03,B02,B08] $$</a:t>
            </a:r>
          </a:p>
          <a:p>
            <a:pPr>
              <a:spcAft>
                <a:spcPts val="600"/>
              </a:spcAft>
            </a:pPr>
            <a:r>
              <a:t>The model therefore has to preserve not only visual appearance but also spectral relationships.</a:t>
            </a:r>
          </a:p>
          <a:p>
            <a:pPr>
              <a:spcAft>
                <a:spcPts val="600"/>
              </a:spcAft>
            </a:pPr>
            <a:r>
              <a:t>This is why a visually sharper image isn't automatically a scientifically better image.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Trustworthiness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The paper emphasizes that SR can create plausible but incorrect details.</a:t>
            </a:r>
          </a:p>
          <a:p>
            <a:pPr>
              <a:spcAft>
                <a:spcPts val="600"/>
              </a:spcAft>
            </a:pPr>
            <a:r>
              <a:t>This is called:</a:t>
            </a:r>
          </a:p>
          <a:p>
            <a:pPr>
              <a:spcAft>
                <a:spcPts val="600"/>
              </a:spcAft>
            </a:pPr>
            <a:r>
              <a:t>Hallucination</a:t>
            </a:r>
          </a:p>
          <a:p>
            <a:pPr>
              <a:spcAft>
                <a:spcPts val="600"/>
              </a:spcAft>
            </a:pPr>
            <a:r>
              <a:t>For Earth observation, hallucination is dangerous.</a:t>
            </a:r>
          </a:p>
          <a:p>
            <a:pPr>
              <a:spcAft>
                <a:spcPts val="600"/>
              </a:spcAft>
            </a:pPr>
            <a:r>
              <a:t>Example:</a:t>
            </a:r>
          </a:p>
          <a:p>
            <a:pPr>
              <a:spcAft>
                <a:spcPts val="600"/>
              </a:spcAft>
            </a:pPr>
            <a:r>
              <a:t>Actual satellite observation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SR model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Possible invented structure</a:t>
            </a:r>
          </a:p>
          <a:p>
            <a:pPr>
              <a:spcAft>
                <a:spcPts val="600"/>
              </a:spcAft>
            </a:pPr>
            <a:r>
              <a:t>A generated road, building, field boundary, or texture may look realistic but not actually exist.</a:t>
            </a:r>
          </a:p>
          <a:p>
            <a:pPr>
              <a:spcAft>
                <a:spcPts val="600"/>
              </a:spcAft>
            </a:pPr>
            <a:r>
              <a:t>Therefore:</a:t>
            </a:r>
          </a:p>
          <a:p>
            <a:pPr>
              <a:spcAft>
                <a:spcPts val="600"/>
              </a:spcAft>
            </a:pPr>
            <a:r>
              <a:t>More detail does not necessarily mean more truth.</a:t>
            </a:r>
          </a:p>
          <a:p>
            <a:pPr>
              <a:spcAft>
                <a:spcPts val="600"/>
              </a:spcAft>
            </a:pPr>
            <a:r>
              <a:t>This is one of the central motivations for LDSR-S2's trustworthy design.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Uncertainty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LDSR-S2 uses the probabilistic nature of diffusion to generate pixel-level uncertainty information.</a:t>
            </a:r>
          </a:p>
          <a:p>
            <a:pPr>
              <a:spcAft>
                <a:spcPts val="600"/>
              </a:spcAft>
            </a:pPr>
            <a:r>
              <a:t>Conceptually:</a:t>
            </a:r>
          </a:p>
          <a:p>
            <a:pPr>
              <a:spcAft>
                <a:spcPts val="600"/>
              </a:spcAft>
            </a:pPr>
            <a:r>
              <a:t>SR Image</a:t>
            </a:r>
          </a:p>
          <a:p>
            <a:pPr>
              <a:spcAft>
                <a:spcPts val="600"/>
              </a:spcAft>
            </a:pPr>
            <a:r>
              <a:t>+</a:t>
            </a:r>
          </a:p>
          <a:p>
            <a:pPr>
              <a:spcAft>
                <a:spcPts val="600"/>
              </a:spcAft>
            </a:pPr>
            <a:r>
              <a:t>Uncertainty Map</a:t>
            </a:r>
          </a:p>
          <a:p>
            <a:pPr>
              <a:spcAft>
                <a:spcPts val="600"/>
              </a:spcAft>
            </a:pPr>
            <a:r>
              <a:t>The uncertainty map tells us where the model is less certain about its reconstruction.</a:t>
            </a:r>
          </a:p>
          <a:p>
            <a:pPr>
              <a:spcAft>
                <a:spcPts val="600"/>
              </a:spcAft>
            </a:pPr>
            <a:r>
              <a:t>Why useful?</a:t>
            </a:r>
          </a:p>
          <a:p>
            <a:pPr>
              <a:spcAft>
                <a:spcPts val="600"/>
              </a:spcAft>
            </a:pPr>
            <a:r>
              <a:t>Users can distinguish:</a:t>
            </a:r>
          </a:p>
          <a:p>
            <a:pPr>
              <a:spcAft>
                <a:spcPts val="600"/>
              </a:spcAft>
            </a:pPr>
            <a:r>
              <a:t>confident reconstruction</a:t>
            </a:r>
          </a:p>
          <a:p>
            <a:pPr>
              <a:spcAft>
                <a:spcPts val="600"/>
              </a:spcAft>
            </a:pPr>
            <a:r>
              <a:t>uncertain reconstruction</a:t>
            </a:r>
          </a:p>
          <a:p>
            <a:pPr>
              <a:spcAft>
                <a:spcPts val="600"/>
              </a:spcAft>
            </a:pPr>
            <a:r>
              <a:t>This is particularly useful for:</a:t>
            </a:r>
          </a:p>
          <a:p>
            <a:pPr>
              <a:spcAft>
                <a:spcPts val="600"/>
              </a:spcAft>
            </a:pPr>
            <a:r>
              <a:t>Environmental monitoring</a:t>
            </a:r>
          </a:p>
          <a:p>
            <a:pPr>
              <a:spcAft>
                <a:spcPts val="600"/>
              </a:spcAft>
            </a:pPr>
            <a:r>
              <a:t>Land-cover mapping</a:t>
            </a:r>
          </a:p>
          <a:p>
            <a:pPr>
              <a:spcAft>
                <a:spcPts val="600"/>
              </a:spcAft>
            </a:pPr>
            <a:r>
              <a:t>Change detection</a:t>
            </a:r>
          </a:p>
          <a:p>
            <a:pPr>
              <a:spcAft>
                <a:spcPts val="600"/>
              </a:spcAft>
            </a:pPr>
            <a:r>
              <a:t>The paper identifies pixel-level uncertainty as a key trustworthiness component.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Technology stack</a:t>
            </a:r>
          </a:p>
          <a:p>
            <a:pPr>
              <a:spcAft>
                <a:spcPts val="600"/>
              </a:spcAft>
            </a:pPr>
            <a:r>
              <a:t>Sentinel-2 GeoTIFF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Python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Rasterio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OpenSR / LDSR-S2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PyTorch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Tesla T4 GPU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2048 × 2048 SR GeoTIFF</a:t>
            </a:r>
          </a:p>
          <a:p>
            <a:pPr>
              <a:spcAft>
                <a:spcPts val="600"/>
              </a:spcAft>
            </a:pPr>
            <a:r>
              <a:t>Project components</a:t>
            </a:r>
          </a:p>
          <a:p>
            <a:pPr>
              <a:spcAft>
                <a:spcPts val="600"/>
              </a:spcAft>
            </a:pPr>
            <a:r>
              <a:t>Python</a:t>
            </a:r>
          </a:p>
          <a:p>
            <a:pPr>
              <a:spcAft>
                <a:spcPts val="600"/>
              </a:spcAft>
            </a:pPr>
            <a:r>
              <a:t>PyTorch</a:t>
            </a:r>
          </a:p>
          <a:p>
            <a:pPr>
              <a:spcAft>
                <a:spcPts val="600"/>
              </a:spcAft>
            </a:pPr>
            <a:r>
              <a:t>OpenSR</a:t>
            </a:r>
          </a:p>
          <a:p>
            <a:pPr>
              <a:spcAft>
                <a:spcPts val="600"/>
              </a:spcAft>
            </a:pPr>
            <a:r>
              <a:t>OpenSR Utils</a:t>
            </a:r>
          </a:p>
          <a:p>
            <a:pPr>
              <a:spcAft>
                <a:spcPts val="600"/>
              </a:spcAft>
            </a:pPr>
            <a:r>
              <a:t>Rasterio</a:t>
            </a:r>
          </a:p>
          <a:p>
            <a:pPr>
              <a:spcAft>
                <a:spcPts val="600"/>
              </a:spcAft>
            </a:pPr>
            <a:r>
              <a:t>FastAPI</a:t>
            </a:r>
          </a:p>
          <a:p>
            <a:pPr>
              <a:spcAft>
                <a:spcPts val="600"/>
              </a:spcAft>
            </a:pPr>
            <a:r>
              <a:t>Streamlit</a:t>
            </a:r>
          </a:p>
          <a:p>
            <a:pPr>
              <a:spcAft>
                <a:spcPts val="600"/>
              </a:spcAft>
            </a:pPr>
            <a:r>
              <a:t>Kaggle GPU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Put this as the main project architecture:</a:t>
            </a:r>
          </a:p>
          <a:p>
            <a:pPr>
              <a:spcAft>
                <a:spcPts val="600"/>
              </a:spcAft>
            </a:pPr>
            <a:r>
              <a:t>Sentinel-2 GeoTIFF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Input Validation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AOI Selection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Patch Extraction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128 × 128 × 4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LDSR-S2 Encoder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Latent Diffusion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DDIM Sampling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Decoder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512 × 512 × 4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Patch Reconstruction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Final SR GeoTIFF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Input</a:t>
            </a:r>
          </a:p>
          <a:p>
            <a:pPr>
              <a:spcAft>
                <a:spcPts val="600"/>
              </a:spcAft>
            </a:pPr>
            <a:r>
              <a:t>Sentinel-2</a:t>
            </a:r>
          </a:p>
          <a:p>
            <a:pPr>
              <a:spcAft>
                <a:spcPts val="600"/>
              </a:spcAft>
            </a:pPr>
            <a:r>
              <a:t>512 × 512</a:t>
            </a:r>
          </a:p>
          <a:p>
            <a:pPr>
              <a:spcAft>
                <a:spcPts val="600"/>
              </a:spcAft>
            </a:pPr>
            <a:r>
              <a:t>4 bands</a:t>
            </a:r>
          </a:p>
          <a:p>
            <a:pPr>
              <a:spcAft>
                <a:spcPts val="600"/>
              </a:spcAft>
            </a:pPr>
            <a:r>
              <a:t>10 m</a:t>
            </a:r>
          </a:p>
          <a:p>
            <a:pPr>
              <a:spcAft>
                <a:spcPts val="600"/>
              </a:spcAft>
            </a:pPr>
            <a:r>
              <a:t>Output</a:t>
            </a:r>
          </a:p>
          <a:p>
            <a:pPr>
              <a:spcAft>
                <a:spcPts val="600"/>
              </a:spcAft>
            </a:pPr>
            <a:r>
              <a:t>LDSR-S2</a:t>
            </a:r>
          </a:p>
          <a:p>
            <a:pPr>
              <a:spcAft>
                <a:spcPts val="600"/>
              </a:spcAft>
            </a:pPr>
            <a:r>
              <a:t>2048 × 2048</a:t>
            </a:r>
          </a:p>
          <a:p>
            <a:pPr>
              <a:spcAft>
                <a:spcPts val="600"/>
              </a:spcAft>
            </a:pPr>
            <a:r>
              <a:t>4 bands</a:t>
            </a:r>
          </a:p>
          <a:p>
            <a:pPr>
              <a:spcAft>
                <a:spcPts val="600"/>
              </a:spcAft>
            </a:pPr>
            <a:r>
              <a:t>4× spatial dimensions</a:t>
            </a:r>
          </a:p>
          <a:p>
            <a:pPr>
              <a:spcAft>
                <a:spcPts val="600"/>
              </a:spcAft>
            </a:pPr>
            <a:r>
              <a:t>target: 2.5 m</a:t>
            </a:r>
          </a:p>
          <a:p>
            <a:pPr>
              <a:spcAft>
                <a:spcPts val="600"/>
              </a:spcAft>
            </a:pPr>
            <a:r>
              <a:t>Hardware</a:t>
            </a:r>
          </a:p>
          <a:p>
            <a:pPr>
              <a:spcAft>
                <a:spcPts val="600"/>
              </a:spcAft>
            </a:pPr>
            <a:r>
              <a:t>GPU: NVIDIA Tesla T4</a:t>
            </a:r>
          </a:p>
          <a:p>
            <a:pPr>
              <a:spcAft>
                <a:spcPts val="600"/>
              </a:spcAft>
            </a:pPr>
            <a:r>
              <a:t>Sampling</a:t>
            </a:r>
          </a:p>
          <a:p>
            <a:pPr>
              <a:spcAft>
                <a:spcPts val="600"/>
              </a:spcAft>
            </a:pPr>
            <a:r>
              <a:t>Tested:</a:t>
            </a:r>
          </a:p>
          <a:p>
            <a:pPr>
              <a:spcAft>
                <a:spcPts val="600"/>
              </a:spcAft>
            </a:pPr>
            <a:r>
              <a:t>20</a:t>
            </a:r>
          </a:p>
          <a:p>
            <a:pPr>
              <a:spcAft>
                <a:spcPts val="600"/>
              </a:spcAft>
            </a:pPr>
            <a:r>
              <a:t>50</a:t>
            </a:r>
          </a:p>
          <a:p>
            <a:pPr>
              <a:spcAft>
                <a:spcPts val="600"/>
              </a:spcAft>
            </a:pPr>
            <a:r>
              <a:t>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Actual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Use your screenshot here.</a:t>
            </a:r>
          </a:p>
          <a:p>
            <a:pPr>
              <a:spcAft>
                <a:spcPts val="600"/>
              </a:spcAft>
            </a:pPr>
            <a:r>
              <a:t>Left</a:t>
            </a:r>
          </a:p>
          <a:p>
            <a:pPr>
              <a:spcAft>
                <a:spcPts val="600"/>
              </a:spcAft>
            </a:pPr>
            <a:r>
              <a:t>Original Sentinel-2</a:t>
            </a:r>
          </a:p>
          <a:p>
            <a:pPr>
              <a:spcAft>
                <a:spcPts val="600"/>
              </a:spcAft>
            </a:pPr>
            <a:r>
              <a:t>$$ 512\times512 $$</a:t>
            </a:r>
          </a:p>
          <a:p>
            <a:pPr>
              <a:spcAft>
                <a:spcPts val="600"/>
              </a:spcAft>
            </a:pPr>
            <a:r>
              <a:t>Right</a:t>
            </a:r>
          </a:p>
          <a:p>
            <a:pPr>
              <a:spcAft>
                <a:spcPts val="600"/>
              </a:spcAft>
            </a:pPr>
            <a:r>
              <a:t>LDSR-S2 output</a:t>
            </a:r>
          </a:p>
          <a:p>
            <a:pPr>
              <a:spcAft>
                <a:spcPts val="600"/>
              </a:spcAft>
            </a:pPr>
            <a:r>
              <a:t>$$ 2048\times2048 $$</a:t>
            </a:r>
          </a:p>
          <a:p>
            <a:pPr>
              <a:spcAft>
                <a:spcPts val="600"/>
              </a:spcAft>
            </a:pPr>
            <a:r>
              <a:t>Explain:</a:t>
            </a:r>
          </a:p>
          <a:p>
            <a:pPr>
              <a:spcAft>
                <a:spcPts val="600"/>
              </a:spcAft>
            </a:pPr>
            <a:r>
              <a:t>The output has four times the spatial dimensions in each direction, resulting in 16 times as many pixels.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Observed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Important observations</a:t>
            </a:r>
          </a:p>
          <a:p>
            <a:pPr>
              <a:spcAft>
                <a:spcPts val="600"/>
              </a:spcAft>
            </a:pPr>
            <a:r>
              <a:t>The model successfully performs 4× spatial reconstruction.</a:t>
            </a:r>
          </a:p>
          <a:p>
            <a:pPr>
              <a:spcAft>
                <a:spcPts val="600"/>
              </a:spcAft>
            </a:pPr>
            <a:r>
              <a:t>Output dimensions increase from 512×512 to 2048×2048.</a:t>
            </a:r>
          </a:p>
          <a:p>
            <a:pPr>
              <a:spcAft>
                <a:spcPts val="600"/>
              </a:spcAft>
            </a:pPr>
            <a:r>
              <a:t>The model reconstructs finer-looking spatial structures.</a:t>
            </a:r>
          </a:p>
          <a:p>
            <a:pPr>
              <a:spcAft>
                <a:spcPts val="600"/>
              </a:spcAft>
            </a:pPr>
            <a:r>
              <a:t>Increasing sampling steps increases computation.</a:t>
            </a:r>
          </a:p>
          <a:p>
            <a:pPr>
              <a:spcAft>
                <a:spcPts val="600"/>
              </a:spcAft>
            </a:pPr>
            <a:r>
              <a:t>Sampling steps do not change the scale factor.</a:t>
            </a:r>
          </a:p>
          <a:p>
            <a:pPr>
              <a:spcAft>
                <a:spcPts val="600"/>
              </a:spcAft>
            </a:pPr>
            <a:r>
              <a:t>MAX_PATCHES controls workload capacity, not image quality.</a:t>
            </a:r>
          </a:p>
          <a:p>
            <a:pPr>
              <a:spcAft>
                <a:spcPts val="600"/>
              </a:spcAft>
            </a:pPr>
            <a:r>
              <a:t>Satellite SR must be evaluated for spectral fidelity, not only visual sharpness.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To quantitatively evaluate SR, we can use:</a:t>
            </a:r>
          </a:p>
          <a:p>
            <a:pPr>
              <a:spcAft>
                <a:spcPts val="600"/>
              </a:spcAft>
            </a:pPr>
            <a:r>
              <a:t>PSNR</a:t>
            </a:r>
          </a:p>
          <a:p>
            <a:pPr>
              <a:spcAft>
                <a:spcPts val="600"/>
              </a:spcAft>
            </a:pPr>
            <a:r>
              <a:t>Peak Signal-to-Noise Ratio.</a:t>
            </a:r>
          </a:p>
          <a:p>
            <a:pPr>
              <a:spcAft>
                <a:spcPts val="600"/>
              </a:spcAft>
            </a:pPr>
            <a:r>
              <a:t>$$ PSNR = 10\log_{10} \left( \frac{MAX_I^2}{MSE} \right) $$</a:t>
            </a:r>
          </a:p>
          <a:p>
            <a:pPr>
              <a:spcAft>
                <a:spcPts val="600"/>
              </a:spcAft>
            </a:pPr>
            <a:r>
              <a:t>Higher PSNR generally means lower pixel-wise reconstruction error.</a:t>
            </a:r>
          </a:p>
          <a:p>
            <a:pPr>
              <a:spcAft>
                <a:spcPts val="600"/>
              </a:spcAft>
            </a:pPr>
            <a:r>
              <a:t>MSE</a:t>
            </a:r>
          </a:p>
          <a:p>
            <a:pPr>
              <a:spcAft>
                <a:spcPts val="600"/>
              </a:spcAft>
            </a:pPr>
            <a:r>
              <a:t>$$ MSE= \frac{1}{N} \sum_{i=1}^{N} (x_i-\hat{x_i})^2 $$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Structural Similarity Index</a:t>
            </a:r>
          </a:p>
          <a:p>
            <a:pPr>
              <a:spcAft>
                <a:spcPts val="600"/>
              </a:spcAft>
            </a:pPr>
            <a:r>
              <a:t>SSIM evaluates structural similarity between two images.</a:t>
            </a:r>
          </a:p>
          <a:p>
            <a:pPr>
              <a:spcAft>
                <a:spcPts val="600"/>
              </a:spcAft>
            </a:pPr>
            <a:r>
              <a:t>It considers:</a:t>
            </a:r>
          </a:p>
          <a:p>
            <a:pPr>
              <a:spcAft>
                <a:spcPts val="600"/>
              </a:spcAft>
            </a:pPr>
            <a:r>
              <a:t>Luminance</a:t>
            </a:r>
          </a:p>
          <a:p>
            <a:pPr>
              <a:spcAft>
                <a:spcPts val="600"/>
              </a:spcAft>
            </a:pPr>
            <a:r>
              <a:t>Contrast</a:t>
            </a:r>
          </a:p>
          <a:p>
            <a:pPr>
              <a:spcAft>
                <a:spcPts val="600"/>
              </a:spcAft>
            </a:pPr>
            <a:r>
              <a:t>Structure</a:t>
            </a:r>
          </a:p>
          <a:p>
            <a:pPr>
              <a:spcAft>
                <a:spcPts val="600"/>
              </a:spcAft>
            </a:pPr>
            <a:r>
              <a:t>Conceptually:</a:t>
            </a:r>
          </a:p>
          <a:p>
            <a:pPr>
              <a:spcAft>
                <a:spcPts val="600"/>
              </a:spcAft>
            </a:pPr>
            <a:r>
              <a:t>$$ SSIM(x,y) = l(x,y)c(x,y)s(x,y) $$</a:t>
            </a:r>
          </a:p>
          <a:p>
            <a:pPr>
              <a:spcAft>
                <a:spcPts val="600"/>
              </a:spcAft>
            </a:pPr>
            <a:r>
              <a:t>A value closer to 1 indicates greater structural similarity.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Root Mean Square Error:</a:t>
            </a:r>
          </a:p>
          <a:p>
            <a:pPr>
              <a:spcAft>
                <a:spcPts val="600"/>
              </a:spcAft>
            </a:pPr>
            <a:r>
              <a:t>$$ RMSE= \sqrt{ \frac{1}{N} \sum_{i=1}^{N} (x_i-\hat{x_i})^2 } $$</a:t>
            </a:r>
          </a:p>
          <a:p>
            <a:pPr>
              <a:spcAft>
                <a:spcPts val="600"/>
              </a:spcAft>
            </a:pPr>
            <a:r>
              <a:t>Lower RMSE means lower reconstruction error.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Evaluation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In our small cross-sensor test, we obtained approximately:</a:t>
            </a:r>
          </a:p>
          <a:p>
            <a:pPr>
              <a:spcAft>
                <a:spcPts val="600"/>
              </a:spcAft>
            </a:pPr>
            <a:r>
              <a:t>Method	PSNR	SSIM	RMSE</a:t>
            </a:r>
          </a:p>
          <a:p>
            <a:pPr>
              <a:spcAft>
                <a:spcPts val="600"/>
              </a:spcAft>
            </a:pPr>
            <a:r>
              <a:t>Bicubic	18.346 dB	0.3928	0.01238</a:t>
            </a:r>
          </a:p>
          <a:p>
            <a:pPr>
              <a:spcAft>
                <a:spcPts val="600"/>
              </a:spcAft>
            </a:pPr>
            <a:r>
              <a:t>LDSR-S2	18.120 dB	0.3753	0.01268</a:t>
            </a:r>
          </a:p>
          <a:p>
            <a:pPr>
              <a:spcAft>
                <a:spcPts val="600"/>
              </a:spcAft>
            </a:pPr>
            <a:r>
              <a:t>Important interpretation</a:t>
            </a:r>
          </a:p>
          <a:p>
            <a:pPr>
              <a:spcAft>
                <a:spcPts val="600"/>
              </a:spcAft>
            </a:pPr>
            <a:r>
              <a:t>We should not claim LDSR-S2 is better than bicubic based on this small test.</a:t>
            </a:r>
          </a:p>
          <a:p>
            <a:pPr>
              <a:spcAft>
                <a:spcPts val="600"/>
              </a:spcAft>
            </a:pPr>
            <a:r>
              <a:t>The experiment was cross-sensor and limited, so it is not a definitive ranking of the model.</a:t>
            </a:r>
          </a:p>
          <a:p>
            <a:pPr>
              <a:spcAft>
                <a:spcPts val="600"/>
              </a:spcAft>
            </a:pPr>
            <a:r>
              <a:t>This is actually a useful point to discuss in class:</a:t>
            </a:r>
          </a:p>
          <a:p>
            <a:pPr>
              <a:spcAft>
                <a:spcPts val="600"/>
              </a:spcAft>
            </a:pPr>
            <a:r>
              <a:t>Visual improvement and quantitative improvement are not always the same thing.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1. Hallucination</a:t>
            </a:r>
          </a:p>
          <a:p>
            <a:pPr>
              <a:spcAft>
                <a:spcPts val="600"/>
              </a:spcAft>
            </a:pPr>
            <a:r>
              <a:t>Generated details may not correspond to real structures.</a:t>
            </a:r>
          </a:p>
          <a:p>
            <a:pPr>
              <a:spcAft>
                <a:spcPts val="600"/>
              </a:spcAft>
            </a:pPr>
            <a:r>
              <a:t>2. Spectral distortion</a:t>
            </a:r>
          </a:p>
          <a:p>
            <a:pPr>
              <a:spcAft>
                <a:spcPts val="600"/>
              </a:spcAft>
            </a:pPr>
            <a:r>
              <a:t>Sharper-looking output can still have incorrect spectral values.</a:t>
            </a:r>
          </a:p>
          <a:p>
            <a:pPr>
              <a:spcAft>
                <a:spcPts val="600"/>
              </a:spcAft>
            </a:pPr>
            <a:r>
              <a:t>3. Computational cost</a:t>
            </a:r>
          </a:p>
          <a:p>
            <a:pPr>
              <a:spcAft>
                <a:spcPts val="600"/>
              </a:spcAft>
            </a:pPr>
            <a:r>
              <a:t>Diffusion requires multiple denoising steps.</a:t>
            </a:r>
          </a:p>
          <a:p>
            <a:pPr>
              <a:spcAft>
                <a:spcPts val="600"/>
              </a:spcAft>
            </a:pPr>
            <a:r>
              <a:t>4. Large images</a:t>
            </a:r>
          </a:p>
          <a:p>
            <a:pPr>
              <a:spcAft>
                <a:spcPts val="600"/>
              </a:spcAft>
            </a:pPr>
            <a:r>
              <a:t>Large satellite scenes require patch-based processing.</a:t>
            </a:r>
          </a:p>
          <a:p>
            <a:pPr>
              <a:spcAft>
                <a:spcPts val="600"/>
              </a:spcAft>
            </a:pPr>
            <a:r>
              <a:t>5. Evaluation challenge</a:t>
            </a:r>
          </a:p>
          <a:p>
            <a:pPr>
              <a:spcAft>
                <a:spcPts val="600"/>
              </a:spcAft>
            </a:pPr>
            <a:r>
              <a:t>True 2.5 m Sentinel-2 HR reference data is generally not directly available.</a:t>
            </a:r>
          </a:p>
          <a:p>
            <a:pPr>
              <a:spcAft>
                <a:spcPts val="600"/>
              </a:spcAft>
            </a:pPr>
            <a:r>
              <a:t>6. Cross-sensor evaluation limitations</a:t>
            </a:r>
          </a:p>
          <a:p>
            <a:pPr>
              <a:spcAft>
                <a:spcPts val="600"/>
              </a:spcAft>
            </a:pPr>
            <a:r>
              <a:t>Aerial imagery and Sentinel-2 imagery have different sensor characteristics.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Use Kaggle GPU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Local CPU:</a:t>
            </a:r>
          </a:p>
          <a:p>
            <a:pPr>
              <a:spcAft>
                <a:spcPts val="600"/>
              </a:spcAft>
            </a:pPr>
            <a:r>
              <a:t>Very slow diffusion inference</a:t>
            </a:r>
          </a:p>
          <a:p>
            <a:pPr>
              <a:spcAft>
                <a:spcPts val="600"/>
              </a:spcAft>
            </a:pPr>
            <a:r>
              <a:t>Kaggle:</a:t>
            </a:r>
          </a:p>
          <a:p>
            <a:pPr>
              <a:spcAft>
                <a:spcPts val="600"/>
              </a:spcAft>
            </a:pPr>
            <a:r>
              <a:t>Tesla T4 GPU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CUDA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PyTorch</a:t>
            </a:r>
          </a:p>
          <a:p>
            <a:pPr>
              <a:spcAft>
                <a:spcPts val="600"/>
              </a:spcAft>
            </a:pPr>
            <a:r>
              <a:t>↓</a:t>
            </a:r>
          </a:p>
          <a:p>
            <a:pPr>
              <a:spcAft>
                <a:spcPts val="600"/>
              </a:spcAft>
            </a:pPr>
            <a:r>
              <a:t>Faster inference</a:t>
            </a:r>
          </a:p>
          <a:p>
            <a:pPr>
              <a:spcAft>
                <a:spcPts val="600"/>
              </a:spcAft>
            </a:pPr>
            <a:r>
              <a:t>The model is computationally demanding because diffusion requires repeated denoising operations.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INPUT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Sentinel-2 10m</a:t>
            </a:r>
          </a:p>
          <a:p>
            <a:pPr>
              <a:spcAft>
                <a:spcPts val="600"/>
              </a:spcAft>
            </a:pPr>
            <a:r>
              <a:t>RGB + NIR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Preprocessing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4× Target Resolution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Latent Encoder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Diffusion Process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DDIM Sampling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Decoder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▼</a:t>
            </a:r>
          </a:p>
          <a:p>
            <a:pPr>
              <a:spcAft>
                <a:spcPts val="600"/>
              </a:spcAft>
            </a:pPr>
            <a:r>
              <a:t>2.5m SR Estimate</a:t>
            </a:r>
          </a:p>
          <a:p>
            <a:pPr>
              <a:spcAft>
                <a:spcPts val="600"/>
              </a:spcAft>
            </a:pPr>
            <a:r>
              <a:t>│</a:t>
            </a:r>
          </a:p>
          <a:p>
            <a:pPr>
              <a:spcAft>
                <a:spcPts val="600"/>
              </a:spcAft>
            </a:pPr>
            <a:r>
              <a:t>┌─────────┴─────────┐</a:t>
            </a:r>
          </a:p>
          <a:p>
            <a:pPr>
              <a:spcAft>
                <a:spcPts val="600"/>
              </a:spcAft>
            </a:pPr>
            <a:r>
              <a:t>▼                   ▼</a:t>
            </a:r>
          </a:p>
          <a:p>
            <a:pPr>
              <a:spcAft>
                <a:spcPts val="600"/>
              </a:spcAft>
            </a:pPr>
            <a:r>
              <a:t>SR Image          Uncertainty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Remember these 10 points</a:t>
            </a:r>
          </a:p>
          <a:p>
            <a:pPr>
              <a:spcAft>
                <a:spcPts val="600"/>
              </a:spcAft>
            </a:pPr>
            <a:r>
              <a:t>Super-resolution reconstructs a higher-resolution image from lower-resolution observations.</a:t>
            </a:r>
          </a:p>
          <a:p>
            <a:pPr>
              <a:spcAft>
                <a:spcPts val="600"/>
              </a:spcAft>
            </a:pPr>
            <a:r>
              <a:t>Sentinel-2 provides important multispectral information.</a:t>
            </a:r>
          </a:p>
          <a:p>
            <a:pPr>
              <a:spcAft>
                <a:spcPts val="600"/>
              </a:spcAft>
            </a:pPr>
            <a:r>
              <a:t>LDSR-S2 works on RGB + NIR.</a:t>
            </a:r>
          </a:p>
          <a:p>
            <a:pPr>
              <a:spcAft>
                <a:spcPts val="600"/>
              </a:spcAft>
            </a:pPr>
            <a:r>
              <a:t>LDSR-S2 performs:</a:t>
            </a:r>
          </a:p>
          <a:p>
            <a:pPr>
              <a:spcAft>
                <a:spcPts val="600"/>
              </a:spcAft>
            </a:pPr>
            <a:r>
              <a:t>$$ 10m\rightarrow2.5m $$</a:t>
            </a:r>
          </a:p>
          <a:p>
            <a:pPr>
              <a:spcAft>
                <a:spcPts val="600"/>
              </a:spcAft>
            </a:pPr>
            <a:r>
              <a:t>The spatial scale factor is:</a:t>
            </a:r>
          </a:p>
          <a:p>
            <a:pPr>
              <a:spcAft>
                <a:spcPts val="600"/>
              </a:spcAft>
            </a:pPr>
            <a:r>
              <a:t>$$ 4\times $$</a:t>
            </a:r>
          </a:p>
          <a:p>
            <a:pPr>
              <a:spcAft>
                <a:spcPts val="600"/>
              </a:spcAft>
            </a:pPr>
            <a:r>
              <a:t>It uses latent diffusion, rather than performing diffusion directly on the full image.</a:t>
            </a:r>
          </a:p>
          <a:p>
            <a:pPr>
              <a:spcAft>
                <a:spcPts val="600"/>
              </a:spcAft>
            </a:pPr>
            <a:r>
              <a:t>The LR image is encoded and used as conditioning.</a:t>
            </a:r>
          </a:p>
          <a:p>
            <a:pPr>
              <a:spcAft>
                <a:spcPts val="600"/>
              </a:spcAft>
            </a:pPr>
            <a:r>
              <a:t>Diffusion starts from noise and performs iterative denoising.</a:t>
            </a:r>
          </a:p>
          <a:p>
            <a:pPr>
              <a:spcAft>
                <a:spcPts val="600"/>
              </a:spcAft>
            </a:pPr>
            <a:r>
              <a:t>The model uses DDIM sampling during inference.</a:t>
            </a:r>
          </a:p>
          <a:p>
            <a:pPr>
              <a:spcAft>
                <a:spcPts val="600"/>
              </a:spcAft>
            </a:pPr>
            <a:r>
              <a:t>Trustworthiness matters: generated detail must not be confused with actual observed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